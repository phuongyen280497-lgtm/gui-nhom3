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92" r:id="rId1"/>
    <p:sldMasterId id="2147484204" r:id="rId2"/>
  </p:sldMasterIdLst>
  <p:notesMasterIdLst>
    <p:notesMasterId r:id="rId24"/>
  </p:notesMasterIdLst>
  <p:sldIdLst>
    <p:sldId id="256" r:id="rId3"/>
    <p:sldId id="288" r:id="rId4"/>
    <p:sldId id="257" r:id="rId5"/>
    <p:sldId id="293" r:id="rId6"/>
    <p:sldId id="292" r:id="rId7"/>
    <p:sldId id="294" r:id="rId8"/>
    <p:sldId id="295" r:id="rId9"/>
    <p:sldId id="296" r:id="rId10"/>
    <p:sldId id="291" r:id="rId11"/>
    <p:sldId id="304" r:id="rId12"/>
    <p:sldId id="305" r:id="rId13"/>
    <p:sldId id="303" r:id="rId14"/>
    <p:sldId id="306" r:id="rId15"/>
    <p:sldId id="297" r:id="rId16"/>
    <p:sldId id="299" r:id="rId17"/>
    <p:sldId id="300" r:id="rId18"/>
    <p:sldId id="301" r:id="rId19"/>
    <p:sldId id="302" r:id="rId20"/>
    <p:sldId id="281" r:id="rId21"/>
    <p:sldId id="307" r:id="rId22"/>
    <p:sldId id="26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66" d="100"/>
          <a:sy n="66" d="100"/>
        </p:scale>
        <p:origin x="62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FB1684-F590-44C1-9FD5-A162542138AC}" type="datetimeFigureOut">
              <a:rPr kumimoji="1" lang="ja-JP" altLang="en-US" smtClean="0"/>
              <a:t>2026/4/5</a:t>
            </a:fld>
            <a:endParaRPr kumimoji="1" lang="ja-JP"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ja-JP"/>
              <a:t>Click to 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960923-79B3-45D2-9AF5-1E03C6203E24}" type="slidenum">
              <a:rPr kumimoji="1" lang="ja-JP" altLang="en-US" smtClean="0"/>
              <a:t>‹#›</a:t>
            </a:fld>
            <a:endParaRPr kumimoji="1" lang="ja-JP" altLang="en-US"/>
          </a:p>
        </p:txBody>
      </p:sp>
    </p:spTree>
    <p:extLst>
      <p:ext uri="{BB962C8B-B14F-4D97-AF65-F5344CB8AC3E}">
        <p14:creationId xmlns:p14="http://schemas.microsoft.com/office/powerpoint/2010/main" val="316391074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3" name="Google Shape;44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ja-JP"/>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ja-JP"/>
              <a:t>Click to edit Master subtitle style</a:t>
            </a:r>
            <a:endParaRPr lang="en-US" dirty="0"/>
          </a:p>
        </p:txBody>
      </p:sp>
      <p:sp>
        <p:nvSpPr>
          <p:cNvPr id="4" name="Date Placeholder 3"/>
          <p:cNvSpPr>
            <a:spLocks noGrp="1"/>
          </p:cNvSpPr>
          <p:nvPr>
            <p:ph type="dt" sz="half" idx="10"/>
          </p:nvPr>
        </p:nvSpPr>
        <p:spPr/>
        <p:txBody>
          <a:bodyPr/>
          <a:lstStyle/>
          <a:p>
            <a:fld id="{53BEF823-48A5-43FC-BE03-E79964288B41}" type="datetimeFigureOut">
              <a:rPr lang="en-US" smtClean="0"/>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ctr"/>
            <a:fld id="{D79E6812-DF0E-4B88-AFAA-EAC7168F54C0}" type="slidenum">
              <a:rPr lang="en-US" smtClean="0"/>
              <a:pPr algn="ctr"/>
              <a:t>‹#›</a:t>
            </a:fld>
            <a:endParaRPr lang="en-US" dirty="0"/>
          </a:p>
        </p:txBody>
      </p:sp>
      <p:pic>
        <p:nvPicPr>
          <p:cNvPr id="9" name="Google Shape;440;p1" descr="Top 10 trung tâm tin học đào tạo cấp chứng chỉ chất lượng nhất hiện nay">
            <a:extLst>
              <a:ext uri="{FF2B5EF4-FFF2-40B4-BE49-F238E27FC236}">
                <a16:creationId xmlns:a16="http://schemas.microsoft.com/office/drawing/2014/main" id="{307C0E0D-BE44-2B18-6C2B-288060FAACC2}"/>
              </a:ext>
            </a:extLst>
          </p:cNvPr>
          <p:cNvPicPr preferRelativeResize="0"/>
          <p:nvPr userDrawn="1"/>
        </p:nvPicPr>
        <p:blipFill rotWithShape="1">
          <a:blip r:embed="rId2">
            <a:alphaModFix/>
          </a:blip>
          <a:srcRect/>
          <a:stretch/>
        </p:blipFill>
        <p:spPr>
          <a:xfrm>
            <a:off x="10189727" y="1264329"/>
            <a:ext cx="335871" cy="335871"/>
          </a:xfrm>
          <a:prstGeom prst="rect">
            <a:avLst/>
          </a:prstGeom>
          <a:noFill/>
          <a:ln>
            <a:noFill/>
          </a:ln>
        </p:spPr>
      </p:pic>
    </p:spTree>
    <p:extLst>
      <p:ext uri="{BB962C8B-B14F-4D97-AF65-F5344CB8AC3E}">
        <p14:creationId xmlns:p14="http://schemas.microsoft.com/office/powerpoint/2010/main" val="1309154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a:t>Click to edit Master title style</a:t>
            </a:r>
            <a:endParaRPr lang="en-US" dirty="0"/>
          </a:p>
        </p:txBody>
      </p:sp>
      <p:sp>
        <p:nvSpPr>
          <p:cNvPr id="3" name="Content Placeholder 2"/>
          <p:cNvSpPr>
            <a:spLocks noGrp="1"/>
          </p:cNvSpPr>
          <p:nvPr>
            <p:ph idx="1"/>
          </p:nvPr>
        </p:nvSpPr>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
        <p:nvSpPr>
          <p:cNvPr id="4" name="Date Placeholder 3"/>
          <p:cNvSpPr>
            <a:spLocks noGrp="1"/>
          </p:cNvSpPr>
          <p:nvPr>
            <p:ph type="dt" sz="half" idx="10"/>
          </p:nvPr>
        </p:nvSpPr>
        <p:spPr/>
        <p:txBody>
          <a:bodyPr/>
          <a:lstStyle/>
          <a:p>
            <a:pPr algn="r"/>
            <a:fld id="{53BEF823-48A5-43FC-BE03-E79964288B41}" type="datetimeFigureOut">
              <a:rPr lang="en-US" smtClean="0"/>
              <a:pPr algn="r"/>
              <a:t>4/5/2026</a:t>
            </a:fld>
            <a:endParaRPr lang="en-US" dirty="0"/>
          </a:p>
        </p:txBody>
      </p:sp>
      <p:sp>
        <p:nvSpPr>
          <p:cNvPr id="5" name="Footer Placeholder 4"/>
          <p:cNvSpPr>
            <a:spLocks noGrp="1"/>
          </p:cNvSpPr>
          <p:nvPr>
            <p:ph type="ftr" sz="quarter" idx="11"/>
          </p:nvPr>
        </p:nvSpPr>
        <p:spPr/>
        <p:txBody>
          <a:bodyPr/>
          <a:lstStyle/>
          <a:p>
            <a:pPr algn="l"/>
            <a:endParaRPr lang="en-US" dirty="0"/>
          </a:p>
        </p:txBody>
      </p:sp>
      <p:sp>
        <p:nvSpPr>
          <p:cNvPr id="6" name="Slide Number Placeholder 5"/>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728918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ja-JP"/>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ja-JP"/>
              <a:t>Click to edit Master text styles</a:t>
            </a:r>
          </a:p>
        </p:txBody>
      </p:sp>
      <p:sp>
        <p:nvSpPr>
          <p:cNvPr id="4" name="Date Placeholder 3"/>
          <p:cNvSpPr>
            <a:spLocks noGrp="1"/>
          </p:cNvSpPr>
          <p:nvPr>
            <p:ph type="dt" sz="half" idx="10"/>
          </p:nvPr>
        </p:nvSpPr>
        <p:spPr/>
        <p:txBody>
          <a:bodyPr/>
          <a:lstStyle/>
          <a:p>
            <a:pPr algn="r"/>
            <a:fld id="{53BEF823-48A5-43FC-BE03-E79964288B41}" type="datetimeFigureOut">
              <a:rPr lang="en-US" smtClean="0"/>
              <a:pPr algn="r"/>
              <a:t>4/5/2026</a:t>
            </a:fld>
            <a:endParaRPr lang="en-US" dirty="0"/>
          </a:p>
        </p:txBody>
      </p:sp>
      <p:sp>
        <p:nvSpPr>
          <p:cNvPr id="5" name="Footer Placeholder 4"/>
          <p:cNvSpPr>
            <a:spLocks noGrp="1"/>
          </p:cNvSpPr>
          <p:nvPr>
            <p:ph type="ftr" sz="quarter" idx="11"/>
          </p:nvPr>
        </p:nvSpPr>
        <p:spPr/>
        <p:txBody>
          <a:bodyPr/>
          <a:lstStyle/>
          <a:p>
            <a:pPr algn="l"/>
            <a:endParaRPr lang="en-US" dirty="0"/>
          </a:p>
        </p:txBody>
      </p:sp>
      <p:sp>
        <p:nvSpPr>
          <p:cNvPr id="6" name="Slide Number Placeholder 5"/>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994427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
        <p:nvSpPr>
          <p:cNvPr id="5" name="Date Placeholder 4"/>
          <p:cNvSpPr>
            <a:spLocks noGrp="1"/>
          </p:cNvSpPr>
          <p:nvPr>
            <p:ph type="dt" sz="half" idx="10"/>
          </p:nvPr>
        </p:nvSpPr>
        <p:spPr/>
        <p:txBody>
          <a:bodyPr/>
          <a:lstStyle/>
          <a:p>
            <a:pPr algn="r"/>
            <a:fld id="{53BEF823-48A5-43FC-BE03-E79964288B41}" type="datetimeFigureOut">
              <a:rPr lang="en-US" smtClean="0"/>
              <a:pPr algn="r"/>
              <a:t>4/5/2026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866555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ja-JP"/>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ja-JP"/>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ja-JP"/>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
        <p:nvSpPr>
          <p:cNvPr id="7" name="Date Placeholder 6"/>
          <p:cNvSpPr>
            <a:spLocks noGrp="1"/>
          </p:cNvSpPr>
          <p:nvPr>
            <p:ph type="dt" sz="half" idx="10"/>
          </p:nvPr>
        </p:nvSpPr>
        <p:spPr/>
        <p:txBody>
          <a:bodyPr/>
          <a:lstStyle/>
          <a:p>
            <a:pPr algn="r"/>
            <a:fld id="{53BEF823-48A5-43FC-BE03-E79964288B41}" type="datetimeFigureOut">
              <a:rPr lang="en-US" smtClean="0"/>
              <a:pPr algn="r"/>
              <a:t>4/5/2026</a:t>
            </a:fld>
            <a:endParaRPr lang="en-US" dirty="0"/>
          </a:p>
        </p:txBody>
      </p:sp>
      <p:sp>
        <p:nvSpPr>
          <p:cNvPr id="8" name="Footer Placeholder 7"/>
          <p:cNvSpPr>
            <a:spLocks noGrp="1"/>
          </p:cNvSpPr>
          <p:nvPr>
            <p:ph type="ftr" sz="quarter" idx="11"/>
          </p:nvPr>
        </p:nvSpPr>
        <p:spPr/>
        <p:txBody>
          <a:bodyPr/>
          <a:lstStyle/>
          <a:p>
            <a:pPr algn="l"/>
            <a:endParaRPr lang="en-US" dirty="0"/>
          </a:p>
        </p:txBody>
      </p:sp>
      <p:sp>
        <p:nvSpPr>
          <p:cNvPr id="9" name="Slide Number Placeholder 8"/>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2318628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a:t>Click to edit Master title style</a:t>
            </a:r>
            <a:endParaRPr lang="en-US" dirty="0"/>
          </a:p>
        </p:txBody>
      </p:sp>
      <p:sp>
        <p:nvSpPr>
          <p:cNvPr id="3" name="Date Placeholder 2"/>
          <p:cNvSpPr>
            <a:spLocks noGrp="1"/>
          </p:cNvSpPr>
          <p:nvPr>
            <p:ph type="dt" sz="half" idx="10"/>
          </p:nvPr>
        </p:nvSpPr>
        <p:spPr/>
        <p:txBody>
          <a:bodyPr/>
          <a:lstStyle/>
          <a:p>
            <a:pPr algn="r"/>
            <a:fld id="{53BEF823-48A5-43FC-BE03-E79964288B41}" type="datetimeFigureOut">
              <a:rPr lang="en-US" smtClean="0"/>
              <a:pPr algn="r"/>
              <a:t>4/5/2026</a:t>
            </a:fld>
            <a:endParaRPr lang="en-US" dirty="0"/>
          </a:p>
        </p:txBody>
      </p:sp>
      <p:sp>
        <p:nvSpPr>
          <p:cNvPr id="4" name="Footer Placeholder 3"/>
          <p:cNvSpPr>
            <a:spLocks noGrp="1"/>
          </p:cNvSpPr>
          <p:nvPr>
            <p:ph type="ftr" sz="quarter" idx="11"/>
          </p:nvPr>
        </p:nvSpPr>
        <p:spPr/>
        <p:txBody>
          <a:bodyPr/>
          <a:lstStyle/>
          <a:p>
            <a:pPr algn="l"/>
            <a:endParaRPr lang="en-US" dirty="0"/>
          </a:p>
        </p:txBody>
      </p:sp>
      <p:sp>
        <p:nvSpPr>
          <p:cNvPr id="5" name="Slide Number Placeholder 4"/>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281238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lgn="r"/>
            <a:fld id="{53BEF823-48A5-43FC-BE03-E79964288B41}" type="datetimeFigureOut">
              <a:rPr lang="en-US" smtClean="0"/>
              <a:pPr algn="r"/>
              <a:t>4/5/2026</a:t>
            </a:fld>
            <a:endParaRPr lang="en-US" dirty="0"/>
          </a:p>
        </p:txBody>
      </p:sp>
      <p:sp>
        <p:nvSpPr>
          <p:cNvPr id="3" name="Footer Placeholder 2"/>
          <p:cNvSpPr>
            <a:spLocks noGrp="1"/>
          </p:cNvSpPr>
          <p:nvPr>
            <p:ph type="ftr" sz="quarter" idx="11"/>
          </p:nvPr>
        </p:nvSpPr>
        <p:spPr/>
        <p:txBody>
          <a:bodyPr/>
          <a:lstStyle/>
          <a:p>
            <a:pPr algn="l"/>
            <a:endParaRPr lang="en-US" dirty="0"/>
          </a:p>
        </p:txBody>
      </p:sp>
      <p:sp>
        <p:nvSpPr>
          <p:cNvPr id="4" name="Slide Number Placeholder 3"/>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751328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ja-JP"/>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ja-JP"/>
              <a:t>Click to edit Master text styles</a:t>
            </a:r>
          </a:p>
        </p:txBody>
      </p:sp>
      <p:sp>
        <p:nvSpPr>
          <p:cNvPr id="5" name="Date Placeholder 4"/>
          <p:cNvSpPr>
            <a:spLocks noGrp="1"/>
          </p:cNvSpPr>
          <p:nvPr>
            <p:ph type="dt" sz="half" idx="10"/>
          </p:nvPr>
        </p:nvSpPr>
        <p:spPr/>
        <p:txBody>
          <a:bodyPr/>
          <a:lstStyle/>
          <a:p>
            <a:pPr algn="r"/>
            <a:fld id="{53BEF823-48A5-43FC-BE03-E79964288B41}" type="datetimeFigureOut">
              <a:rPr lang="en-US" smtClean="0"/>
              <a:pPr algn="r"/>
              <a:t>4/5/2026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9817163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ja-JP"/>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ja-JP"/>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ja-JP"/>
              <a:t>Click to edit Master text styles</a:t>
            </a:r>
          </a:p>
        </p:txBody>
      </p:sp>
      <p:sp>
        <p:nvSpPr>
          <p:cNvPr id="5" name="Date Placeholder 4"/>
          <p:cNvSpPr>
            <a:spLocks noGrp="1"/>
          </p:cNvSpPr>
          <p:nvPr>
            <p:ph type="dt" sz="half" idx="10"/>
          </p:nvPr>
        </p:nvSpPr>
        <p:spPr/>
        <p:txBody>
          <a:bodyPr/>
          <a:lstStyle/>
          <a:p>
            <a:pPr algn="r"/>
            <a:fld id="{53BEF823-48A5-43FC-BE03-E79964288B41}" type="datetimeFigureOut">
              <a:rPr lang="en-US" smtClean="0"/>
              <a:pPr algn="r"/>
              <a:t>4/5/2026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337244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
        <p:nvSpPr>
          <p:cNvPr id="4" name="Date Placeholder 3"/>
          <p:cNvSpPr>
            <a:spLocks noGrp="1"/>
          </p:cNvSpPr>
          <p:nvPr>
            <p:ph type="dt" sz="half" idx="10"/>
          </p:nvPr>
        </p:nvSpPr>
        <p:spPr/>
        <p:txBody>
          <a:bodyPr/>
          <a:lstStyle/>
          <a:p>
            <a:pPr algn="r"/>
            <a:fld id="{53BEF823-48A5-43FC-BE03-E79964288B41}" type="datetimeFigureOut">
              <a:rPr lang="en-US" smtClean="0"/>
              <a:pPr algn="r"/>
              <a:t>4/5/2026</a:t>
            </a:fld>
            <a:endParaRPr lang="en-US" dirty="0"/>
          </a:p>
        </p:txBody>
      </p:sp>
      <p:sp>
        <p:nvSpPr>
          <p:cNvPr id="5" name="Footer Placeholder 4"/>
          <p:cNvSpPr>
            <a:spLocks noGrp="1"/>
          </p:cNvSpPr>
          <p:nvPr>
            <p:ph type="ftr" sz="quarter" idx="11"/>
          </p:nvPr>
        </p:nvSpPr>
        <p:spPr/>
        <p:txBody>
          <a:bodyPr/>
          <a:lstStyle/>
          <a:p>
            <a:pPr algn="l"/>
            <a:endParaRPr lang="en-US" dirty="0"/>
          </a:p>
        </p:txBody>
      </p:sp>
      <p:sp>
        <p:nvSpPr>
          <p:cNvPr id="6" name="Slide Number Placeholder 5"/>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1088959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ja-JP"/>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
        <p:nvSpPr>
          <p:cNvPr id="4" name="Date Placeholder 3"/>
          <p:cNvSpPr>
            <a:spLocks noGrp="1"/>
          </p:cNvSpPr>
          <p:nvPr>
            <p:ph type="dt" sz="half" idx="10"/>
          </p:nvPr>
        </p:nvSpPr>
        <p:spPr/>
        <p:txBody>
          <a:bodyPr/>
          <a:lstStyle/>
          <a:p>
            <a:pPr algn="r"/>
            <a:fld id="{53BEF823-48A5-43FC-BE03-E79964288B41}" type="datetimeFigureOut">
              <a:rPr lang="en-US" smtClean="0"/>
              <a:pPr algn="r"/>
              <a:t>4/5/2026</a:t>
            </a:fld>
            <a:endParaRPr lang="en-US" dirty="0"/>
          </a:p>
        </p:txBody>
      </p:sp>
      <p:sp>
        <p:nvSpPr>
          <p:cNvPr id="5" name="Footer Placeholder 4"/>
          <p:cNvSpPr>
            <a:spLocks noGrp="1"/>
          </p:cNvSpPr>
          <p:nvPr>
            <p:ph type="ftr" sz="quarter" idx="11"/>
          </p:nvPr>
        </p:nvSpPr>
        <p:spPr/>
        <p:txBody>
          <a:bodyPr/>
          <a:lstStyle/>
          <a:p>
            <a:pPr algn="l"/>
            <a:endParaRPr lang="en-US" dirty="0"/>
          </a:p>
        </p:txBody>
      </p:sp>
      <p:sp>
        <p:nvSpPr>
          <p:cNvPr id="6" name="Slide Number Placeholder 5"/>
          <p:cNvSpPr>
            <a:spLocks noGrp="1"/>
          </p:cNvSpPr>
          <p:nvPr>
            <p:ph type="sldNum" sz="quarter" idx="12"/>
          </p:nvPr>
        </p:nvSpPr>
        <p:spPr/>
        <p:txBody>
          <a:bodyPr/>
          <a:lstStyle/>
          <a:p>
            <a:pPr algn="ctr"/>
            <a:fld id="{D79E6812-DF0E-4B88-AFAA-EAC7168F54C0}" type="slidenum">
              <a:rPr lang="en-US" smtClean="0"/>
              <a:pPr algn="ctr"/>
              <a:t>‹#›</a:t>
            </a:fld>
            <a:endParaRPr lang="en-US" dirty="0"/>
          </a:p>
        </p:txBody>
      </p:sp>
    </p:spTree>
    <p:extLst>
      <p:ext uri="{BB962C8B-B14F-4D97-AF65-F5344CB8AC3E}">
        <p14:creationId xmlns:p14="http://schemas.microsoft.com/office/powerpoint/2010/main" val="8792676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dk1"/>
        </a:solidFill>
        <a:effectLst/>
      </p:bgPr>
    </p:bg>
    <p:spTree>
      <p:nvGrpSpPr>
        <p:cNvPr id="1" name="Shape 8"/>
        <p:cNvGrpSpPr/>
        <p:nvPr/>
      </p:nvGrpSpPr>
      <p:grpSpPr>
        <a:xfrm>
          <a:off x="0" y="0"/>
          <a:ext cx="0" cy="0"/>
          <a:chOff x="0" y="0"/>
          <a:chExt cx="0" cy="0"/>
        </a:xfrm>
      </p:grpSpPr>
      <p:sp>
        <p:nvSpPr>
          <p:cNvPr id="9" name="Google Shape;9;p51"/>
          <p:cNvSpPr txBox="1">
            <a:spLocks noGrp="1"/>
          </p:cNvSpPr>
          <p:nvPr>
            <p:ph type="subTitle" idx="1"/>
          </p:nvPr>
        </p:nvSpPr>
        <p:spPr>
          <a:xfrm>
            <a:off x="5207000" y="2203900"/>
            <a:ext cx="6453200" cy="1937200"/>
          </a:xfrm>
          <a:prstGeom prst="rect">
            <a:avLst/>
          </a:prstGeom>
          <a:noFill/>
          <a:ln>
            <a:noFill/>
          </a:ln>
        </p:spPr>
        <p:txBody>
          <a:bodyPr spcFirstLastPara="1" wrap="square" lIns="91425" tIns="91425" rIns="91425" bIns="91425" anchor="t" anchorCtr="0">
            <a:normAutofit/>
          </a:bodyPr>
          <a:lstStyle>
            <a:lvl1pPr lvl="0" algn="r">
              <a:lnSpc>
                <a:spcPct val="100000"/>
              </a:lnSpc>
              <a:spcBef>
                <a:spcPts val="0"/>
              </a:spcBef>
              <a:spcAft>
                <a:spcPts val="0"/>
              </a:spcAft>
              <a:buSzPts val="2800"/>
              <a:buFont typeface="Work Sans ExtraBold"/>
              <a:buNone/>
              <a:defRPr sz="5333">
                <a:latin typeface="Work Sans ExtraBold"/>
                <a:ea typeface="Work Sans ExtraBold"/>
                <a:cs typeface="Work Sans ExtraBold"/>
                <a:sym typeface="Work Sans ExtraBold"/>
              </a:defRPr>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0" name="Google Shape;10;p51"/>
          <p:cNvSpPr txBox="1">
            <a:spLocks noGrp="1"/>
          </p:cNvSpPr>
          <p:nvPr>
            <p:ph type="subTitle" idx="2"/>
          </p:nvPr>
        </p:nvSpPr>
        <p:spPr>
          <a:xfrm>
            <a:off x="6915567" y="4007300"/>
            <a:ext cx="4744400" cy="646800"/>
          </a:xfrm>
          <a:prstGeom prst="rect">
            <a:avLst/>
          </a:prstGeom>
          <a:noFill/>
          <a:ln>
            <a:noFill/>
          </a:ln>
        </p:spPr>
        <p:txBody>
          <a:bodyPr spcFirstLastPara="1" wrap="square" lIns="91425" tIns="91425" rIns="91425" bIns="91425" anchor="t" anchorCtr="0">
            <a:normAutofit/>
          </a:bodyPr>
          <a:lstStyle>
            <a:lvl1pPr lvl="0" algn="r">
              <a:lnSpc>
                <a:spcPct val="100000"/>
              </a:lnSpc>
              <a:spcBef>
                <a:spcPts val="0"/>
              </a:spcBef>
              <a:spcAft>
                <a:spcPts val="0"/>
              </a:spcAft>
              <a:buSzPts val="1400"/>
              <a:buNone/>
              <a:defRPr sz="1867"/>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 name="Google Shape;11;p51"/>
          <p:cNvSpPr/>
          <p:nvPr/>
        </p:nvSpPr>
        <p:spPr>
          <a:xfrm flipH="1">
            <a:off x="-1320808" y="-101600"/>
            <a:ext cx="9698103" cy="5917917"/>
          </a:xfrm>
          <a:custGeom>
            <a:avLst/>
            <a:gdLst/>
            <a:ahLst/>
            <a:cxnLst/>
            <a:rect l="l" t="t" r="r" b="b"/>
            <a:pathLst>
              <a:path w="37831" h="23085" extrusionOk="0">
                <a:moveTo>
                  <a:pt x="0" y="0"/>
                </a:moveTo>
                <a:cubicBezTo>
                  <a:pt x="247" y="874"/>
                  <a:pt x="1317" y="4018"/>
                  <a:pt x="4146" y="4944"/>
                </a:cubicBezTo>
                <a:cubicBezTo>
                  <a:pt x="7442" y="6024"/>
                  <a:pt x="10966" y="6877"/>
                  <a:pt x="11022" y="10684"/>
                </a:cubicBezTo>
                <a:cubicBezTo>
                  <a:pt x="11079" y="14492"/>
                  <a:pt x="11647" y="18243"/>
                  <a:pt x="14660" y="18697"/>
                </a:cubicBezTo>
                <a:cubicBezTo>
                  <a:pt x="14855" y="18726"/>
                  <a:pt x="15051" y="18740"/>
                  <a:pt x="15248" y="18740"/>
                </a:cubicBezTo>
                <a:cubicBezTo>
                  <a:pt x="17304" y="18740"/>
                  <a:pt x="19451" y="17274"/>
                  <a:pt x="21811" y="17274"/>
                </a:cubicBezTo>
                <a:cubicBezTo>
                  <a:pt x="22709" y="17274"/>
                  <a:pt x="23638" y="17486"/>
                  <a:pt x="24604" y="18072"/>
                </a:cubicBezTo>
                <a:cubicBezTo>
                  <a:pt x="28218" y="20262"/>
                  <a:pt x="29088" y="23084"/>
                  <a:pt x="33516" y="23084"/>
                </a:cubicBezTo>
                <a:cubicBezTo>
                  <a:pt x="33685" y="23084"/>
                  <a:pt x="33859" y="23080"/>
                  <a:pt x="34038" y="23072"/>
                </a:cubicBezTo>
                <a:cubicBezTo>
                  <a:pt x="35835" y="22989"/>
                  <a:pt x="37040" y="22890"/>
                  <a:pt x="37831" y="22798"/>
                </a:cubicBezTo>
                <a:lnTo>
                  <a:pt x="37831" y="0"/>
                </a:lnTo>
                <a:close/>
              </a:path>
            </a:pathLst>
          </a:custGeom>
          <a:solidFill>
            <a:schemeClr val="accen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2691397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Table of contents">
    <p:bg>
      <p:bgPr>
        <a:solidFill>
          <a:schemeClr val="dk1"/>
        </a:solidFill>
        <a:effectLst/>
      </p:bgPr>
    </p:bg>
    <p:spTree>
      <p:nvGrpSpPr>
        <p:cNvPr id="1" name="Shape 12"/>
        <p:cNvGrpSpPr/>
        <p:nvPr/>
      </p:nvGrpSpPr>
      <p:grpSpPr>
        <a:xfrm>
          <a:off x="0" y="0"/>
          <a:ext cx="0" cy="0"/>
          <a:chOff x="0" y="0"/>
          <a:chExt cx="0" cy="0"/>
        </a:xfrm>
      </p:grpSpPr>
      <p:sp>
        <p:nvSpPr>
          <p:cNvPr id="13" name="Google Shape;13;p52"/>
          <p:cNvSpPr txBox="1">
            <a:spLocks noGrp="1"/>
          </p:cNvSpPr>
          <p:nvPr>
            <p:ph type="title"/>
          </p:nvPr>
        </p:nvSpPr>
        <p:spPr>
          <a:xfrm>
            <a:off x="960000" y="593367"/>
            <a:ext cx="103364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sz="4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extLst>
      <p:ext uri="{BB962C8B-B14F-4D97-AF65-F5344CB8AC3E}">
        <p14:creationId xmlns:p14="http://schemas.microsoft.com/office/powerpoint/2010/main" val="1872166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Quote">
    <p:bg>
      <p:bgPr>
        <a:solidFill>
          <a:schemeClr val="dk1"/>
        </a:solidFill>
        <a:effectLst/>
      </p:bgPr>
    </p:bg>
    <p:spTree>
      <p:nvGrpSpPr>
        <p:cNvPr id="1" name="Shape 21"/>
        <p:cNvGrpSpPr/>
        <p:nvPr/>
      </p:nvGrpSpPr>
      <p:grpSpPr>
        <a:xfrm>
          <a:off x="0" y="0"/>
          <a:ext cx="0" cy="0"/>
          <a:chOff x="0" y="0"/>
          <a:chExt cx="0" cy="0"/>
        </a:xfrm>
      </p:grpSpPr>
      <p:sp>
        <p:nvSpPr>
          <p:cNvPr id="22" name="Google Shape;22;p54"/>
          <p:cNvSpPr/>
          <p:nvPr/>
        </p:nvSpPr>
        <p:spPr>
          <a:xfrm rot="-1809047">
            <a:off x="1781792" y="556863"/>
            <a:ext cx="8628416" cy="5744276"/>
          </a:xfrm>
          <a:custGeom>
            <a:avLst/>
            <a:gdLst/>
            <a:ahLst/>
            <a:cxnLst/>
            <a:rect l="l" t="t" r="r" b="b"/>
            <a:pathLst>
              <a:path w="88422" h="58866" extrusionOk="0">
                <a:moveTo>
                  <a:pt x="27251" y="0"/>
                </a:moveTo>
                <a:cubicBezTo>
                  <a:pt x="23722" y="0"/>
                  <a:pt x="20274" y="574"/>
                  <a:pt x="17265" y="2079"/>
                </a:cubicBezTo>
                <a:cubicBezTo>
                  <a:pt x="14803" y="3355"/>
                  <a:pt x="12554" y="5057"/>
                  <a:pt x="10092" y="7003"/>
                </a:cubicBezTo>
                <a:cubicBezTo>
                  <a:pt x="4681" y="11228"/>
                  <a:pt x="0" y="16243"/>
                  <a:pt x="0" y="23477"/>
                </a:cubicBezTo>
                <a:cubicBezTo>
                  <a:pt x="487" y="33447"/>
                  <a:pt x="9028" y="38766"/>
                  <a:pt x="16140" y="44389"/>
                </a:cubicBezTo>
                <a:cubicBezTo>
                  <a:pt x="27090" y="53060"/>
                  <a:pt x="42079" y="58866"/>
                  <a:pt x="56658" y="58866"/>
                </a:cubicBezTo>
                <a:cubicBezTo>
                  <a:pt x="62112" y="58866"/>
                  <a:pt x="67509" y="58053"/>
                  <a:pt x="72616" y="56274"/>
                </a:cubicBezTo>
                <a:cubicBezTo>
                  <a:pt x="82008" y="53022"/>
                  <a:pt x="88421" y="43599"/>
                  <a:pt x="87084" y="33325"/>
                </a:cubicBezTo>
                <a:cubicBezTo>
                  <a:pt x="85838" y="23903"/>
                  <a:pt x="71187" y="17094"/>
                  <a:pt x="63922" y="12687"/>
                </a:cubicBezTo>
                <a:cubicBezTo>
                  <a:pt x="56931" y="8431"/>
                  <a:pt x="49302" y="4723"/>
                  <a:pt x="41430" y="2352"/>
                </a:cubicBezTo>
                <a:cubicBezTo>
                  <a:pt x="37177" y="1099"/>
                  <a:pt x="32136" y="0"/>
                  <a:pt x="27251" y="0"/>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3" name="Google Shape;23;p54"/>
          <p:cNvSpPr txBox="1">
            <a:spLocks noGrp="1"/>
          </p:cNvSpPr>
          <p:nvPr>
            <p:ph type="subTitle" idx="1"/>
          </p:nvPr>
        </p:nvSpPr>
        <p:spPr>
          <a:xfrm flipH="1">
            <a:off x="3029767" y="2379300"/>
            <a:ext cx="6285200" cy="16912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2700"/>
              <a:buNone/>
              <a:defRPr sz="2667"/>
            </a:lvl1pPr>
            <a:lvl2pPr lvl="1" algn="ctr">
              <a:lnSpc>
                <a:spcPct val="100000"/>
              </a:lnSpc>
              <a:spcBef>
                <a:spcPts val="0"/>
              </a:spcBef>
              <a:spcAft>
                <a:spcPts val="0"/>
              </a:spcAft>
              <a:buSzPts val="1600"/>
              <a:buNone/>
              <a:defRPr sz="2133"/>
            </a:lvl2pPr>
            <a:lvl3pPr lvl="2" algn="ctr">
              <a:lnSpc>
                <a:spcPct val="100000"/>
              </a:lnSpc>
              <a:spcBef>
                <a:spcPts val="0"/>
              </a:spcBef>
              <a:spcAft>
                <a:spcPts val="0"/>
              </a:spcAft>
              <a:buSzPts val="1600"/>
              <a:buNone/>
              <a:defRPr sz="2133"/>
            </a:lvl3pPr>
            <a:lvl4pPr lvl="3" algn="ctr">
              <a:lnSpc>
                <a:spcPct val="100000"/>
              </a:lnSpc>
              <a:spcBef>
                <a:spcPts val="0"/>
              </a:spcBef>
              <a:spcAft>
                <a:spcPts val="0"/>
              </a:spcAft>
              <a:buSzPts val="1600"/>
              <a:buNone/>
              <a:defRPr sz="2133"/>
            </a:lvl4pPr>
            <a:lvl5pPr lvl="4" algn="ctr">
              <a:lnSpc>
                <a:spcPct val="100000"/>
              </a:lnSpc>
              <a:spcBef>
                <a:spcPts val="0"/>
              </a:spcBef>
              <a:spcAft>
                <a:spcPts val="0"/>
              </a:spcAft>
              <a:buSzPts val="1600"/>
              <a:buNone/>
              <a:defRPr sz="2133"/>
            </a:lvl5pPr>
            <a:lvl6pPr lvl="5" algn="ctr">
              <a:lnSpc>
                <a:spcPct val="100000"/>
              </a:lnSpc>
              <a:spcBef>
                <a:spcPts val="0"/>
              </a:spcBef>
              <a:spcAft>
                <a:spcPts val="0"/>
              </a:spcAft>
              <a:buSzPts val="1600"/>
              <a:buNone/>
              <a:defRPr sz="2133"/>
            </a:lvl6pPr>
            <a:lvl7pPr lvl="6" algn="ctr">
              <a:lnSpc>
                <a:spcPct val="100000"/>
              </a:lnSpc>
              <a:spcBef>
                <a:spcPts val="0"/>
              </a:spcBef>
              <a:spcAft>
                <a:spcPts val="0"/>
              </a:spcAft>
              <a:buSzPts val="1600"/>
              <a:buNone/>
              <a:defRPr sz="2133"/>
            </a:lvl7pPr>
            <a:lvl8pPr lvl="7" algn="ctr">
              <a:lnSpc>
                <a:spcPct val="100000"/>
              </a:lnSpc>
              <a:spcBef>
                <a:spcPts val="0"/>
              </a:spcBef>
              <a:spcAft>
                <a:spcPts val="0"/>
              </a:spcAft>
              <a:buSzPts val="1600"/>
              <a:buNone/>
              <a:defRPr sz="2133"/>
            </a:lvl8pPr>
            <a:lvl9pPr lvl="8" algn="ctr">
              <a:lnSpc>
                <a:spcPct val="100000"/>
              </a:lnSpc>
              <a:spcBef>
                <a:spcPts val="0"/>
              </a:spcBef>
              <a:spcAft>
                <a:spcPts val="0"/>
              </a:spcAft>
              <a:buSzPts val="1600"/>
              <a:buNone/>
              <a:defRPr sz="2133"/>
            </a:lvl9pPr>
          </a:lstStyle>
          <a:p>
            <a:endParaRPr/>
          </a:p>
        </p:txBody>
      </p:sp>
      <p:sp>
        <p:nvSpPr>
          <p:cNvPr id="24" name="Google Shape;24;p54"/>
          <p:cNvSpPr txBox="1">
            <a:spLocks noGrp="1"/>
          </p:cNvSpPr>
          <p:nvPr>
            <p:ph type="ctrTitle"/>
          </p:nvPr>
        </p:nvSpPr>
        <p:spPr>
          <a:xfrm flipH="1">
            <a:off x="4148951" y="4231600"/>
            <a:ext cx="4046800" cy="903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1100"/>
              <a:buNone/>
              <a:defRPr sz="2400"/>
            </a:lvl1pPr>
            <a:lvl2pPr lvl="1" algn="ctr">
              <a:lnSpc>
                <a:spcPct val="100000"/>
              </a:lnSpc>
              <a:spcBef>
                <a:spcPts val="0"/>
              </a:spcBef>
              <a:spcAft>
                <a:spcPts val="0"/>
              </a:spcAft>
              <a:buClr>
                <a:schemeClr val="dk2"/>
              </a:buClr>
              <a:buSzPts val="12000"/>
              <a:buNone/>
              <a:defRPr sz="16000">
                <a:solidFill>
                  <a:schemeClr val="dk2"/>
                </a:solidFill>
              </a:defRPr>
            </a:lvl2pPr>
            <a:lvl3pPr lvl="2" algn="ctr">
              <a:lnSpc>
                <a:spcPct val="100000"/>
              </a:lnSpc>
              <a:spcBef>
                <a:spcPts val="0"/>
              </a:spcBef>
              <a:spcAft>
                <a:spcPts val="0"/>
              </a:spcAft>
              <a:buClr>
                <a:schemeClr val="dk2"/>
              </a:buClr>
              <a:buSzPts val="12000"/>
              <a:buNone/>
              <a:defRPr sz="16000">
                <a:solidFill>
                  <a:schemeClr val="dk2"/>
                </a:solidFill>
              </a:defRPr>
            </a:lvl3pPr>
            <a:lvl4pPr lvl="3" algn="ctr">
              <a:lnSpc>
                <a:spcPct val="100000"/>
              </a:lnSpc>
              <a:spcBef>
                <a:spcPts val="0"/>
              </a:spcBef>
              <a:spcAft>
                <a:spcPts val="0"/>
              </a:spcAft>
              <a:buClr>
                <a:schemeClr val="dk2"/>
              </a:buClr>
              <a:buSzPts val="12000"/>
              <a:buNone/>
              <a:defRPr sz="16000">
                <a:solidFill>
                  <a:schemeClr val="dk2"/>
                </a:solidFill>
              </a:defRPr>
            </a:lvl4pPr>
            <a:lvl5pPr lvl="4" algn="ctr">
              <a:lnSpc>
                <a:spcPct val="100000"/>
              </a:lnSpc>
              <a:spcBef>
                <a:spcPts val="0"/>
              </a:spcBef>
              <a:spcAft>
                <a:spcPts val="0"/>
              </a:spcAft>
              <a:buClr>
                <a:schemeClr val="dk2"/>
              </a:buClr>
              <a:buSzPts val="12000"/>
              <a:buNone/>
              <a:defRPr sz="16000">
                <a:solidFill>
                  <a:schemeClr val="dk2"/>
                </a:solidFill>
              </a:defRPr>
            </a:lvl5pPr>
            <a:lvl6pPr lvl="5" algn="ctr">
              <a:lnSpc>
                <a:spcPct val="100000"/>
              </a:lnSpc>
              <a:spcBef>
                <a:spcPts val="0"/>
              </a:spcBef>
              <a:spcAft>
                <a:spcPts val="0"/>
              </a:spcAft>
              <a:buClr>
                <a:schemeClr val="dk2"/>
              </a:buClr>
              <a:buSzPts val="12000"/>
              <a:buNone/>
              <a:defRPr sz="16000">
                <a:solidFill>
                  <a:schemeClr val="dk2"/>
                </a:solidFill>
              </a:defRPr>
            </a:lvl6pPr>
            <a:lvl7pPr lvl="6" algn="ctr">
              <a:lnSpc>
                <a:spcPct val="100000"/>
              </a:lnSpc>
              <a:spcBef>
                <a:spcPts val="0"/>
              </a:spcBef>
              <a:spcAft>
                <a:spcPts val="0"/>
              </a:spcAft>
              <a:buClr>
                <a:schemeClr val="dk2"/>
              </a:buClr>
              <a:buSzPts val="12000"/>
              <a:buNone/>
              <a:defRPr sz="16000">
                <a:solidFill>
                  <a:schemeClr val="dk2"/>
                </a:solidFill>
              </a:defRPr>
            </a:lvl7pPr>
            <a:lvl8pPr lvl="7" algn="ctr">
              <a:lnSpc>
                <a:spcPct val="100000"/>
              </a:lnSpc>
              <a:spcBef>
                <a:spcPts val="0"/>
              </a:spcBef>
              <a:spcAft>
                <a:spcPts val="0"/>
              </a:spcAft>
              <a:buClr>
                <a:schemeClr val="dk2"/>
              </a:buClr>
              <a:buSzPts val="12000"/>
              <a:buNone/>
              <a:defRPr sz="16000">
                <a:solidFill>
                  <a:schemeClr val="dk2"/>
                </a:solidFill>
              </a:defRPr>
            </a:lvl8pPr>
            <a:lvl9pPr lvl="8" algn="ctr">
              <a:lnSpc>
                <a:spcPct val="100000"/>
              </a:lnSpc>
              <a:spcBef>
                <a:spcPts val="0"/>
              </a:spcBef>
              <a:spcAft>
                <a:spcPts val="0"/>
              </a:spcAft>
              <a:buClr>
                <a:schemeClr val="dk2"/>
              </a:buClr>
              <a:buSzPts val="12000"/>
              <a:buNone/>
              <a:defRPr sz="16000">
                <a:solidFill>
                  <a:schemeClr val="dk2"/>
                </a:solidFill>
              </a:defRPr>
            </a:lvl9pPr>
          </a:lstStyle>
          <a:p>
            <a:endParaRPr/>
          </a:p>
        </p:txBody>
      </p:sp>
    </p:spTree>
    <p:extLst>
      <p:ext uri="{BB962C8B-B14F-4D97-AF65-F5344CB8AC3E}">
        <p14:creationId xmlns:p14="http://schemas.microsoft.com/office/powerpoint/2010/main" val="29268089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1">
  <p:cSld name="Title only 1">
    <p:bg>
      <p:bgPr>
        <a:solidFill>
          <a:schemeClr val="dk1"/>
        </a:solidFill>
        <a:effectLst/>
      </p:bgPr>
    </p:bg>
    <p:spTree>
      <p:nvGrpSpPr>
        <p:cNvPr id="1" name="Shape 27"/>
        <p:cNvGrpSpPr/>
        <p:nvPr/>
      </p:nvGrpSpPr>
      <p:grpSpPr>
        <a:xfrm>
          <a:off x="0" y="0"/>
          <a:ext cx="0" cy="0"/>
          <a:chOff x="0" y="0"/>
          <a:chExt cx="0" cy="0"/>
        </a:xfrm>
      </p:grpSpPr>
      <p:sp>
        <p:nvSpPr>
          <p:cNvPr id="28" name="Google Shape;28;p56"/>
          <p:cNvSpPr txBox="1">
            <a:spLocks noGrp="1"/>
          </p:cNvSpPr>
          <p:nvPr>
            <p:ph type="title"/>
          </p:nvPr>
        </p:nvSpPr>
        <p:spPr>
          <a:xfrm>
            <a:off x="960000" y="593367"/>
            <a:ext cx="10336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sz="4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56"/>
          <p:cNvSpPr/>
          <p:nvPr/>
        </p:nvSpPr>
        <p:spPr>
          <a:xfrm rot="10800000" flipH="1">
            <a:off x="-23932" y="5927326"/>
            <a:ext cx="5270759" cy="930679"/>
          </a:xfrm>
          <a:custGeom>
            <a:avLst/>
            <a:gdLst/>
            <a:ahLst/>
            <a:cxnLst/>
            <a:rect l="l" t="t" r="r" b="b"/>
            <a:pathLst>
              <a:path w="35849" h="6330" extrusionOk="0">
                <a:moveTo>
                  <a:pt x="1" y="0"/>
                </a:moveTo>
                <a:lnTo>
                  <a:pt x="1" y="741"/>
                </a:lnTo>
                <a:cubicBezTo>
                  <a:pt x="3072" y="2955"/>
                  <a:pt x="8752" y="6191"/>
                  <a:pt x="15857" y="6323"/>
                </a:cubicBezTo>
                <a:cubicBezTo>
                  <a:pt x="16096" y="6327"/>
                  <a:pt x="16330" y="6329"/>
                  <a:pt x="16561" y="6329"/>
                </a:cubicBezTo>
                <a:cubicBezTo>
                  <a:pt x="25796" y="6329"/>
                  <a:pt x="28741" y="2845"/>
                  <a:pt x="35848" y="0"/>
                </a:cubicBezTo>
                <a:close/>
              </a:path>
            </a:pathLst>
          </a:custGeom>
          <a:solidFill>
            <a:schemeClr val="accen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0" name="Google Shape;30;p56"/>
          <p:cNvSpPr/>
          <p:nvPr/>
        </p:nvSpPr>
        <p:spPr>
          <a:xfrm rot="10800000" flipH="1">
            <a:off x="11069028" y="5432433"/>
            <a:ext cx="1099024" cy="1425571"/>
          </a:xfrm>
          <a:custGeom>
            <a:avLst/>
            <a:gdLst/>
            <a:ahLst/>
            <a:cxnLst/>
            <a:rect l="l" t="t" r="r" b="b"/>
            <a:pathLst>
              <a:path w="7475" h="9696" extrusionOk="0">
                <a:moveTo>
                  <a:pt x="0" y="0"/>
                </a:moveTo>
                <a:cubicBezTo>
                  <a:pt x="699" y="2262"/>
                  <a:pt x="2316" y="6469"/>
                  <a:pt x="5107" y="8330"/>
                </a:cubicBezTo>
                <a:cubicBezTo>
                  <a:pt x="5864" y="8838"/>
                  <a:pt x="6655" y="9293"/>
                  <a:pt x="7474" y="9695"/>
                </a:cubicBezTo>
                <a:lnTo>
                  <a:pt x="7474" y="0"/>
                </a:lnTo>
                <a:close/>
              </a:path>
            </a:pathLst>
          </a:custGeom>
          <a:solidFill>
            <a:schemeClr val="accen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8693705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cSld name="Title and text 2">
    <p:bg>
      <p:bgPr>
        <a:solidFill>
          <a:schemeClr val="dk1"/>
        </a:solidFill>
        <a:effectLst/>
      </p:bgPr>
    </p:bg>
    <p:spTree>
      <p:nvGrpSpPr>
        <p:cNvPr id="1" name="Shape 44"/>
        <p:cNvGrpSpPr/>
        <p:nvPr/>
      </p:nvGrpSpPr>
      <p:grpSpPr>
        <a:xfrm>
          <a:off x="0" y="0"/>
          <a:ext cx="0" cy="0"/>
          <a:chOff x="0" y="0"/>
          <a:chExt cx="0" cy="0"/>
        </a:xfrm>
      </p:grpSpPr>
      <p:sp>
        <p:nvSpPr>
          <p:cNvPr id="45" name="Google Shape;45;p59"/>
          <p:cNvSpPr txBox="1">
            <a:spLocks noGrp="1"/>
          </p:cNvSpPr>
          <p:nvPr>
            <p:ph type="subTitle" idx="1"/>
          </p:nvPr>
        </p:nvSpPr>
        <p:spPr>
          <a:xfrm flipH="1">
            <a:off x="3731067" y="3846800"/>
            <a:ext cx="4729600" cy="8940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1800"/>
              <a:buNone/>
              <a:defRPr sz="1867" b="0"/>
            </a:lvl1pPr>
            <a:lvl2pPr lvl="1" algn="l">
              <a:lnSpc>
                <a:spcPct val="100000"/>
              </a:lnSpc>
              <a:spcBef>
                <a:spcPts val="0"/>
              </a:spcBef>
              <a:spcAft>
                <a:spcPts val="0"/>
              </a:spcAft>
              <a:buSzPts val="1400"/>
              <a:buNone/>
              <a:defRPr sz="1867"/>
            </a:lvl2pPr>
            <a:lvl3pPr lvl="2" algn="l">
              <a:lnSpc>
                <a:spcPct val="100000"/>
              </a:lnSpc>
              <a:spcBef>
                <a:spcPts val="0"/>
              </a:spcBef>
              <a:spcAft>
                <a:spcPts val="0"/>
              </a:spcAft>
              <a:buSzPts val="1400"/>
              <a:buNone/>
              <a:defRPr sz="1867"/>
            </a:lvl3pPr>
            <a:lvl4pPr lvl="3" algn="l">
              <a:lnSpc>
                <a:spcPct val="100000"/>
              </a:lnSpc>
              <a:spcBef>
                <a:spcPts val="0"/>
              </a:spcBef>
              <a:spcAft>
                <a:spcPts val="0"/>
              </a:spcAft>
              <a:buSzPts val="1400"/>
              <a:buNone/>
              <a:defRPr sz="1867"/>
            </a:lvl4pPr>
            <a:lvl5pPr lvl="4" algn="l">
              <a:lnSpc>
                <a:spcPct val="100000"/>
              </a:lnSpc>
              <a:spcBef>
                <a:spcPts val="0"/>
              </a:spcBef>
              <a:spcAft>
                <a:spcPts val="0"/>
              </a:spcAft>
              <a:buSzPts val="1400"/>
              <a:buNone/>
              <a:defRPr sz="1867"/>
            </a:lvl5pPr>
            <a:lvl6pPr lvl="5" algn="l">
              <a:lnSpc>
                <a:spcPct val="100000"/>
              </a:lnSpc>
              <a:spcBef>
                <a:spcPts val="0"/>
              </a:spcBef>
              <a:spcAft>
                <a:spcPts val="0"/>
              </a:spcAft>
              <a:buSzPts val="1400"/>
              <a:buNone/>
              <a:defRPr sz="1867"/>
            </a:lvl6pPr>
            <a:lvl7pPr lvl="6" algn="l">
              <a:lnSpc>
                <a:spcPct val="100000"/>
              </a:lnSpc>
              <a:spcBef>
                <a:spcPts val="0"/>
              </a:spcBef>
              <a:spcAft>
                <a:spcPts val="0"/>
              </a:spcAft>
              <a:buSzPts val="1400"/>
              <a:buNone/>
              <a:defRPr sz="1867"/>
            </a:lvl7pPr>
            <a:lvl8pPr lvl="7" algn="l">
              <a:lnSpc>
                <a:spcPct val="100000"/>
              </a:lnSpc>
              <a:spcBef>
                <a:spcPts val="0"/>
              </a:spcBef>
              <a:spcAft>
                <a:spcPts val="0"/>
              </a:spcAft>
              <a:buSzPts val="1400"/>
              <a:buNone/>
              <a:defRPr sz="1867"/>
            </a:lvl8pPr>
            <a:lvl9pPr lvl="8" algn="l">
              <a:lnSpc>
                <a:spcPct val="100000"/>
              </a:lnSpc>
              <a:spcBef>
                <a:spcPts val="0"/>
              </a:spcBef>
              <a:spcAft>
                <a:spcPts val="0"/>
              </a:spcAft>
              <a:buSzPts val="1400"/>
              <a:buNone/>
              <a:defRPr sz="1867"/>
            </a:lvl9pPr>
          </a:lstStyle>
          <a:p>
            <a:endParaRPr/>
          </a:p>
        </p:txBody>
      </p:sp>
      <p:sp>
        <p:nvSpPr>
          <p:cNvPr id="46" name="Google Shape;46;p59"/>
          <p:cNvSpPr txBox="1">
            <a:spLocks noGrp="1"/>
          </p:cNvSpPr>
          <p:nvPr>
            <p:ph type="ctrTitle"/>
          </p:nvPr>
        </p:nvSpPr>
        <p:spPr>
          <a:xfrm flipH="1">
            <a:off x="3731333" y="2264567"/>
            <a:ext cx="4729600" cy="16840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6000"/>
              <a:buNone/>
              <a:defRPr sz="8000"/>
            </a:lvl1pPr>
            <a:lvl2pPr lvl="1" algn="l">
              <a:lnSpc>
                <a:spcPct val="100000"/>
              </a:lnSpc>
              <a:spcBef>
                <a:spcPts val="0"/>
              </a:spcBef>
              <a:spcAft>
                <a:spcPts val="0"/>
              </a:spcAft>
              <a:buClr>
                <a:schemeClr val="dk2"/>
              </a:buClr>
              <a:buSzPts val="12000"/>
              <a:buNone/>
              <a:defRPr sz="16000">
                <a:solidFill>
                  <a:schemeClr val="dk2"/>
                </a:solidFill>
              </a:defRPr>
            </a:lvl2pPr>
            <a:lvl3pPr lvl="2" algn="l">
              <a:lnSpc>
                <a:spcPct val="100000"/>
              </a:lnSpc>
              <a:spcBef>
                <a:spcPts val="0"/>
              </a:spcBef>
              <a:spcAft>
                <a:spcPts val="0"/>
              </a:spcAft>
              <a:buClr>
                <a:schemeClr val="dk2"/>
              </a:buClr>
              <a:buSzPts val="12000"/>
              <a:buNone/>
              <a:defRPr sz="16000">
                <a:solidFill>
                  <a:schemeClr val="dk2"/>
                </a:solidFill>
              </a:defRPr>
            </a:lvl3pPr>
            <a:lvl4pPr lvl="3" algn="l">
              <a:lnSpc>
                <a:spcPct val="100000"/>
              </a:lnSpc>
              <a:spcBef>
                <a:spcPts val="0"/>
              </a:spcBef>
              <a:spcAft>
                <a:spcPts val="0"/>
              </a:spcAft>
              <a:buClr>
                <a:schemeClr val="dk2"/>
              </a:buClr>
              <a:buSzPts val="12000"/>
              <a:buNone/>
              <a:defRPr sz="16000">
                <a:solidFill>
                  <a:schemeClr val="dk2"/>
                </a:solidFill>
              </a:defRPr>
            </a:lvl4pPr>
            <a:lvl5pPr lvl="4" algn="l">
              <a:lnSpc>
                <a:spcPct val="100000"/>
              </a:lnSpc>
              <a:spcBef>
                <a:spcPts val="0"/>
              </a:spcBef>
              <a:spcAft>
                <a:spcPts val="0"/>
              </a:spcAft>
              <a:buClr>
                <a:schemeClr val="dk2"/>
              </a:buClr>
              <a:buSzPts val="12000"/>
              <a:buNone/>
              <a:defRPr sz="16000">
                <a:solidFill>
                  <a:schemeClr val="dk2"/>
                </a:solidFill>
              </a:defRPr>
            </a:lvl5pPr>
            <a:lvl6pPr lvl="5" algn="l">
              <a:lnSpc>
                <a:spcPct val="100000"/>
              </a:lnSpc>
              <a:spcBef>
                <a:spcPts val="0"/>
              </a:spcBef>
              <a:spcAft>
                <a:spcPts val="0"/>
              </a:spcAft>
              <a:buClr>
                <a:schemeClr val="dk2"/>
              </a:buClr>
              <a:buSzPts val="12000"/>
              <a:buNone/>
              <a:defRPr sz="16000">
                <a:solidFill>
                  <a:schemeClr val="dk2"/>
                </a:solidFill>
              </a:defRPr>
            </a:lvl6pPr>
            <a:lvl7pPr lvl="6" algn="l">
              <a:lnSpc>
                <a:spcPct val="100000"/>
              </a:lnSpc>
              <a:spcBef>
                <a:spcPts val="0"/>
              </a:spcBef>
              <a:spcAft>
                <a:spcPts val="0"/>
              </a:spcAft>
              <a:buClr>
                <a:schemeClr val="dk2"/>
              </a:buClr>
              <a:buSzPts val="12000"/>
              <a:buNone/>
              <a:defRPr sz="16000">
                <a:solidFill>
                  <a:schemeClr val="dk2"/>
                </a:solidFill>
              </a:defRPr>
            </a:lvl7pPr>
            <a:lvl8pPr lvl="7" algn="l">
              <a:lnSpc>
                <a:spcPct val="100000"/>
              </a:lnSpc>
              <a:spcBef>
                <a:spcPts val="0"/>
              </a:spcBef>
              <a:spcAft>
                <a:spcPts val="0"/>
              </a:spcAft>
              <a:buClr>
                <a:schemeClr val="dk2"/>
              </a:buClr>
              <a:buSzPts val="12000"/>
              <a:buNone/>
              <a:defRPr sz="16000">
                <a:solidFill>
                  <a:schemeClr val="dk2"/>
                </a:solidFill>
              </a:defRPr>
            </a:lvl8pPr>
            <a:lvl9pPr lvl="8" algn="l">
              <a:lnSpc>
                <a:spcPct val="100000"/>
              </a:lnSpc>
              <a:spcBef>
                <a:spcPts val="0"/>
              </a:spcBef>
              <a:spcAft>
                <a:spcPts val="0"/>
              </a:spcAft>
              <a:buClr>
                <a:schemeClr val="dk2"/>
              </a:buClr>
              <a:buSzPts val="12000"/>
              <a:buNone/>
              <a:defRPr sz="16000">
                <a:solidFill>
                  <a:schemeClr val="dk2"/>
                </a:solidFill>
              </a:defRPr>
            </a:lvl9pPr>
          </a:lstStyle>
          <a:p>
            <a:endParaRPr/>
          </a:p>
        </p:txBody>
      </p:sp>
    </p:spTree>
    <p:extLst>
      <p:ext uri="{BB962C8B-B14F-4D97-AF65-F5344CB8AC3E}">
        <p14:creationId xmlns:p14="http://schemas.microsoft.com/office/powerpoint/2010/main" val="35682493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36"/>
        <p:cNvGrpSpPr/>
        <p:nvPr/>
      </p:nvGrpSpPr>
      <p:grpSpPr>
        <a:xfrm>
          <a:off x="0" y="0"/>
          <a:ext cx="0" cy="0"/>
          <a:chOff x="0" y="0"/>
          <a:chExt cx="0" cy="0"/>
        </a:xfrm>
      </p:grpSpPr>
    </p:spTree>
    <p:extLst>
      <p:ext uri="{BB962C8B-B14F-4D97-AF65-F5344CB8AC3E}">
        <p14:creationId xmlns:p14="http://schemas.microsoft.com/office/powerpoint/2010/main" val="2316236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p:cSld name="Background">
    <p:bg>
      <p:bgPr>
        <a:solidFill>
          <a:schemeClr val="dk1"/>
        </a:solidFill>
        <a:effectLst/>
      </p:bgPr>
    </p:bg>
    <p:spTree>
      <p:nvGrpSpPr>
        <p:cNvPr id="1" name="Shape 237"/>
        <p:cNvGrpSpPr/>
        <p:nvPr/>
      </p:nvGrpSpPr>
      <p:grpSpPr>
        <a:xfrm>
          <a:off x="0" y="0"/>
          <a:ext cx="0" cy="0"/>
          <a:chOff x="0" y="0"/>
          <a:chExt cx="0" cy="0"/>
        </a:xfrm>
      </p:grpSpPr>
      <p:grpSp>
        <p:nvGrpSpPr>
          <p:cNvPr id="238" name="Google Shape;238;p65"/>
          <p:cNvGrpSpPr/>
          <p:nvPr/>
        </p:nvGrpSpPr>
        <p:grpSpPr>
          <a:xfrm>
            <a:off x="338567" y="5854501"/>
            <a:ext cx="434367" cy="737367"/>
            <a:chOff x="-1894225" y="2131775"/>
            <a:chExt cx="325775" cy="553025"/>
          </a:xfrm>
        </p:grpSpPr>
        <p:sp>
          <p:nvSpPr>
            <p:cNvPr id="239" name="Google Shape;239;p65"/>
            <p:cNvSpPr/>
            <p:nvPr/>
          </p:nvSpPr>
          <p:spPr>
            <a:xfrm>
              <a:off x="-1894225" y="2131775"/>
              <a:ext cx="248775" cy="248775"/>
            </a:xfrm>
            <a:custGeom>
              <a:avLst/>
              <a:gdLst/>
              <a:ahLst/>
              <a:cxnLst/>
              <a:rect l="l" t="t" r="r" b="b"/>
              <a:pathLst>
                <a:path w="9951" h="9951" extrusionOk="0">
                  <a:moveTo>
                    <a:pt x="7047" y="1149"/>
                  </a:moveTo>
                  <a:cubicBezTo>
                    <a:pt x="8013" y="1149"/>
                    <a:pt x="8809" y="1945"/>
                    <a:pt x="8809" y="2917"/>
                  </a:cubicBezTo>
                  <a:lnTo>
                    <a:pt x="8809" y="7060"/>
                  </a:lnTo>
                  <a:cubicBezTo>
                    <a:pt x="8809" y="8026"/>
                    <a:pt x="8013" y="8822"/>
                    <a:pt x="7047" y="8822"/>
                  </a:cubicBezTo>
                  <a:lnTo>
                    <a:pt x="2904" y="8822"/>
                  </a:lnTo>
                  <a:cubicBezTo>
                    <a:pt x="1932" y="8822"/>
                    <a:pt x="1142" y="8026"/>
                    <a:pt x="1142" y="7060"/>
                  </a:cubicBezTo>
                  <a:lnTo>
                    <a:pt x="1142" y="2917"/>
                  </a:lnTo>
                  <a:cubicBezTo>
                    <a:pt x="1142" y="1945"/>
                    <a:pt x="1932" y="1149"/>
                    <a:pt x="2904" y="1149"/>
                  </a:cubicBezTo>
                  <a:close/>
                  <a:moveTo>
                    <a:pt x="2904" y="0"/>
                  </a:moveTo>
                  <a:cubicBezTo>
                    <a:pt x="1306" y="0"/>
                    <a:pt x="1" y="1305"/>
                    <a:pt x="1" y="2904"/>
                  </a:cubicBezTo>
                  <a:lnTo>
                    <a:pt x="1" y="7047"/>
                  </a:lnTo>
                  <a:cubicBezTo>
                    <a:pt x="1" y="8646"/>
                    <a:pt x="1306" y="9951"/>
                    <a:pt x="2904" y="9951"/>
                  </a:cubicBezTo>
                  <a:lnTo>
                    <a:pt x="7047" y="9951"/>
                  </a:lnTo>
                  <a:cubicBezTo>
                    <a:pt x="8646" y="9951"/>
                    <a:pt x="9938" y="8659"/>
                    <a:pt x="9951" y="7047"/>
                  </a:cubicBezTo>
                  <a:lnTo>
                    <a:pt x="9951" y="2904"/>
                  </a:lnTo>
                  <a:cubicBezTo>
                    <a:pt x="9951" y="1305"/>
                    <a:pt x="8646" y="0"/>
                    <a:pt x="7047"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40" name="Google Shape;240;p65"/>
            <p:cNvSpPr/>
            <p:nvPr/>
          </p:nvSpPr>
          <p:spPr>
            <a:xfrm>
              <a:off x="-1894225" y="2436025"/>
              <a:ext cx="248775" cy="248775"/>
            </a:xfrm>
            <a:custGeom>
              <a:avLst/>
              <a:gdLst/>
              <a:ahLst/>
              <a:cxnLst/>
              <a:rect l="l" t="t" r="r" b="b"/>
              <a:pathLst>
                <a:path w="9951" h="9951" extrusionOk="0">
                  <a:moveTo>
                    <a:pt x="7047" y="1149"/>
                  </a:moveTo>
                  <a:cubicBezTo>
                    <a:pt x="8019" y="1149"/>
                    <a:pt x="8809" y="1945"/>
                    <a:pt x="8809" y="2917"/>
                  </a:cubicBezTo>
                  <a:lnTo>
                    <a:pt x="8809" y="7060"/>
                  </a:lnTo>
                  <a:cubicBezTo>
                    <a:pt x="8809" y="8026"/>
                    <a:pt x="8019" y="8822"/>
                    <a:pt x="7047" y="8822"/>
                  </a:cubicBezTo>
                  <a:lnTo>
                    <a:pt x="2904" y="8822"/>
                  </a:lnTo>
                  <a:cubicBezTo>
                    <a:pt x="1932" y="8822"/>
                    <a:pt x="1142" y="8026"/>
                    <a:pt x="1142" y="7060"/>
                  </a:cubicBezTo>
                  <a:lnTo>
                    <a:pt x="1142" y="2917"/>
                  </a:lnTo>
                  <a:cubicBezTo>
                    <a:pt x="1142" y="1945"/>
                    <a:pt x="1932" y="1149"/>
                    <a:pt x="2904" y="1149"/>
                  </a:cubicBezTo>
                  <a:close/>
                  <a:moveTo>
                    <a:pt x="2904" y="0"/>
                  </a:moveTo>
                  <a:cubicBezTo>
                    <a:pt x="1305" y="0"/>
                    <a:pt x="0" y="1305"/>
                    <a:pt x="0" y="2904"/>
                  </a:cubicBezTo>
                  <a:lnTo>
                    <a:pt x="0" y="7047"/>
                  </a:lnTo>
                  <a:cubicBezTo>
                    <a:pt x="0" y="8646"/>
                    <a:pt x="1305" y="9951"/>
                    <a:pt x="2904" y="9951"/>
                  </a:cubicBezTo>
                  <a:lnTo>
                    <a:pt x="7047" y="9951"/>
                  </a:lnTo>
                  <a:cubicBezTo>
                    <a:pt x="8652" y="9951"/>
                    <a:pt x="9950" y="8659"/>
                    <a:pt x="9950" y="7047"/>
                  </a:cubicBezTo>
                  <a:lnTo>
                    <a:pt x="9950" y="2904"/>
                  </a:lnTo>
                  <a:cubicBezTo>
                    <a:pt x="9950" y="1305"/>
                    <a:pt x="8645" y="0"/>
                    <a:pt x="7047"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41" name="Google Shape;241;p65"/>
            <p:cNvSpPr/>
            <p:nvPr/>
          </p:nvSpPr>
          <p:spPr>
            <a:xfrm>
              <a:off x="-1851650" y="2405800"/>
              <a:ext cx="283200" cy="218650"/>
            </a:xfrm>
            <a:custGeom>
              <a:avLst/>
              <a:gdLst/>
              <a:ahLst/>
              <a:cxnLst/>
              <a:rect l="l" t="t" r="r" b="b"/>
              <a:pathLst>
                <a:path w="11328" h="8746" extrusionOk="0">
                  <a:moveTo>
                    <a:pt x="10789" y="1"/>
                  </a:moveTo>
                  <a:cubicBezTo>
                    <a:pt x="10655" y="1"/>
                    <a:pt x="10520" y="55"/>
                    <a:pt x="10420" y="159"/>
                  </a:cubicBezTo>
                  <a:lnTo>
                    <a:pt x="3563" y="7506"/>
                  </a:lnTo>
                  <a:lnTo>
                    <a:pt x="940" y="4080"/>
                  </a:lnTo>
                  <a:cubicBezTo>
                    <a:pt x="843" y="3957"/>
                    <a:pt x="694" y="3890"/>
                    <a:pt x="546" y="3890"/>
                  </a:cubicBezTo>
                  <a:cubicBezTo>
                    <a:pt x="443" y="3890"/>
                    <a:pt x="340" y="3922"/>
                    <a:pt x="255" y="3989"/>
                  </a:cubicBezTo>
                  <a:cubicBezTo>
                    <a:pt x="39" y="4152"/>
                    <a:pt x="0" y="4465"/>
                    <a:pt x="163" y="4674"/>
                  </a:cubicBezTo>
                  <a:lnTo>
                    <a:pt x="3139" y="8563"/>
                  </a:lnTo>
                  <a:cubicBezTo>
                    <a:pt x="3230" y="8674"/>
                    <a:pt x="3360" y="8739"/>
                    <a:pt x="3504" y="8745"/>
                  </a:cubicBezTo>
                  <a:lnTo>
                    <a:pt x="3530" y="8745"/>
                  </a:lnTo>
                  <a:cubicBezTo>
                    <a:pt x="3674" y="8745"/>
                    <a:pt x="3804" y="8700"/>
                    <a:pt x="3889" y="8602"/>
                  </a:cubicBezTo>
                  <a:lnTo>
                    <a:pt x="11138" y="824"/>
                  </a:lnTo>
                  <a:cubicBezTo>
                    <a:pt x="11327" y="635"/>
                    <a:pt x="11314" y="322"/>
                    <a:pt x="11118" y="133"/>
                  </a:cubicBezTo>
                  <a:cubicBezTo>
                    <a:pt x="11026" y="44"/>
                    <a:pt x="10908" y="1"/>
                    <a:pt x="10789"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grpSp>
        <p:nvGrpSpPr>
          <p:cNvPr id="242" name="Google Shape;242;p65"/>
          <p:cNvGrpSpPr/>
          <p:nvPr/>
        </p:nvGrpSpPr>
        <p:grpSpPr>
          <a:xfrm rot="-5400000">
            <a:off x="1127900" y="6172200"/>
            <a:ext cx="136600" cy="702733"/>
            <a:chOff x="6741800" y="2199300"/>
            <a:chExt cx="102450" cy="527050"/>
          </a:xfrm>
        </p:grpSpPr>
        <p:sp>
          <p:nvSpPr>
            <p:cNvPr id="243" name="Google Shape;243;p65"/>
            <p:cNvSpPr/>
            <p:nvPr/>
          </p:nvSpPr>
          <p:spPr>
            <a:xfrm>
              <a:off x="6741800" y="2199300"/>
              <a:ext cx="102450" cy="113725"/>
            </a:xfrm>
            <a:custGeom>
              <a:avLst/>
              <a:gdLst/>
              <a:ahLst/>
              <a:cxnLst/>
              <a:rect l="l" t="t" r="r" b="b"/>
              <a:pathLst>
                <a:path w="4098" h="4549" extrusionOk="0">
                  <a:moveTo>
                    <a:pt x="992" y="0"/>
                  </a:moveTo>
                  <a:cubicBezTo>
                    <a:pt x="444" y="0"/>
                    <a:pt x="0" y="438"/>
                    <a:pt x="0" y="986"/>
                  </a:cubicBezTo>
                  <a:lnTo>
                    <a:pt x="0" y="3563"/>
                  </a:lnTo>
                  <a:cubicBezTo>
                    <a:pt x="0" y="4111"/>
                    <a:pt x="444" y="4548"/>
                    <a:pt x="992" y="4548"/>
                  </a:cubicBezTo>
                  <a:lnTo>
                    <a:pt x="3112" y="4548"/>
                  </a:lnTo>
                  <a:cubicBezTo>
                    <a:pt x="3654" y="4548"/>
                    <a:pt x="4098" y="4111"/>
                    <a:pt x="4098" y="3563"/>
                  </a:cubicBezTo>
                  <a:lnTo>
                    <a:pt x="4098" y="986"/>
                  </a:lnTo>
                  <a:cubicBezTo>
                    <a:pt x="4098" y="438"/>
                    <a:pt x="3654" y="0"/>
                    <a:pt x="3112"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44" name="Google Shape;244;p65"/>
            <p:cNvSpPr/>
            <p:nvPr/>
          </p:nvSpPr>
          <p:spPr>
            <a:xfrm>
              <a:off x="6741800" y="2405800"/>
              <a:ext cx="102450" cy="113875"/>
            </a:xfrm>
            <a:custGeom>
              <a:avLst/>
              <a:gdLst/>
              <a:ahLst/>
              <a:cxnLst/>
              <a:rect l="l" t="t" r="r" b="b"/>
              <a:pathLst>
                <a:path w="4098" h="4555" extrusionOk="0">
                  <a:moveTo>
                    <a:pt x="992" y="1"/>
                  </a:moveTo>
                  <a:cubicBezTo>
                    <a:pt x="444" y="1"/>
                    <a:pt x="0" y="444"/>
                    <a:pt x="0" y="986"/>
                  </a:cubicBezTo>
                  <a:lnTo>
                    <a:pt x="0" y="3563"/>
                  </a:lnTo>
                  <a:cubicBezTo>
                    <a:pt x="0" y="4111"/>
                    <a:pt x="444" y="4555"/>
                    <a:pt x="992" y="4555"/>
                  </a:cubicBezTo>
                  <a:lnTo>
                    <a:pt x="3112" y="4555"/>
                  </a:lnTo>
                  <a:cubicBezTo>
                    <a:pt x="3654" y="4555"/>
                    <a:pt x="4098" y="4111"/>
                    <a:pt x="4098" y="3563"/>
                  </a:cubicBezTo>
                  <a:lnTo>
                    <a:pt x="4098" y="986"/>
                  </a:lnTo>
                  <a:cubicBezTo>
                    <a:pt x="4098" y="444"/>
                    <a:pt x="3654" y="1"/>
                    <a:pt x="3112"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45" name="Google Shape;245;p65"/>
            <p:cNvSpPr/>
            <p:nvPr/>
          </p:nvSpPr>
          <p:spPr>
            <a:xfrm>
              <a:off x="6741800" y="2612625"/>
              <a:ext cx="102450" cy="113725"/>
            </a:xfrm>
            <a:custGeom>
              <a:avLst/>
              <a:gdLst/>
              <a:ahLst/>
              <a:cxnLst/>
              <a:rect l="l" t="t" r="r" b="b"/>
              <a:pathLst>
                <a:path w="4098" h="4549" extrusionOk="0">
                  <a:moveTo>
                    <a:pt x="992" y="1"/>
                  </a:moveTo>
                  <a:cubicBezTo>
                    <a:pt x="444" y="1"/>
                    <a:pt x="0" y="438"/>
                    <a:pt x="0" y="986"/>
                  </a:cubicBezTo>
                  <a:lnTo>
                    <a:pt x="0" y="3563"/>
                  </a:lnTo>
                  <a:cubicBezTo>
                    <a:pt x="0" y="4112"/>
                    <a:pt x="444" y="4549"/>
                    <a:pt x="992" y="4549"/>
                  </a:cubicBezTo>
                  <a:lnTo>
                    <a:pt x="3112" y="4549"/>
                  </a:lnTo>
                  <a:cubicBezTo>
                    <a:pt x="3654" y="4549"/>
                    <a:pt x="4098" y="4098"/>
                    <a:pt x="4098" y="3563"/>
                  </a:cubicBezTo>
                  <a:lnTo>
                    <a:pt x="4098" y="986"/>
                  </a:lnTo>
                  <a:cubicBezTo>
                    <a:pt x="4098" y="438"/>
                    <a:pt x="3654" y="1"/>
                    <a:pt x="3112"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246" name="Google Shape;246;p65"/>
          <p:cNvSpPr/>
          <p:nvPr/>
        </p:nvSpPr>
        <p:spPr>
          <a:xfrm>
            <a:off x="10724831" y="-439200"/>
            <a:ext cx="1886643" cy="1876231"/>
          </a:xfrm>
          <a:custGeom>
            <a:avLst/>
            <a:gdLst/>
            <a:ahLst/>
            <a:cxnLst/>
            <a:rect l="l" t="t" r="r" b="b"/>
            <a:pathLst>
              <a:path w="28449" h="28292" extrusionOk="0">
                <a:moveTo>
                  <a:pt x="14218" y="9331"/>
                </a:moveTo>
                <a:cubicBezTo>
                  <a:pt x="16873" y="9331"/>
                  <a:pt x="19033" y="11490"/>
                  <a:pt x="19033" y="14152"/>
                </a:cubicBezTo>
                <a:cubicBezTo>
                  <a:pt x="19039" y="16808"/>
                  <a:pt x="16886" y="18968"/>
                  <a:pt x="14218" y="18968"/>
                </a:cubicBezTo>
                <a:cubicBezTo>
                  <a:pt x="11556" y="18968"/>
                  <a:pt x="9396" y="16808"/>
                  <a:pt x="9396" y="14152"/>
                </a:cubicBezTo>
                <a:cubicBezTo>
                  <a:pt x="9396" y="11490"/>
                  <a:pt x="11556" y="9331"/>
                  <a:pt x="14218" y="9331"/>
                </a:cubicBezTo>
                <a:close/>
                <a:moveTo>
                  <a:pt x="17950" y="0"/>
                </a:moveTo>
                <a:lnTo>
                  <a:pt x="15588" y="2545"/>
                </a:lnTo>
                <a:cubicBezTo>
                  <a:pt x="15177" y="2499"/>
                  <a:pt x="14766" y="2480"/>
                  <a:pt x="14348" y="2480"/>
                </a:cubicBezTo>
                <a:cubicBezTo>
                  <a:pt x="13304" y="2480"/>
                  <a:pt x="12299" y="2617"/>
                  <a:pt x="11340" y="2878"/>
                </a:cubicBezTo>
                <a:lnTo>
                  <a:pt x="8632" y="731"/>
                </a:lnTo>
                <a:cubicBezTo>
                  <a:pt x="7608" y="1175"/>
                  <a:pt x="6649" y="1736"/>
                  <a:pt x="5768" y="2395"/>
                </a:cubicBezTo>
                <a:lnTo>
                  <a:pt x="6284" y="5814"/>
                </a:lnTo>
                <a:cubicBezTo>
                  <a:pt x="5272" y="6819"/>
                  <a:pt x="4444" y="8019"/>
                  <a:pt x="3869" y="9337"/>
                </a:cubicBezTo>
                <a:lnTo>
                  <a:pt x="496" y="10120"/>
                </a:lnTo>
                <a:cubicBezTo>
                  <a:pt x="216" y="11164"/>
                  <a:pt x="39" y="12247"/>
                  <a:pt x="0" y="13369"/>
                </a:cubicBezTo>
                <a:lnTo>
                  <a:pt x="2969" y="15085"/>
                </a:lnTo>
                <a:cubicBezTo>
                  <a:pt x="3126" y="16586"/>
                  <a:pt x="3563" y="18009"/>
                  <a:pt x="4241" y="19287"/>
                </a:cubicBezTo>
                <a:lnTo>
                  <a:pt x="2760" y="22406"/>
                </a:lnTo>
                <a:cubicBezTo>
                  <a:pt x="3393" y="23274"/>
                  <a:pt x="4130" y="24076"/>
                  <a:pt x="4946" y="24775"/>
                </a:cubicBezTo>
                <a:lnTo>
                  <a:pt x="8124" y="23528"/>
                </a:lnTo>
                <a:cubicBezTo>
                  <a:pt x="9370" y="24344"/>
                  <a:pt x="10799" y="24925"/>
                  <a:pt x="12325" y="25192"/>
                </a:cubicBezTo>
                <a:lnTo>
                  <a:pt x="13826" y="28285"/>
                </a:lnTo>
                <a:cubicBezTo>
                  <a:pt x="14002" y="28291"/>
                  <a:pt x="14185" y="28291"/>
                  <a:pt x="14361" y="28291"/>
                </a:cubicBezTo>
                <a:cubicBezTo>
                  <a:pt x="15262" y="28291"/>
                  <a:pt x="16142" y="28213"/>
                  <a:pt x="16997" y="28050"/>
                </a:cubicBezTo>
                <a:lnTo>
                  <a:pt x="18008" y="24775"/>
                </a:lnTo>
                <a:cubicBezTo>
                  <a:pt x="19483" y="24279"/>
                  <a:pt x="20821" y="23496"/>
                  <a:pt x="21956" y="22484"/>
                </a:cubicBezTo>
                <a:lnTo>
                  <a:pt x="25303" y="23235"/>
                </a:lnTo>
                <a:cubicBezTo>
                  <a:pt x="25988" y="22426"/>
                  <a:pt x="26588" y="21545"/>
                  <a:pt x="27084" y="20599"/>
                </a:cubicBezTo>
                <a:lnTo>
                  <a:pt x="25147" y="17754"/>
                </a:lnTo>
                <a:cubicBezTo>
                  <a:pt x="25551" y="16554"/>
                  <a:pt x="25792" y="15268"/>
                  <a:pt x="25792" y="13924"/>
                </a:cubicBezTo>
                <a:cubicBezTo>
                  <a:pt x="25792" y="13709"/>
                  <a:pt x="25779" y="13493"/>
                  <a:pt x="25773" y="13291"/>
                </a:cubicBezTo>
                <a:lnTo>
                  <a:pt x="28448" y="11138"/>
                </a:lnTo>
                <a:cubicBezTo>
                  <a:pt x="28239" y="10061"/>
                  <a:pt x="27913" y="9037"/>
                  <a:pt x="27476" y="8065"/>
                </a:cubicBezTo>
                <a:lnTo>
                  <a:pt x="24018" y="7804"/>
                </a:lnTo>
                <a:cubicBezTo>
                  <a:pt x="23235" y="6564"/>
                  <a:pt x="22217" y="5488"/>
                  <a:pt x="21029" y="4633"/>
                </a:cubicBezTo>
                <a:lnTo>
                  <a:pt x="21016" y="1181"/>
                </a:lnTo>
                <a:cubicBezTo>
                  <a:pt x="20057" y="672"/>
                  <a:pt x="19026" y="274"/>
                  <a:pt x="17950" y="0"/>
                </a:cubicBezTo>
                <a:close/>
              </a:path>
            </a:pathLst>
          </a:custGeom>
          <a:solidFill>
            <a:schemeClr val="accent6"/>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2451214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1">
  <p:cSld name="Background 1">
    <p:bg>
      <p:bgPr>
        <a:solidFill>
          <a:schemeClr val="dk1"/>
        </a:solidFill>
        <a:effectLst/>
      </p:bgPr>
    </p:bg>
    <p:spTree>
      <p:nvGrpSpPr>
        <p:cNvPr id="1" name="Shape 247"/>
        <p:cNvGrpSpPr/>
        <p:nvPr/>
      </p:nvGrpSpPr>
      <p:grpSpPr>
        <a:xfrm>
          <a:off x="0" y="0"/>
          <a:ext cx="0" cy="0"/>
          <a:chOff x="0" y="0"/>
          <a:chExt cx="0" cy="0"/>
        </a:xfrm>
      </p:grpSpPr>
      <p:sp>
        <p:nvSpPr>
          <p:cNvPr id="248" name="Google Shape;248;p66"/>
          <p:cNvSpPr/>
          <p:nvPr/>
        </p:nvSpPr>
        <p:spPr>
          <a:xfrm rot="900010">
            <a:off x="8717775" y="3592805"/>
            <a:ext cx="4424172" cy="4399848"/>
          </a:xfrm>
          <a:custGeom>
            <a:avLst/>
            <a:gdLst/>
            <a:ahLst/>
            <a:cxnLst/>
            <a:rect l="l" t="t" r="r" b="b"/>
            <a:pathLst>
              <a:path w="28449" h="28292" extrusionOk="0">
                <a:moveTo>
                  <a:pt x="14218" y="9331"/>
                </a:moveTo>
                <a:cubicBezTo>
                  <a:pt x="16873" y="9331"/>
                  <a:pt x="19033" y="11490"/>
                  <a:pt x="19033" y="14152"/>
                </a:cubicBezTo>
                <a:cubicBezTo>
                  <a:pt x="19039" y="16808"/>
                  <a:pt x="16886" y="18968"/>
                  <a:pt x="14218" y="18968"/>
                </a:cubicBezTo>
                <a:cubicBezTo>
                  <a:pt x="11556" y="18968"/>
                  <a:pt x="9396" y="16808"/>
                  <a:pt x="9396" y="14152"/>
                </a:cubicBezTo>
                <a:cubicBezTo>
                  <a:pt x="9396" y="11490"/>
                  <a:pt x="11556" y="9331"/>
                  <a:pt x="14218" y="9331"/>
                </a:cubicBezTo>
                <a:close/>
                <a:moveTo>
                  <a:pt x="17950" y="0"/>
                </a:moveTo>
                <a:lnTo>
                  <a:pt x="15588" y="2545"/>
                </a:lnTo>
                <a:cubicBezTo>
                  <a:pt x="15177" y="2499"/>
                  <a:pt x="14766" y="2480"/>
                  <a:pt x="14348" y="2480"/>
                </a:cubicBezTo>
                <a:cubicBezTo>
                  <a:pt x="13304" y="2480"/>
                  <a:pt x="12299" y="2617"/>
                  <a:pt x="11340" y="2878"/>
                </a:cubicBezTo>
                <a:lnTo>
                  <a:pt x="8632" y="731"/>
                </a:lnTo>
                <a:cubicBezTo>
                  <a:pt x="7608" y="1175"/>
                  <a:pt x="6649" y="1736"/>
                  <a:pt x="5768" y="2395"/>
                </a:cubicBezTo>
                <a:lnTo>
                  <a:pt x="6284" y="5814"/>
                </a:lnTo>
                <a:cubicBezTo>
                  <a:pt x="5272" y="6819"/>
                  <a:pt x="4444" y="8019"/>
                  <a:pt x="3869" y="9337"/>
                </a:cubicBezTo>
                <a:lnTo>
                  <a:pt x="496" y="10120"/>
                </a:lnTo>
                <a:cubicBezTo>
                  <a:pt x="216" y="11164"/>
                  <a:pt x="39" y="12247"/>
                  <a:pt x="0" y="13369"/>
                </a:cubicBezTo>
                <a:lnTo>
                  <a:pt x="2969" y="15085"/>
                </a:lnTo>
                <a:cubicBezTo>
                  <a:pt x="3126" y="16586"/>
                  <a:pt x="3563" y="18009"/>
                  <a:pt x="4241" y="19287"/>
                </a:cubicBezTo>
                <a:lnTo>
                  <a:pt x="2760" y="22406"/>
                </a:lnTo>
                <a:cubicBezTo>
                  <a:pt x="3393" y="23274"/>
                  <a:pt x="4130" y="24076"/>
                  <a:pt x="4946" y="24775"/>
                </a:cubicBezTo>
                <a:lnTo>
                  <a:pt x="8124" y="23528"/>
                </a:lnTo>
                <a:cubicBezTo>
                  <a:pt x="9370" y="24344"/>
                  <a:pt x="10799" y="24925"/>
                  <a:pt x="12325" y="25192"/>
                </a:cubicBezTo>
                <a:lnTo>
                  <a:pt x="13826" y="28285"/>
                </a:lnTo>
                <a:cubicBezTo>
                  <a:pt x="14002" y="28291"/>
                  <a:pt x="14185" y="28291"/>
                  <a:pt x="14361" y="28291"/>
                </a:cubicBezTo>
                <a:cubicBezTo>
                  <a:pt x="15262" y="28291"/>
                  <a:pt x="16142" y="28213"/>
                  <a:pt x="16997" y="28050"/>
                </a:cubicBezTo>
                <a:lnTo>
                  <a:pt x="18008" y="24775"/>
                </a:lnTo>
                <a:cubicBezTo>
                  <a:pt x="19483" y="24279"/>
                  <a:pt x="20821" y="23496"/>
                  <a:pt x="21956" y="22484"/>
                </a:cubicBezTo>
                <a:lnTo>
                  <a:pt x="25303" y="23235"/>
                </a:lnTo>
                <a:cubicBezTo>
                  <a:pt x="25988" y="22426"/>
                  <a:pt x="26588" y="21545"/>
                  <a:pt x="27084" y="20599"/>
                </a:cubicBezTo>
                <a:lnTo>
                  <a:pt x="25147" y="17754"/>
                </a:lnTo>
                <a:cubicBezTo>
                  <a:pt x="25551" y="16554"/>
                  <a:pt x="25792" y="15268"/>
                  <a:pt x="25792" y="13924"/>
                </a:cubicBezTo>
                <a:cubicBezTo>
                  <a:pt x="25792" y="13709"/>
                  <a:pt x="25779" y="13493"/>
                  <a:pt x="25773" y="13291"/>
                </a:cubicBezTo>
                <a:lnTo>
                  <a:pt x="28448" y="11138"/>
                </a:lnTo>
                <a:cubicBezTo>
                  <a:pt x="28239" y="10061"/>
                  <a:pt x="27913" y="9037"/>
                  <a:pt x="27476" y="8065"/>
                </a:cubicBezTo>
                <a:lnTo>
                  <a:pt x="24018" y="7804"/>
                </a:lnTo>
                <a:cubicBezTo>
                  <a:pt x="23235" y="6564"/>
                  <a:pt x="22217" y="5488"/>
                  <a:pt x="21029" y="4633"/>
                </a:cubicBezTo>
                <a:lnTo>
                  <a:pt x="21016" y="1181"/>
                </a:lnTo>
                <a:cubicBezTo>
                  <a:pt x="20057" y="672"/>
                  <a:pt x="19026" y="274"/>
                  <a:pt x="17950" y="0"/>
                </a:cubicBezTo>
                <a:close/>
              </a:path>
            </a:pathLst>
          </a:custGeom>
          <a:solidFill>
            <a:schemeClr val="accent6"/>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86588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ja-JP"/>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lgn="r"/>
            <a:fld id="{53BEF823-48A5-43FC-BE03-E79964288B41}" type="datetimeFigureOut">
              <a:rPr lang="en-US" smtClean="0"/>
              <a:pPr algn="r"/>
              <a:t>4/5/2026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lgn="l"/>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lgn="ctr"/>
            <a:fld id="{D79E6812-DF0E-4B88-AFAA-EAC7168F54C0}" type="slidenum">
              <a:rPr lang="en-US" smtClean="0"/>
              <a:pPr algn="ctr"/>
              <a:t>‹#›</a:t>
            </a:fld>
            <a:endParaRPr lang="en-US" dirty="0"/>
          </a:p>
        </p:txBody>
      </p:sp>
      <p:pic>
        <p:nvPicPr>
          <p:cNvPr id="7" name="Google Shape;440;p1" descr="Top 10 trung tâm tin học đào tạo cấp chứng chỉ chất lượng nhất hiện nay">
            <a:extLst>
              <a:ext uri="{FF2B5EF4-FFF2-40B4-BE49-F238E27FC236}">
                <a16:creationId xmlns:a16="http://schemas.microsoft.com/office/drawing/2014/main" id="{E54090C2-9788-9918-AE14-AFE7D5CC1B34}"/>
              </a:ext>
            </a:extLst>
          </p:cNvPr>
          <p:cNvPicPr preferRelativeResize="0"/>
          <p:nvPr userDrawn="1"/>
        </p:nvPicPr>
        <p:blipFill rotWithShape="1">
          <a:blip r:embed="rId13">
            <a:alphaModFix/>
          </a:blip>
          <a:srcRect/>
          <a:stretch/>
        </p:blipFill>
        <p:spPr>
          <a:xfrm>
            <a:off x="10838951" y="513101"/>
            <a:ext cx="335871" cy="335871"/>
          </a:xfrm>
          <a:prstGeom prst="rect">
            <a:avLst/>
          </a:prstGeom>
          <a:noFill/>
          <a:ln>
            <a:noFill/>
          </a:ln>
        </p:spPr>
      </p:pic>
    </p:spTree>
    <p:extLst>
      <p:ext uri="{BB962C8B-B14F-4D97-AF65-F5344CB8AC3E}">
        <p14:creationId xmlns:p14="http://schemas.microsoft.com/office/powerpoint/2010/main" val="2314403521"/>
      </p:ext>
    </p:extLst>
  </p:cSld>
  <p:clrMap bg1="lt1" tx1="dk1" bg2="lt2" tx2="dk2" accent1="accent1" accent2="accent2" accent3="accent3" accent4="accent4" accent5="accent5" accent6="accent6" hlink="hlink" folHlink="folHlink"/>
  <p:sldLayoutIdLst>
    <p:sldLayoutId id="2147484193" r:id="rId1"/>
    <p:sldLayoutId id="2147484194" r:id="rId2"/>
    <p:sldLayoutId id="2147484195" r:id="rId3"/>
    <p:sldLayoutId id="2147484196" r:id="rId4"/>
    <p:sldLayoutId id="2147484197" r:id="rId5"/>
    <p:sldLayoutId id="2147484198" r:id="rId6"/>
    <p:sldLayoutId id="2147484199" r:id="rId7"/>
    <p:sldLayoutId id="2147484200" r:id="rId8"/>
    <p:sldLayoutId id="2147484201" r:id="rId9"/>
    <p:sldLayoutId id="2147484202" r:id="rId10"/>
    <p:sldLayoutId id="2147484203"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Shape 5"/>
        <p:cNvGrpSpPr/>
        <p:nvPr/>
      </p:nvGrpSpPr>
      <p:grpSpPr>
        <a:xfrm>
          <a:off x="0" y="0"/>
          <a:ext cx="0" cy="0"/>
          <a:chOff x="0" y="0"/>
          <a:chExt cx="0" cy="0"/>
        </a:xfrm>
      </p:grpSpPr>
      <p:sp>
        <p:nvSpPr>
          <p:cNvPr id="6" name="Google Shape;6;p50"/>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lt2"/>
              </a:buClr>
              <a:buSzPts val="2800"/>
              <a:buFont typeface="Work Sans ExtraBold"/>
              <a:buNone/>
              <a:defRPr sz="2800" b="0" i="0" u="none" strike="noStrike" cap="none">
                <a:solidFill>
                  <a:schemeClr val="lt2"/>
                </a:solidFill>
                <a:latin typeface="Work Sans ExtraBold"/>
                <a:ea typeface="Work Sans ExtraBold"/>
                <a:cs typeface="Work Sans ExtraBold"/>
                <a:sym typeface="Work Sans ExtraBold"/>
              </a:defRPr>
            </a:lvl1pPr>
            <a:lvl2pPr marR="0" lvl="1" algn="l" rtl="0">
              <a:lnSpc>
                <a:spcPct val="100000"/>
              </a:lnSpc>
              <a:spcBef>
                <a:spcPts val="0"/>
              </a:spcBef>
              <a:spcAft>
                <a:spcPts val="0"/>
              </a:spcAft>
              <a:buClr>
                <a:schemeClr val="lt2"/>
              </a:buClr>
              <a:buSzPts val="2800"/>
              <a:buFont typeface="Arial"/>
              <a:buNone/>
              <a:defRPr sz="2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chemeClr val="lt2"/>
              </a:buClr>
              <a:buSzPts val="2800"/>
              <a:buFont typeface="Arial"/>
              <a:buNone/>
              <a:defRPr sz="2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chemeClr val="lt2"/>
              </a:buClr>
              <a:buSzPts val="2800"/>
              <a:buFont typeface="Arial"/>
              <a:buNone/>
              <a:defRPr sz="2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chemeClr val="lt2"/>
              </a:buClr>
              <a:buSzPts val="2800"/>
              <a:buFont typeface="Arial"/>
              <a:buNone/>
              <a:defRPr sz="2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chemeClr val="lt2"/>
              </a:buClr>
              <a:buSzPts val="2800"/>
              <a:buFont typeface="Arial"/>
              <a:buNone/>
              <a:defRPr sz="2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chemeClr val="lt2"/>
              </a:buClr>
              <a:buSzPts val="2800"/>
              <a:buFont typeface="Arial"/>
              <a:buNone/>
              <a:defRPr sz="2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chemeClr val="lt2"/>
              </a:buClr>
              <a:buSzPts val="2800"/>
              <a:buFont typeface="Arial"/>
              <a:buNone/>
              <a:defRPr sz="2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chemeClr val="lt2"/>
              </a:buClr>
              <a:buSzPts val="2800"/>
              <a:buFont typeface="Arial"/>
              <a:buNone/>
              <a:defRPr sz="2800" b="0" i="0" u="none" strike="noStrike" cap="none">
                <a:solidFill>
                  <a:schemeClr val="lt2"/>
                </a:solidFill>
                <a:latin typeface="Arial"/>
                <a:ea typeface="Arial"/>
                <a:cs typeface="Arial"/>
                <a:sym typeface="Arial"/>
              </a:defRPr>
            </a:lvl9pPr>
          </a:lstStyle>
          <a:p>
            <a:endParaRPr/>
          </a:p>
        </p:txBody>
      </p:sp>
      <p:sp>
        <p:nvSpPr>
          <p:cNvPr id="7" name="Google Shape;7;p50"/>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lt2"/>
              </a:buClr>
              <a:buSzPts val="1800"/>
              <a:buFont typeface="Sarala"/>
              <a:buChar char="●"/>
              <a:defRPr sz="1800" b="0" i="0" u="none" strike="noStrike" cap="none">
                <a:solidFill>
                  <a:schemeClr val="lt2"/>
                </a:solidFill>
                <a:latin typeface="Sarala"/>
                <a:ea typeface="Sarala"/>
                <a:cs typeface="Sarala"/>
                <a:sym typeface="Sarala"/>
              </a:defRPr>
            </a:lvl1pPr>
            <a:lvl2pPr marL="914400" marR="0" lvl="1" indent="-317500" algn="l" rtl="0">
              <a:lnSpc>
                <a:spcPct val="115000"/>
              </a:lnSpc>
              <a:spcBef>
                <a:spcPts val="0"/>
              </a:spcBef>
              <a:spcAft>
                <a:spcPts val="0"/>
              </a:spcAft>
              <a:buClr>
                <a:schemeClr val="lt2"/>
              </a:buClr>
              <a:buSzPts val="1400"/>
              <a:buFont typeface="Sarala"/>
              <a:buChar char="○"/>
              <a:defRPr sz="1400" b="0" i="0" u="none" strike="noStrike" cap="none">
                <a:solidFill>
                  <a:schemeClr val="lt2"/>
                </a:solidFill>
                <a:latin typeface="Sarala"/>
                <a:ea typeface="Sarala"/>
                <a:cs typeface="Sarala"/>
                <a:sym typeface="Sarala"/>
              </a:defRPr>
            </a:lvl2pPr>
            <a:lvl3pPr marL="1371600" marR="0" lvl="2" indent="-317500" algn="l" rtl="0">
              <a:lnSpc>
                <a:spcPct val="115000"/>
              </a:lnSpc>
              <a:spcBef>
                <a:spcPts val="0"/>
              </a:spcBef>
              <a:spcAft>
                <a:spcPts val="0"/>
              </a:spcAft>
              <a:buClr>
                <a:schemeClr val="lt2"/>
              </a:buClr>
              <a:buSzPts val="1400"/>
              <a:buFont typeface="Sarala"/>
              <a:buChar char="■"/>
              <a:defRPr sz="1400" b="0" i="0" u="none" strike="noStrike" cap="none">
                <a:solidFill>
                  <a:schemeClr val="lt2"/>
                </a:solidFill>
                <a:latin typeface="Sarala"/>
                <a:ea typeface="Sarala"/>
                <a:cs typeface="Sarala"/>
                <a:sym typeface="Sarala"/>
              </a:defRPr>
            </a:lvl3pPr>
            <a:lvl4pPr marL="1828800" marR="0" lvl="3" indent="-317500" algn="l" rtl="0">
              <a:lnSpc>
                <a:spcPct val="115000"/>
              </a:lnSpc>
              <a:spcBef>
                <a:spcPts val="0"/>
              </a:spcBef>
              <a:spcAft>
                <a:spcPts val="0"/>
              </a:spcAft>
              <a:buClr>
                <a:schemeClr val="lt2"/>
              </a:buClr>
              <a:buSzPts val="1400"/>
              <a:buFont typeface="Sarala"/>
              <a:buChar char="●"/>
              <a:defRPr sz="1400" b="0" i="0" u="none" strike="noStrike" cap="none">
                <a:solidFill>
                  <a:schemeClr val="lt2"/>
                </a:solidFill>
                <a:latin typeface="Sarala"/>
                <a:ea typeface="Sarala"/>
                <a:cs typeface="Sarala"/>
                <a:sym typeface="Sarala"/>
              </a:defRPr>
            </a:lvl4pPr>
            <a:lvl5pPr marL="2286000" marR="0" lvl="4" indent="-317500" algn="l" rtl="0">
              <a:lnSpc>
                <a:spcPct val="115000"/>
              </a:lnSpc>
              <a:spcBef>
                <a:spcPts val="0"/>
              </a:spcBef>
              <a:spcAft>
                <a:spcPts val="0"/>
              </a:spcAft>
              <a:buClr>
                <a:schemeClr val="lt2"/>
              </a:buClr>
              <a:buSzPts val="1400"/>
              <a:buFont typeface="Sarala"/>
              <a:buChar char="○"/>
              <a:defRPr sz="1400" b="0" i="0" u="none" strike="noStrike" cap="none">
                <a:solidFill>
                  <a:schemeClr val="lt2"/>
                </a:solidFill>
                <a:latin typeface="Sarala"/>
                <a:ea typeface="Sarala"/>
                <a:cs typeface="Sarala"/>
                <a:sym typeface="Sarala"/>
              </a:defRPr>
            </a:lvl5pPr>
            <a:lvl6pPr marL="2743200" marR="0" lvl="5" indent="-317500" algn="l" rtl="0">
              <a:lnSpc>
                <a:spcPct val="115000"/>
              </a:lnSpc>
              <a:spcBef>
                <a:spcPts val="0"/>
              </a:spcBef>
              <a:spcAft>
                <a:spcPts val="0"/>
              </a:spcAft>
              <a:buClr>
                <a:schemeClr val="lt2"/>
              </a:buClr>
              <a:buSzPts val="1400"/>
              <a:buFont typeface="Sarala"/>
              <a:buChar char="■"/>
              <a:defRPr sz="1400" b="0" i="0" u="none" strike="noStrike" cap="none">
                <a:solidFill>
                  <a:schemeClr val="lt2"/>
                </a:solidFill>
                <a:latin typeface="Sarala"/>
                <a:ea typeface="Sarala"/>
                <a:cs typeface="Sarala"/>
                <a:sym typeface="Sarala"/>
              </a:defRPr>
            </a:lvl6pPr>
            <a:lvl7pPr marL="3200400" marR="0" lvl="6" indent="-317500" algn="l" rtl="0">
              <a:lnSpc>
                <a:spcPct val="115000"/>
              </a:lnSpc>
              <a:spcBef>
                <a:spcPts val="0"/>
              </a:spcBef>
              <a:spcAft>
                <a:spcPts val="0"/>
              </a:spcAft>
              <a:buClr>
                <a:schemeClr val="lt2"/>
              </a:buClr>
              <a:buSzPts val="1400"/>
              <a:buFont typeface="Sarala"/>
              <a:buChar char="●"/>
              <a:defRPr sz="1400" b="0" i="0" u="none" strike="noStrike" cap="none">
                <a:solidFill>
                  <a:schemeClr val="lt2"/>
                </a:solidFill>
                <a:latin typeface="Sarala"/>
                <a:ea typeface="Sarala"/>
                <a:cs typeface="Sarala"/>
                <a:sym typeface="Sarala"/>
              </a:defRPr>
            </a:lvl7pPr>
            <a:lvl8pPr marL="3657600" marR="0" lvl="7" indent="-317500" algn="l" rtl="0">
              <a:lnSpc>
                <a:spcPct val="115000"/>
              </a:lnSpc>
              <a:spcBef>
                <a:spcPts val="0"/>
              </a:spcBef>
              <a:spcAft>
                <a:spcPts val="0"/>
              </a:spcAft>
              <a:buClr>
                <a:schemeClr val="lt2"/>
              </a:buClr>
              <a:buSzPts val="1400"/>
              <a:buFont typeface="Sarala"/>
              <a:buChar char="○"/>
              <a:defRPr sz="1400" b="0" i="0" u="none" strike="noStrike" cap="none">
                <a:solidFill>
                  <a:schemeClr val="lt2"/>
                </a:solidFill>
                <a:latin typeface="Sarala"/>
                <a:ea typeface="Sarala"/>
                <a:cs typeface="Sarala"/>
                <a:sym typeface="Sarala"/>
              </a:defRPr>
            </a:lvl8pPr>
            <a:lvl9pPr marL="4114800" marR="0" lvl="8" indent="-317500" algn="l" rtl="0">
              <a:lnSpc>
                <a:spcPct val="115000"/>
              </a:lnSpc>
              <a:spcBef>
                <a:spcPts val="0"/>
              </a:spcBef>
              <a:spcAft>
                <a:spcPts val="0"/>
              </a:spcAft>
              <a:buClr>
                <a:schemeClr val="lt2"/>
              </a:buClr>
              <a:buSzPts val="1400"/>
              <a:buFont typeface="Sarala"/>
              <a:buChar char="■"/>
              <a:defRPr sz="1400" b="0" i="0" u="none" strike="noStrike" cap="none">
                <a:solidFill>
                  <a:schemeClr val="lt2"/>
                </a:solidFill>
                <a:latin typeface="Sarala"/>
                <a:ea typeface="Sarala"/>
                <a:cs typeface="Sarala"/>
                <a:sym typeface="Sarala"/>
              </a:defRPr>
            </a:lvl9pPr>
          </a:lstStyle>
          <a:p>
            <a:endParaRPr/>
          </a:p>
        </p:txBody>
      </p:sp>
    </p:spTree>
    <p:extLst>
      <p:ext uri="{BB962C8B-B14F-4D97-AF65-F5344CB8AC3E}">
        <p14:creationId xmlns:p14="http://schemas.microsoft.com/office/powerpoint/2010/main" val="3960079854"/>
      </p:ext>
    </p:extLst>
  </p:cSld>
  <p:clrMap bg1="lt1" tx1="dk1" bg2="dk2" tx2="lt2" accent1="accent1" accent2="accent2" accent3="accent3" accent4="accent4" accent5="accent5" accent6="accent6" hlink="hlink" folHlink="folHlink"/>
  <p:sldLayoutIdLst>
    <p:sldLayoutId id="2147484205" r:id="rId1"/>
    <p:sldLayoutId id="2147484206" r:id="rId2"/>
    <p:sldLayoutId id="2147484208" r:id="rId3"/>
    <p:sldLayoutId id="2147484209" r:id="rId4"/>
    <p:sldLayoutId id="2147484210" r:id="rId5"/>
    <p:sldLayoutId id="2147484211" r:id="rId6"/>
    <p:sldLayoutId id="2147484212" r:id="rId7"/>
    <p:sldLayoutId id="2147484213"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53F4C96-3930-B0F5-A9C8-459D64A6AC11}"/>
              </a:ext>
            </a:extLst>
          </p:cNvPr>
          <p:cNvPicPr>
            <a:picLocks noChangeAspect="1"/>
          </p:cNvPicPr>
          <p:nvPr/>
        </p:nvPicPr>
        <p:blipFill>
          <a:blip r:embed="rId2">
            <a:alphaModFix/>
          </a:blip>
          <a:srcRect t="3250"/>
          <a:stretch>
            <a:fillRect/>
          </a:stretch>
        </p:blipFill>
        <p:spPr>
          <a:xfrm>
            <a:off x="3331593" y="10"/>
            <a:ext cx="8860407" cy="6857990"/>
          </a:xfrm>
          <a:custGeom>
            <a:avLst/>
            <a:gdLst/>
            <a:ahLst/>
            <a:cxnLst/>
            <a:rect l="l" t="t" r="r" b="b"/>
            <a:pathLst>
              <a:path w="8860407" h="6858000">
                <a:moveTo>
                  <a:pt x="0" y="0"/>
                </a:moveTo>
                <a:lnTo>
                  <a:pt x="8860407" y="0"/>
                </a:lnTo>
                <a:lnTo>
                  <a:pt x="8860407" y="6858000"/>
                </a:lnTo>
                <a:lnTo>
                  <a:pt x="661049" y="6858000"/>
                </a:lnTo>
                <a:lnTo>
                  <a:pt x="832672" y="6662026"/>
                </a:lnTo>
                <a:cubicBezTo>
                  <a:pt x="1465328" y="5866432"/>
                  <a:pt x="1845374" y="4846462"/>
                  <a:pt x="1845374" y="3734370"/>
                </a:cubicBezTo>
                <a:cubicBezTo>
                  <a:pt x="1845374" y="2244963"/>
                  <a:pt x="1163691" y="920792"/>
                  <a:pt x="106458" y="79568"/>
                </a:cubicBezTo>
                <a:close/>
              </a:path>
            </a:pathLst>
          </a:custGeom>
        </p:spPr>
      </p:pic>
      <p:sp>
        <p:nvSpPr>
          <p:cNvPr id="3" name="Subtitle 2">
            <a:extLst>
              <a:ext uri="{FF2B5EF4-FFF2-40B4-BE49-F238E27FC236}">
                <a16:creationId xmlns:a16="http://schemas.microsoft.com/office/drawing/2014/main" id="{DB997C58-1516-2221-3D28-E5B820473797}"/>
              </a:ext>
            </a:extLst>
          </p:cNvPr>
          <p:cNvSpPr>
            <a:spLocks noGrp="1"/>
          </p:cNvSpPr>
          <p:nvPr>
            <p:ph type="subTitle" idx="1"/>
          </p:nvPr>
        </p:nvSpPr>
        <p:spPr>
          <a:xfrm>
            <a:off x="291603" y="950930"/>
            <a:ext cx="4070085" cy="4956140"/>
          </a:xfrm>
        </p:spPr>
        <p:txBody>
          <a:bodyPr anchor="t">
            <a:normAutofit/>
          </a:bodyPr>
          <a:lstStyle/>
          <a:p>
            <a:r>
              <a:rPr kumimoji="1" lang="en-US" altLang="ja-JP" sz="4400" b="1">
                <a:effectLst>
                  <a:glow rad="63500">
                    <a:srgbClr val="00B0F0">
                      <a:alpha val="40000"/>
                    </a:srgbClr>
                  </a:glow>
                  <a:outerShdw blurRad="50800" dist="38100" dir="2700000" algn="tl" rotWithShape="0">
                    <a:prstClr val="black">
                      <a:alpha val="40000"/>
                    </a:prstClr>
                  </a:outerShdw>
                </a:effectLst>
                <a:latin typeface="Arial "/>
                <a:ea typeface="Arial Unicode MS" panose="020B0604020202020204" pitchFamily="50" charset="-128"/>
                <a:cs typeface="Arial Unicode MS" panose="020B0604020202020204" pitchFamily="50" charset="-128"/>
              </a:rPr>
              <a:t>PROJECT 2: </a:t>
            </a:r>
            <a:r>
              <a:rPr lang="vi-VN" altLang="ja-JP" sz="4400">
                <a:effectLst>
                  <a:glow rad="63500">
                    <a:srgbClr val="00B0F0">
                      <a:alpha val="40000"/>
                    </a:srgbClr>
                  </a:glow>
                  <a:outerShdw blurRad="50800" dist="38100" dir="2700000" algn="tl" rotWithShape="0">
                    <a:prstClr val="black">
                      <a:alpha val="40000"/>
                    </a:prstClr>
                  </a:outerShdw>
                </a:effectLst>
              </a:rPr>
              <a:t>DỰ ĐOÁN GIÁ</a:t>
            </a:r>
            <a:r>
              <a:rPr lang="en-US" altLang="ja-JP" sz="4400">
                <a:effectLst>
                  <a:glow rad="63500">
                    <a:srgbClr val="00B0F0">
                      <a:alpha val="40000"/>
                    </a:srgbClr>
                  </a:glow>
                  <a:outerShdw blurRad="50800" dist="38100" dir="2700000" algn="tl" rotWithShape="0">
                    <a:prstClr val="black">
                      <a:alpha val="40000"/>
                    </a:prstClr>
                  </a:outerShdw>
                </a:effectLst>
              </a:rPr>
              <a:t> NHÀ Ở</a:t>
            </a:r>
            <a:r>
              <a:rPr lang="vi-VN" altLang="ja-JP" sz="4400">
                <a:effectLst>
                  <a:glow rad="63500">
                    <a:srgbClr val="00B0F0">
                      <a:alpha val="40000"/>
                    </a:srgbClr>
                  </a:glow>
                  <a:outerShdw blurRad="50800" dist="38100" dir="2700000" algn="tl" rotWithShape="0">
                    <a:prstClr val="black">
                      <a:alpha val="40000"/>
                    </a:prstClr>
                  </a:outerShdw>
                </a:effectLst>
              </a:rPr>
              <a:t>, XÁC ĐỊNH BẤT THƯỜNG GIÁ CHO NHÀ Ở</a:t>
            </a:r>
            <a:endParaRPr lang="en-US" altLang="ja-JP" sz="4400">
              <a:effectLst>
                <a:glow rad="63500">
                  <a:srgbClr val="00B0F0">
                    <a:alpha val="40000"/>
                  </a:srgbClr>
                </a:glow>
                <a:outerShdw blurRad="50800" dist="38100" dir="2700000" algn="tl" rotWithShape="0">
                  <a:prstClr val="black">
                    <a:alpha val="40000"/>
                  </a:prstClr>
                </a:outerShdw>
              </a:effectLst>
            </a:endParaRPr>
          </a:p>
        </p:txBody>
      </p:sp>
      <p:sp>
        <p:nvSpPr>
          <p:cNvPr id="2" name="Rectangle 1">
            <a:extLst>
              <a:ext uri="{FF2B5EF4-FFF2-40B4-BE49-F238E27FC236}">
                <a16:creationId xmlns:a16="http://schemas.microsoft.com/office/drawing/2014/main" id="{8264BD33-70DD-2987-45E9-C67B38B2FA96}"/>
              </a:ext>
            </a:extLst>
          </p:cNvPr>
          <p:cNvSpPr/>
          <p:nvPr/>
        </p:nvSpPr>
        <p:spPr>
          <a:xfrm>
            <a:off x="128016" y="5250426"/>
            <a:ext cx="5084064" cy="1296678"/>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GVHS:</a:t>
            </a:r>
          </a:p>
          <a:p>
            <a:pPr algn="ctr"/>
            <a:r>
              <a:rPr lang="en-US">
                <a:solidFill>
                  <a:schemeClr val="tx1"/>
                </a:solidFill>
              </a:rPr>
              <a:t>Nhóm </a:t>
            </a:r>
            <a:r>
              <a:rPr lang="en-US" dirty="0">
                <a:solidFill>
                  <a:schemeClr val="tx1"/>
                </a:solidFill>
              </a:rPr>
              <a:t>3: </a:t>
            </a:r>
            <a:br>
              <a:rPr lang="en-US" dirty="0">
                <a:solidFill>
                  <a:schemeClr val="tx1"/>
                </a:solidFill>
              </a:rPr>
            </a:br>
            <a:r>
              <a:rPr lang="en-US" dirty="0">
                <a:solidFill>
                  <a:schemeClr val="tx1"/>
                </a:solidFill>
              </a:rPr>
              <a:t>Nguyễn Huỳnh Duy</a:t>
            </a:r>
          </a:p>
          <a:p>
            <a:pPr algn="ctr"/>
            <a:r>
              <a:rPr lang="en-US" dirty="0">
                <a:solidFill>
                  <a:schemeClr val="tx1"/>
                </a:solidFill>
              </a:rPr>
              <a:t>Ngô Thị Phương Yến</a:t>
            </a:r>
          </a:p>
        </p:txBody>
      </p:sp>
      <p:pic>
        <p:nvPicPr>
          <p:cNvPr id="9" name="Google Shape;440;p1" descr="Top 10 trung tâm tin học đào tạo cấp chứng chỉ chất lượng nhất hiện nay">
            <a:extLst>
              <a:ext uri="{FF2B5EF4-FFF2-40B4-BE49-F238E27FC236}">
                <a16:creationId xmlns:a16="http://schemas.microsoft.com/office/drawing/2014/main" id="{6E545B1A-7324-0155-DBEE-F5516416FCAE}"/>
              </a:ext>
            </a:extLst>
          </p:cNvPr>
          <p:cNvPicPr preferRelativeResize="0"/>
          <p:nvPr/>
        </p:nvPicPr>
        <p:blipFill rotWithShape="1">
          <a:blip r:embed="rId3">
            <a:alphaModFix/>
          </a:blip>
          <a:srcRect/>
          <a:stretch/>
        </p:blipFill>
        <p:spPr>
          <a:xfrm>
            <a:off x="11490022" y="0"/>
            <a:ext cx="701978" cy="701978"/>
          </a:xfrm>
          <a:prstGeom prst="rect">
            <a:avLst/>
          </a:prstGeom>
          <a:noFill/>
          <a:ln>
            <a:noFill/>
          </a:ln>
        </p:spPr>
      </p:pic>
    </p:spTree>
    <p:extLst>
      <p:ext uri="{BB962C8B-B14F-4D97-AF65-F5344CB8AC3E}">
        <p14:creationId xmlns:p14="http://schemas.microsoft.com/office/powerpoint/2010/main" val="3543982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2"/>
          <p:cNvSpPr/>
          <p:nvPr/>
        </p:nvSpPr>
        <p:spPr>
          <a:xfrm>
            <a:off x="136809" y="1846680"/>
            <a:ext cx="982520" cy="763600"/>
          </a:xfrm>
          <a:custGeom>
            <a:avLst/>
            <a:gdLst/>
            <a:ahLst/>
            <a:cxnLst/>
            <a:rect l="l" t="t" r="r" b="b"/>
            <a:pathLst>
              <a:path w="85717" h="66618" extrusionOk="0">
                <a:moveTo>
                  <a:pt x="26647" y="0"/>
                </a:moveTo>
                <a:cubicBezTo>
                  <a:pt x="21058" y="0"/>
                  <a:pt x="15879" y="1381"/>
                  <a:pt x="11642" y="5130"/>
                </a:cubicBezTo>
                <a:cubicBezTo>
                  <a:pt x="10061" y="6559"/>
                  <a:pt x="8663" y="8322"/>
                  <a:pt x="7508" y="10571"/>
                </a:cubicBezTo>
                <a:cubicBezTo>
                  <a:pt x="152" y="24948"/>
                  <a:pt x="0" y="52456"/>
                  <a:pt x="17417" y="59873"/>
                </a:cubicBezTo>
                <a:cubicBezTo>
                  <a:pt x="24834" y="63003"/>
                  <a:pt x="33831" y="64341"/>
                  <a:pt x="41703" y="65800"/>
                </a:cubicBezTo>
                <a:cubicBezTo>
                  <a:pt x="44594" y="66327"/>
                  <a:pt x="47358" y="66617"/>
                  <a:pt x="50007" y="66617"/>
                </a:cubicBezTo>
                <a:cubicBezTo>
                  <a:pt x="58191" y="66617"/>
                  <a:pt x="65275" y="63852"/>
                  <a:pt x="71613" y="56803"/>
                </a:cubicBezTo>
                <a:cubicBezTo>
                  <a:pt x="78269" y="49447"/>
                  <a:pt x="85108" y="39599"/>
                  <a:pt x="85473" y="29355"/>
                </a:cubicBezTo>
                <a:cubicBezTo>
                  <a:pt x="85716" y="23763"/>
                  <a:pt x="83589" y="17866"/>
                  <a:pt x="79090" y="14553"/>
                </a:cubicBezTo>
                <a:cubicBezTo>
                  <a:pt x="75412" y="11817"/>
                  <a:pt x="70610" y="11148"/>
                  <a:pt x="66141" y="10115"/>
                </a:cubicBezTo>
                <a:cubicBezTo>
                  <a:pt x="55375" y="7722"/>
                  <a:pt x="39864" y="0"/>
                  <a:pt x="26647"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sp>
        <p:nvSpPr>
          <p:cNvPr id="446" name="Google Shape;446;p2"/>
          <p:cNvSpPr txBox="1">
            <a:spLocks noGrp="1"/>
          </p:cNvSpPr>
          <p:nvPr>
            <p:ph type="title"/>
          </p:nvPr>
        </p:nvSpPr>
        <p:spPr>
          <a:xfrm>
            <a:off x="35033" y="445492"/>
            <a:ext cx="10336400" cy="763600"/>
          </a:xfrm>
          <a:prstGeom prst="rect">
            <a:avLst/>
          </a:prstGeom>
          <a:noFill/>
          <a:ln>
            <a:noFill/>
          </a:ln>
        </p:spPr>
        <p:txBody>
          <a:bodyPr spcFirstLastPara="1" wrap="square" lIns="121900" tIns="121900" rIns="121900" bIns="121900" anchor="t" anchorCtr="0">
            <a:noAutofit/>
          </a:bodyPr>
          <a:lstStyle/>
          <a:p>
            <a:r>
              <a:rPr lang="en-US" dirty="0" err="1"/>
              <a:t>Mục</a:t>
            </a:r>
            <a:r>
              <a:rPr lang="en-US" dirty="0"/>
              <a:t> </a:t>
            </a:r>
            <a:r>
              <a:rPr lang="en-US" dirty="0" err="1"/>
              <a:t>lục</a:t>
            </a:r>
            <a:endParaRPr dirty="0"/>
          </a:p>
        </p:txBody>
      </p:sp>
      <p:sp>
        <p:nvSpPr>
          <p:cNvPr id="447" name="Google Shape;447;p2"/>
          <p:cNvSpPr/>
          <p:nvPr/>
        </p:nvSpPr>
        <p:spPr>
          <a:xfrm>
            <a:off x="146334" y="3233418"/>
            <a:ext cx="982520" cy="763600"/>
          </a:xfrm>
          <a:custGeom>
            <a:avLst/>
            <a:gdLst/>
            <a:ahLst/>
            <a:cxnLst/>
            <a:rect l="l" t="t" r="r" b="b"/>
            <a:pathLst>
              <a:path w="85717" h="66618" extrusionOk="0">
                <a:moveTo>
                  <a:pt x="26647" y="0"/>
                </a:moveTo>
                <a:cubicBezTo>
                  <a:pt x="21058" y="0"/>
                  <a:pt x="15879" y="1381"/>
                  <a:pt x="11642" y="5130"/>
                </a:cubicBezTo>
                <a:cubicBezTo>
                  <a:pt x="10061" y="6559"/>
                  <a:pt x="8663" y="8322"/>
                  <a:pt x="7508" y="10571"/>
                </a:cubicBezTo>
                <a:cubicBezTo>
                  <a:pt x="152" y="24948"/>
                  <a:pt x="0" y="52456"/>
                  <a:pt x="17417" y="59873"/>
                </a:cubicBezTo>
                <a:cubicBezTo>
                  <a:pt x="24834" y="63003"/>
                  <a:pt x="33831" y="64341"/>
                  <a:pt x="41703" y="65800"/>
                </a:cubicBezTo>
                <a:cubicBezTo>
                  <a:pt x="44594" y="66327"/>
                  <a:pt x="47358" y="66617"/>
                  <a:pt x="50007" y="66617"/>
                </a:cubicBezTo>
                <a:cubicBezTo>
                  <a:pt x="58191" y="66617"/>
                  <a:pt x="65275" y="63852"/>
                  <a:pt x="71613" y="56803"/>
                </a:cubicBezTo>
                <a:cubicBezTo>
                  <a:pt x="78269" y="49447"/>
                  <a:pt x="85108" y="39599"/>
                  <a:pt x="85473" y="29355"/>
                </a:cubicBezTo>
                <a:cubicBezTo>
                  <a:pt x="85716" y="23763"/>
                  <a:pt x="83589" y="17866"/>
                  <a:pt x="79090" y="14553"/>
                </a:cubicBezTo>
                <a:cubicBezTo>
                  <a:pt x="75412" y="11817"/>
                  <a:pt x="70610" y="11148"/>
                  <a:pt x="66141" y="10115"/>
                </a:cubicBezTo>
                <a:cubicBezTo>
                  <a:pt x="55375" y="7722"/>
                  <a:pt x="39864" y="0"/>
                  <a:pt x="26647"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sp>
        <p:nvSpPr>
          <p:cNvPr id="448" name="Google Shape;448;p2"/>
          <p:cNvSpPr/>
          <p:nvPr/>
        </p:nvSpPr>
        <p:spPr>
          <a:xfrm>
            <a:off x="136809" y="4649056"/>
            <a:ext cx="982520" cy="763600"/>
          </a:xfrm>
          <a:custGeom>
            <a:avLst/>
            <a:gdLst/>
            <a:ahLst/>
            <a:cxnLst/>
            <a:rect l="l" t="t" r="r" b="b"/>
            <a:pathLst>
              <a:path w="85717" h="66618" extrusionOk="0">
                <a:moveTo>
                  <a:pt x="26647" y="0"/>
                </a:moveTo>
                <a:cubicBezTo>
                  <a:pt x="21058" y="0"/>
                  <a:pt x="15879" y="1381"/>
                  <a:pt x="11642" y="5130"/>
                </a:cubicBezTo>
                <a:cubicBezTo>
                  <a:pt x="10061" y="6559"/>
                  <a:pt x="8663" y="8322"/>
                  <a:pt x="7508" y="10571"/>
                </a:cubicBezTo>
                <a:cubicBezTo>
                  <a:pt x="152" y="24948"/>
                  <a:pt x="0" y="52456"/>
                  <a:pt x="17417" y="59873"/>
                </a:cubicBezTo>
                <a:cubicBezTo>
                  <a:pt x="24834" y="63003"/>
                  <a:pt x="33831" y="64341"/>
                  <a:pt x="41703" y="65800"/>
                </a:cubicBezTo>
                <a:cubicBezTo>
                  <a:pt x="44594" y="66327"/>
                  <a:pt x="47358" y="66617"/>
                  <a:pt x="50007" y="66617"/>
                </a:cubicBezTo>
                <a:cubicBezTo>
                  <a:pt x="58191" y="66617"/>
                  <a:pt x="65275" y="63852"/>
                  <a:pt x="71613" y="56803"/>
                </a:cubicBezTo>
                <a:cubicBezTo>
                  <a:pt x="78269" y="49447"/>
                  <a:pt x="85108" y="39599"/>
                  <a:pt x="85473" y="29355"/>
                </a:cubicBezTo>
                <a:cubicBezTo>
                  <a:pt x="85716" y="23763"/>
                  <a:pt x="83589" y="17866"/>
                  <a:pt x="79090" y="14553"/>
                </a:cubicBezTo>
                <a:cubicBezTo>
                  <a:pt x="75412" y="11817"/>
                  <a:pt x="70610" y="11148"/>
                  <a:pt x="66141" y="10115"/>
                </a:cubicBezTo>
                <a:cubicBezTo>
                  <a:pt x="55375" y="7722"/>
                  <a:pt x="39864" y="0"/>
                  <a:pt x="26647"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sp>
        <p:nvSpPr>
          <p:cNvPr id="449" name="Google Shape;449;p2"/>
          <p:cNvSpPr txBox="1"/>
          <p:nvPr/>
        </p:nvSpPr>
        <p:spPr>
          <a:xfrm>
            <a:off x="1227013" y="1958313"/>
            <a:ext cx="5621665" cy="562000"/>
          </a:xfrm>
          <a:prstGeom prst="rect">
            <a:avLst/>
          </a:prstGeom>
          <a:noFill/>
          <a:ln>
            <a:noFill/>
          </a:ln>
        </p:spPr>
        <p:txBody>
          <a:bodyPr spcFirstLastPara="1" wrap="square" lIns="0" tIns="0" rIns="0" bIns="0" anchor="ctr" anchorCtr="0">
            <a:noAutofit/>
          </a:bodyPr>
          <a:lstStyle/>
          <a:p>
            <a:pPr defTabSz="1219170">
              <a:buClr>
                <a:srgbClr val="004E98"/>
              </a:buClr>
              <a:buSzPts val="2800"/>
            </a:pPr>
            <a:r>
              <a:rPr lang="en-US" sz="2667" kern="0" err="1">
                <a:solidFill>
                  <a:srgbClr val="004E98"/>
                </a:solidFill>
                <a:latin typeface="Work Sans ExtraBold"/>
                <a:ea typeface="Work Sans ExtraBold"/>
                <a:cs typeface="Work Sans ExtraBold"/>
                <a:sym typeface="Work Sans ExtraBold"/>
              </a:rPr>
              <a:t>Mục</a:t>
            </a:r>
            <a:r>
              <a:rPr lang="en-US" sz="2667" kern="0">
                <a:solidFill>
                  <a:srgbClr val="004E98"/>
                </a:solidFill>
                <a:latin typeface="Work Sans ExtraBold"/>
                <a:ea typeface="Work Sans ExtraBold"/>
                <a:cs typeface="Work Sans ExtraBold"/>
                <a:sym typeface="Work Sans ExtraBold"/>
              </a:rPr>
              <a:t> tiêu</a:t>
            </a:r>
            <a:endParaRPr sz="1867" kern="0" dirty="0">
              <a:solidFill>
                <a:srgbClr val="000000"/>
              </a:solidFill>
              <a:latin typeface="Arial"/>
              <a:cs typeface="Arial"/>
              <a:sym typeface="Arial"/>
            </a:endParaRPr>
          </a:p>
        </p:txBody>
      </p:sp>
      <p:sp>
        <p:nvSpPr>
          <p:cNvPr id="450" name="Google Shape;450;p2"/>
          <p:cNvSpPr txBox="1"/>
          <p:nvPr/>
        </p:nvSpPr>
        <p:spPr>
          <a:xfrm>
            <a:off x="1236536" y="3378829"/>
            <a:ext cx="5023015" cy="662800"/>
          </a:xfrm>
          <a:prstGeom prst="rect">
            <a:avLst/>
          </a:prstGeom>
          <a:noFill/>
          <a:ln>
            <a:noFill/>
          </a:ln>
        </p:spPr>
        <p:txBody>
          <a:bodyPr spcFirstLastPara="1" wrap="square" lIns="0" tIns="0" rIns="0" bIns="0" anchor="ctr" anchorCtr="0">
            <a:noAutofit/>
          </a:bodyPr>
          <a:lstStyle/>
          <a:p>
            <a:pPr defTabSz="1219170">
              <a:buClr>
                <a:srgbClr val="004E98"/>
              </a:buClr>
              <a:buSzPts val="2800"/>
            </a:pPr>
            <a:r>
              <a:rPr lang="en-US" sz="2667" kern="0">
                <a:solidFill>
                  <a:srgbClr val="004E98"/>
                </a:solidFill>
                <a:latin typeface="Work Sans ExtraBold"/>
                <a:cs typeface="Arial"/>
                <a:sym typeface="Work Sans ExtraBold"/>
              </a:rPr>
              <a:t>Quy trình triển khai</a:t>
            </a:r>
            <a:endParaRPr lang="en-US" sz="1867" kern="0" dirty="0">
              <a:solidFill>
                <a:srgbClr val="000000"/>
              </a:solidFill>
              <a:latin typeface="Arial"/>
              <a:cs typeface="Arial"/>
              <a:sym typeface="Arial"/>
            </a:endParaRPr>
          </a:p>
        </p:txBody>
      </p:sp>
      <p:sp>
        <p:nvSpPr>
          <p:cNvPr id="451" name="Google Shape;451;p2"/>
          <p:cNvSpPr txBox="1"/>
          <p:nvPr/>
        </p:nvSpPr>
        <p:spPr>
          <a:xfrm>
            <a:off x="7195848" y="3301559"/>
            <a:ext cx="4996152" cy="740069"/>
          </a:xfrm>
          <a:prstGeom prst="rect">
            <a:avLst/>
          </a:prstGeom>
          <a:noFill/>
          <a:ln>
            <a:noFill/>
          </a:ln>
        </p:spPr>
        <p:txBody>
          <a:bodyPr spcFirstLastPara="1" wrap="square" lIns="0" tIns="0" rIns="0" bIns="0" anchor="ctr" anchorCtr="0">
            <a:noAutofit/>
          </a:bodyPr>
          <a:lstStyle/>
          <a:p>
            <a:pPr defTabSz="1219170">
              <a:buClr>
                <a:srgbClr val="004E98"/>
              </a:buClr>
              <a:buSzPts val="2800"/>
            </a:pPr>
            <a:r>
              <a:rPr lang="vi-VN" sz="2667" b="1" kern="0">
                <a:solidFill>
                  <a:srgbClr val="004E98"/>
                </a:solidFill>
                <a:latin typeface="Work Sans ExtraBold" pitchFamily="2" charset="0"/>
                <a:cs typeface="Arial"/>
                <a:sym typeface="Arial"/>
              </a:rPr>
              <a:t>Bài toán 2 - Phát hiện bất thường</a:t>
            </a:r>
            <a:endParaRPr sz="1867" b="1" kern="0" dirty="0">
              <a:solidFill>
                <a:srgbClr val="004E98"/>
              </a:solidFill>
              <a:latin typeface="Work Sans ExtraBold" pitchFamily="2" charset="0"/>
              <a:cs typeface="Arial"/>
              <a:sym typeface="Arial"/>
            </a:endParaRPr>
          </a:p>
        </p:txBody>
      </p:sp>
      <p:sp>
        <p:nvSpPr>
          <p:cNvPr id="453" name="Google Shape;453;p2"/>
          <p:cNvSpPr txBox="1"/>
          <p:nvPr/>
        </p:nvSpPr>
        <p:spPr>
          <a:xfrm>
            <a:off x="7195848" y="4833769"/>
            <a:ext cx="4235909" cy="562000"/>
          </a:xfrm>
          <a:prstGeom prst="rect">
            <a:avLst/>
          </a:prstGeom>
          <a:noFill/>
          <a:ln>
            <a:noFill/>
          </a:ln>
        </p:spPr>
        <p:txBody>
          <a:bodyPr spcFirstLastPara="1" wrap="square" lIns="0" tIns="0" rIns="0" bIns="0" anchor="ctr" anchorCtr="0">
            <a:noAutofit/>
          </a:bodyPr>
          <a:lstStyle/>
          <a:p>
            <a:pPr defTabSz="1219170">
              <a:buClr>
                <a:srgbClr val="004E98"/>
              </a:buClr>
              <a:buSzPts val="2800"/>
            </a:pPr>
            <a:r>
              <a:rPr lang="vi-VN" altLang="ja-JP" sz="2667" kern="0">
                <a:solidFill>
                  <a:srgbClr val="004E98"/>
                </a:solidFill>
                <a:latin typeface="Work Sans ExtraBold" pitchFamily="2" charset="0"/>
                <a:ea typeface="Work Sans ExtraBold"/>
                <a:cs typeface="Work Sans ExtraBold"/>
                <a:sym typeface="Work Sans ExtraBold"/>
              </a:rPr>
              <a:t>Tổng kết &amp; Hướng phát triển</a:t>
            </a:r>
            <a:endParaRPr lang="vi-VN" altLang="ja-JP" sz="2667" kern="0" dirty="0">
              <a:solidFill>
                <a:srgbClr val="004E98"/>
              </a:solidFill>
              <a:latin typeface="Work Sans ExtraBold" pitchFamily="2" charset="0"/>
              <a:cs typeface="Arial"/>
              <a:sym typeface="Arial"/>
            </a:endParaRPr>
          </a:p>
        </p:txBody>
      </p:sp>
      <p:sp>
        <p:nvSpPr>
          <p:cNvPr id="454" name="Google Shape;454;p2"/>
          <p:cNvSpPr txBox="1"/>
          <p:nvPr/>
        </p:nvSpPr>
        <p:spPr>
          <a:xfrm>
            <a:off x="336477" y="1947480"/>
            <a:ext cx="586256" cy="562000"/>
          </a:xfrm>
          <a:prstGeom prst="rect">
            <a:avLst/>
          </a:prstGeom>
          <a:noFill/>
          <a:ln>
            <a:noFill/>
          </a:ln>
        </p:spPr>
        <p:txBody>
          <a:bodyPr spcFirstLastPara="1" wrap="square" lIns="0" tIns="0" rIns="0" bIns="0" anchor="ctr" anchorCtr="0">
            <a:noAutofit/>
          </a:bodyPr>
          <a:lstStyle/>
          <a:p>
            <a:pPr algn="ctr" defTabSz="1219170">
              <a:buClr>
                <a:srgbClr val="004E98"/>
              </a:buClr>
              <a:buSzPts val="2800"/>
            </a:pPr>
            <a:r>
              <a:rPr lang="en-US" sz="2667" kern="0">
                <a:solidFill>
                  <a:srgbClr val="004E98"/>
                </a:solidFill>
                <a:latin typeface="Work Sans ExtraBold"/>
                <a:ea typeface="Work Sans ExtraBold"/>
                <a:cs typeface="Work Sans ExtraBold"/>
                <a:sym typeface="Work Sans ExtraBold"/>
              </a:rPr>
              <a:t>1</a:t>
            </a:r>
            <a:endParaRPr sz="1867" kern="0">
              <a:solidFill>
                <a:srgbClr val="000000"/>
              </a:solidFill>
              <a:latin typeface="Arial"/>
              <a:cs typeface="Arial"/>
              <a:sym typeface="Arial"/>
            </a:endParaRPr>
          </a:p>
        </p:txBody>
      </p:sp>
      <p:sp>
        <p:nvSpPr>
          <p:cNvPr id="455" name="Google Shape;455;p2"/>
          <p:cNvSpPr/>
          <p:nvPr/>
        </p:nvSpPr>
        <p:spPr>
          <a:xfrm>
            <a:off x="6010739" y="3301560"/>
            <a:ext cx="982520" cy="763600"/>
          </a:xfrm>
          <a:custGeom>
            <a:avLst/>
            <a:gdLst/>
            <a:ahLst/>
            <a:cxnLst/>
            <a:rect l="l" t="t" r="r" b="b"/>
            <a:pathLst>
              <a:path w="85717" h="66618" extrusionOk="0">
                <a:moveTo>
                  <a:pt x="26647" y="0"/>
                </a:moveTo>
                <a:cubicBezTo>
                  <a:pt x="21058" y="0"/>
                  <a:pt x="15879" y="1381"/>
                  <a:pt x="11642" y="5130"/>
                </a:cubicBezTo>
                <a:cubicBezTo>
                  <a:pt x="10061" y="6559"/>
                  <a:pt x="8663" y="8322"/>
                  <a:pt x="7508" y="10571"/>
                </a:cubicBezTo>
                <a:cubicBezTo>
                  <a:pt x="152" y="24948"/>
                  <a:pt x="0" y="52456"/>
                  <a:pt x="17417" y="59873"/>
                </a:cubicBezTo>
                <a:cubicBezTo>
                  <a:pt x="24834" y="63003"/>
                  <a:pt x="33831" y="64341"/>
                  <a:pt x="41703" y="65800"/>
                </a:cubicBezTo>
                <a:cubicBezTo>
                  <a:pt x="44594" y="66327"/>
                  <a:pt x="47358" y="66617"/>
                  <a:pt x="50007" y="66617"/>
                </a:cubicBezTo>
                <a:cubicBezTo>
                  <a:pt x="58191" y="66617"/>
                  <a:pt x="65275" y="63852"/>
                  <a:pt x="71613" y="56803"/>
                </a:cubicBezTo>
                <a:cubicBezTo>
                  <a:pt x="78269" y="49447"/>
                  <a:pt x="85108" y="39599"/>
                  <a:pt x="85473" y="29355"/>
                </a:cubicBezTo>
                <a:cubicBezTo>
                  <a:pt x="85716" y="23763"/>
                  <a:pt x="83589" y="17866"/>
                  <a:pt x="79090" y="14553"/>
                </a:cubicBezTo>
                <a:cubicBezTo>
                  <a:pt x="75412" y="11817"/>
                  <a:pt x="70610" y="11148"/>
                  <a:pt x="66141" y="10115"/>
                </a:cubicBezTo>
                <a:cubicBezTo>
                  <a:pt x="55375" y="7722"/>
                  <a:pt x="39864" y="0"/>
                  <a:pt x="26647"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sp>
        <p:nvSpPr>
          <p:cNvPr id="457" name="Google Shape;457;p2"/>
          <p:cNvSpPr/>
          <p:nvPr/>
        </p:nvSpPr>
        <p:spPr>
          <a:xfrm>
            <a:off x="6010739" y="4712553"/>
            <a:ext cx="982520" cy="763600"/>
          </a:xfrm>
          <a:custGeom>
            <a:avLst/>
            <a:gdLst/>
            <a:ahLst/>
            <a:cxnLst/>
            <a:rect l="l" t="t" r="r" b="b"/>
            <a:pathLst>
              <a:path w="85717" h="66618" extrusionOk="0">
                <a:moveTo>
                  <a:pt x="26647" y="0"/>
                </a:moveTo>
                <a:cubicBezTo>
                  <a:pt x="21058" y="0"/>
                  <a:pt x="15879" y="1381"/>
                  <a:pt x="11642" y="5130"/>
                </a:cubicBezTo>
                <a:cubicBezTo>
                  <a:pt x="10061" y="6559"/>
                  <a:pt x="8663" y="8322"/>
                  <a:pt x="7508" y="10571"/>
                </a:cubicBezTo>
                <a:cubicBezTo>
                  <a:pt x="152" y="24948"/>
                  <a:pt x="0" y="52456"/>
                  <a:pt x="17417" y="59873"/>
                </a:cubicBezTo>
                <a:cubicBezTo>
                  <a:pt x="24834" y="63003"/>
                  <a:pt x="33831" y="64341"/>
                  <a:pt x="41703" y="65800"/>
                </a:cubicBezTo>
                <a:cubicBezTo>
                  <a:pt x="44594" y="66327"/>
                  <a:pt x="47358" y="66617"/>
                  <a:pt x="50007" y="66617"/>
                </a:cubicBezTo>
                <a:cubicBezTo>
                  <a:pt x="58191" y="66617"/>
                  <a:pt x="65275" y="63852"/>
                  <a:pt x="71613" y="56803"/>
                </a:cubicBezTo>
                <a:cubicBezTo>
                  <a:pt x="78269" y="49447"/>
                  <a:pt x="85108" y="39599"/>
                  <a:pt x="85473" y="29355"/>
                </a:cubicBezTo>
                <a:cubicBezTo>
                  <a:pt x="85716" y="23763"/>
                  <a:pt x="83589" y="17866"/>
                  <a:pt x="79090" y="14553"/>
                </a:cubicBezTo>
                <a:cubicBezTo>
                  <a:pt x="75412" y="11817"/>
                  <a:pt x="70610" y="11148"/>
                  <a:pt x="66141" y="10115"/>
                </a:cubicBezTo>
                <a:cubicBezTo>
                  <a:pt x="55375" y="7722"/>
                  <a:pt x="39864" y="0"/>
                  <a:pt x="26647"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sp>
        <p:nvSpPr>
          <p:cNvPr id="458" name="Google Shape;458;p2"/>
          <p:cNvSpPr txBox="1"/>
          <p:nvPr/>
        </p:nvSpPr>
        <p:spPr>
          <a:xfrm>
            <a:off x="340165" y="3334218"/>
            <a:ext cx="586256" cy="562000"/>
          </a:xfrm>
          <a:prstGeom prst="rect">
            <a:avLst/>
          </a:prstGeom>
          <a:noFill/>
          <a:ln>
            <a:noFill/>
          </a:ln>
        </p:spPr>
        <p:txBody>
          <a:bodyPr spcFirstLastPara="1" wrap="square" lIns="0" tIns="0" rIns="0" bIns="0" anchor="ctr" anchorCtr="0">
            <a:noAutofit/>
          </a:bodyPr>
          <a:lstStyle/>
          <a:p>
            <a:pPr algn="ctr" defTabSz="1219170">
              <a:buClr>
                <a:srgbClr val="004E98"/>
              </a:buClr>
              <a:buSzPts val="2800"/>
            </a:pPr>
            <a:r>
              <a:rPr lang="en-US" sz="2667" kern="0" dirty="0">
                <a:solidFill>
                  <a:srgbClr val="004E98"/>
                </a:solidFill>
                <a:latin typeface="Work Sans ExtraBold"/>
                <a:ea typeface="Work Sans ExtraBold"/>
                <a:cs typeface="Work Sans ExtraBold"/>
                <a:sym typeface="Work Sans ExtraBold"/>
              </a:rPr>
              <a:t>2</a:t>
            </a:r>
            <a:endParaRPr sz="1867" kern="0" dirty="0">
              <a:solidFill>
                <a:srgbClr val="000000"/>
              </a:solidFill>
              <a:latin typeface="Arial"/>
              <a:cs typeface="Arial"/>
              <a:sym typeface="Arial"/>
            </a:endParaRPr>
          </a:p>
        </p:txBody>
      </p:sp>
      <p:sp>
        <p:nvSpPr>
          <p:cNvPr id="459" name="Google Shape;459;p2"/>
          <p:cNvSpPr txBox="1"/>
          <p:nvPr/>
        </p:nvSpPr>
        <p:spPr>
          <a:xfrm>
            <a:off x="330640" y="4749856"/>
            <a:ext cx="586256" cy="562000"/>
          </a:xfrm>
          <a:prstGeom prst="rect">
            <a:avLst/>
          </a:prstGeom>
          <a:noFill/>
          <a:ln>
            <a:noFill/>
          </a:ln>
        </p:spPr>
        <p:txBody>
          <a:bodyPr spcFirstLastPara="1" wrap="square" lIns="0" tIns="0" rIns="0" bIns="0" anchor="ctr" anchorCtr="0">
            <a:noAutofit/>
          </a:bodyPr>
          <a:lstStyle/>
          <a:p>
            <a:pPr algn="ctr" defTabSz="1219170">
              <a:buClr>
                <a:srgbClr val="004E98"/>
              </a:buClr>
              <a:buSzPts val="2800"/>
            </a:pPr>
            <a:r>
              <a:rPr lang="en-US" sz="2667" kern="0" dirty="0">
                <a:solidFill>
                  <a:srgbClr val="004E98"/>
                </a:solidFill>
                <a:latin typeface="Work Sans ExtraBold"/>
                <a:ea typeface="Work Sans ExtraBold"/>
                <a:cs typeface="Work Sans ExtraBold"/>
                <a:sym typeface="Work Sans ExtraBold"/>
              </a:rPr>
              <a:t>3</a:t>
            </a:r>
            <a:endParaRPr sz="1867" kern="0" dirty="0">
              <a:solidFill>
                <a:srgbClr val="000000"/>
              </a:solidFill>
              <a:latin typeface="Arial"/>
              <a:cs typeface="Arial"/>
              <a:sym typeface="Arial"/>
            </a:endParaRPr>
          </a:p>
        </p:txBody>
      </p:sp>
      <p:sp>
        <p:nvSpPr>
          <p:cNvPr id="460" name="Google Shape;460;p2"/>
          <p:cNvSpPr txBox="1"/>
          <p:nvPr/>
        </p:nvSpPr>
        <p:spPr>
          <a:xfrm>
            <a:off x="6219165" y="3392477"/>
            <a:ext cx="586256" cy="562000"/>
          </a:xfrm>
          <a:prstGeom prst="rect">
            <a:avLst/>
          </a:prstGeom>
          <a:noFill/>
          <a:ln>
            <a:noFill/>
          </a:ln>
        </p:spPr>
        <p:txBody>
          <a:bodyPr spcFirstLastPara="1" wrap="square" lIns="0" tIns="0" rIns="0" bIns="0" anchor="ctr" anchorCtr="0">
            <a:noAutofit/>
          </a:bodyPr>
          <a:lstStyle/>
          <a:p>
            <a:pPr algn="ctr" defTabSz="1219170">
              <a:buClr>
                <a:srgbClr val="004E98"/>
              </a:buClr>
              <a:buSzPts val="2800"/>
            </a:pPr>
            <a:r>
              <a:rPr lang="en-US" sz="2667" kern="0" dirty="0">
                <a:solidFill>
                  <a:srgbClr val="004E98"/>
                </a:solidFill>
                <a:latin typeface="Work Sans ExtraBold"/>
                <a:cs typeface="Arial"/>
                <a:sym typeface="Work Sans ExtraBold"/>
              </a:rPr>
              <a:t>5</a:t>
            </a:r>
            <a:endParaRPr sz="1867" kern="0" dirty="0">
              <a:solidFill>
                <a:srgbClr val="000000"/>
              </a:solidFill>
              <a:latin typeface="Arial"/>
              <a:cs typeface="Arial"/>
              <a:sym typeface="Arial"/>
            </a:endParaRPr>
          </a:p>
        </p:txBody>
      </p:sp>
      <p:sp>
        <p:nvSpPr>
          <p:cNvPr id="462" name="Google Shape;462;p2"/>
          <p:cNvSpPr txBox="1"/>
          <p:nvPr/>
        </p:nvSpPr>
        <p:spPr>
          <a:xfrm>
            <a:off x="6213327" y="4803471"/>
            <a:ext cx="586256" cy="562000"/>
          </a:xfrm>
          <a:prstGeom prst="rect">
            <a:avLst/>
          </a:prstGeom>
          <a:noFill/>
          <a:ln>
            <a:noFill/>
          </a:ln>
        </p:spPr>
        <p:txBody>
          <a:bodyPr spcFirstLastPara="1" wrap="square" lIns="0" tIns="0" rIns="0" bIns="0" anchor="ctr" anchorCtr="0">
            <a:noAutofit/>
          </a:bodyPr>
          <a:lstStyle/>
          <a:p>
            <a:pPr algn="ctr" defTabSz="1219170">
              <a:buClr>
                <a:srgbClr val="004E98"/>
              </a:buClr>
              <a:buSzPts val="2800"/>
            </a:pPr>
            <a:r>
              <a:rPr lang="en-US" sz="2667" kern="0" dirty="0">
                <a:solidFill>
                  <a:srgbClr val="004E98"/>
                </a:solidFill>
                <a:latin typeface="Work Sans ExtraBold"/>
                <a:cs typeface="Arial"/>
                <a:sym typeface="Work Sans ExtraBold"/>
              </a:rPr>
              <a:t>6</a:t>
            </a:r>
            <a:endParaRPr sz="1867" kern="0" dirty="0">
              <a:solidFill>
                <a:srgbClr val="000000"/>
              </a:solidFill>
              <a:latin typeface="Arial"/>
              <a:cs typeface="Arial"/>
              <a:sym typeface="Arial"/>
            </a:endParaRPr>
          </a:p>
        </p:txBody>
      </p:sp>
      <p:sp>
        <p:nvSpPr>
          <p:cNvPr id="463" name="Google Shape;463;p2"/>
          <p:cNvSpPr txBox="1"/>
          <p:nvPr/>
        </p:nvSpPr>
        <p:spPr>
          <a:xfrm>
            <a:off x="1236537" y="4614924"/>
            <a:ext cx="4790637" cy="887345"/>
          </a:xfrm>
          <a:prstGeom prst="rect">
            <a:avLst/>
          </a:prstGeom>
          <a:noFill/>
          <a:ln>
            <a:noFill/>
          </a:ln>
        </p:spPr>
        <p:txBody>
          <a:bodyPr spcFirstLastPara="1" wrap="square" lIns="0" tIns="0" rIns="0" bIns="0" anchor="ctr" anchorCtr="0">
            <a:noAutofit/>
          </a:bodyPr>
          <a:lstStyle/>
          <a:p>
            <a:pPr defTabSz="1219170">
              <a:buClr>
                <a:srgbClr val="004E98"/>
              </a:buClr>
              <a:buSzPts val="2800"/>
            </a:pPr>
            <a:r>
              <a:rPr lang="en-US" altLang="ja-JP" sz="2667" kern="0">
                <a:solidFill>
                  <a:srgbClr val="004E98"/>
                </a:solidFill>
                <a:latin typeface="Work Sans ExtraBold" pitchFamily="2" charset="0"/>
                <a:cs typeface="Arial"/>
                <a:sym typeface="Arial"/>
              </a:rPr>
              <a:t>Xử lý &amp; Khám phá dữ liệu (EDA)</a:t>
            </a:r>
            <a:endParaRPr lang="ja-JP" altLang="en-US" sz="2667" kern="0" dirty="0">
              <a:solidFill>
                <a:srgbClr val="004E98"/>
              </a:solidFill>
              <a:latin typeface="Work Sans ExtraBold" pitchFamily="2" charset="0"/>
              <a:cs typeface="Arial"/>
              <a:sym typeface="Arial"/>
            </a:endParaRPr>
          </a:p>
        </p:txBody>
      </p:sp>
      <p:sp>
        <p:nvSpPr>
          <p:cNvPr id="2" name="Google Shape;463;p2">
            <a:extLst>
              <a:ext uri="{FF2B5EF4-FFF2-40B4-BE49-F238E27FC236}">
                <a16:creationId xmlns:a16="http://schemas.microsoft.com/office/drawing/2014/main" id="{4D3F99F9-0E1D-0298-7DE4-030739E97D47}"/>
              </a:ext>
            </a:extLst>
          </p:cNvPr>
          <p:cNvSpPr txBox="1"/>
          <p:nvPr/>
        </p:nvSpPr>
        <p:spPr>
          <a:xfrm>
            <a:off x="7032132" y="1802564"/>
            <a:ext cx="4399625" cy="887345"/>
          </a:xfrm>
          <a:prstGeom prst="rect">
            <a:avLst/>
          </a:prstGeom>
          <a:noFill/>
          <a:ln>
            <a:noFill/>
          </a:ln>
        </p:spPr>
        <p:txBody>
          <a:bodyPr spcFirstLastPara="1" wrap="square" lIns="0" tIns="0" rIns="0" bIns="0" anchor="ctr" anchorCtr="0">
            <a:noAutofit/>
          </a:bodyPr>
          <a:lstStyle/>
          <a:p>
            <a:pPr defTabSz="1219170">
              <a:buClr>
                <a:srgbClr val="004E98"/>
              </a:buClr>
              <a:buSzPts val="2800"/>
            </a:pPr>
            <a:r>
              <a:rPr lang="en-US" sz="2667" b="1" kern="0">
                <a:solidFill>
                  <a:srgbClr val="004E98"/>
                </a:solidFill>
                <a:latin typeface="Work Sans ExtraBold" pitchFamily="2" charset="0"/>
                <a:cs typeface="Arial"/>
                <a:sym typeface="Arial"/>
              </a:rPr>
              <a:t>Bài toán 1 - Mô hình dự báo giá</a:t>
            </a:r>
            <a:endParaRPr sz="2667" b="1" kern="0" dirty="0">
              <a:solidFill>
                <a:srgbClr val="004E98"/>
              </a:solidFill>
              <a:latin typeface="Work Sans ExtraBold" pitchFamily="2" charset="0"/>
              <a:cs typeface="Arial"/>
              <a:sym typeface="Arial"/>
            </a:endParaRPr>
          </a:p>
        </p:txBody>
      </p:sp>
      <p:sp>
        <p:nvSpPr>
          <p:cNvPr id="9" name="Google Shape;448;p2">
            <a:extLst>
              <a:ext uri="{FF2B5EF4-FFF2-40B4-BE49-F238E27FC236}">
                <a16:creationId xmlns:a16="http://schemas.microsoft.com/office/drawing/2014/main" id="{95119655-7F6D-FC7F-4271-FCE067CBC54E}"/>
              </a:ext>
            </a:extLst>
          </p:cNvPr>
          <p:cNvSpPr/>
          <p:nvPr/>
        </p:nvSpPr>
        <p:spPr>
          <a:xfrm>
            <a:off x="5929010" y="1846680"/>
            <a:ext cx="982520" cy="763600"/>
          </a:xfrm>
          <a:custGeom>
            <a:avLst/>
            <a:gdLst/>
            <a:ahLst/>
            <a:cxnLst/>
            <a:rect l="l" t="t" r="r" b="b"/>
            <a:pathLst>
              <a:path w="85717" h="66618" extrusionOk="0">
                <a:moveTo>
                  <a:pt x="26647" y="0"/>
                </a:moveTo>
                <a:cubicBezTo>
                  <a:pt x="21058" y="0"/>
                  <a:pt x="15879" y="1381"/>
                  <a:pt x="11642" y="5130"/>
                </a:cubicBezTo>
                <a:cubicBezTo>
                  <a:pt x="10061" y="6559"/>
                  <a:pt x="8663" y="8322"/>
                  <a:pt x="7508" y="10571"/>
                </a:cubicBezTo>
                <a:cubicBezTo>
                  <a:pt x="152" y="24948"/>
                  <a:pt x="0" y="52456"/>
                  <a:pt x="17417" y="59873"/>
                </a:cubicBezTo>
                <a:cubicBezTo>
                  <a:pt x="24834" y="63003"/>
                  <a:pt x="33831" y="64341"/>
                  <a:pt x="41703" y="65800"/>
                </a:cubicBezTo>
                <a:cubicBezTo>
                  <a:pt x="44594" y="66327"/>
                  <a:pt x="47358" y="66617"/>
                  <a:pt x="50007" y="66617"/>
                </a:cubicBezTo>
                <a:cubicBezTo>
                  <a:pt x="58191" y="66617"/>
                  <a:pt x="65275" y="63852"/>
                  <a:pt x="71613" y="56803"/>
                </a:cubicBezTo>
                <a:cubicBezTo>
                  <a:pt x="78269" y="49447"/>
                  <a:pt x="85108" y="39599"/>
                  <a:pt x="85473" y="29355"/>
                </a:cubicBezTo>
                <a:cubicBezTo>
                  <a:pt x="85716" y="23763"/>
                  <a:pt x="83589" y="17866"/>
                  <a:pt x="79090" y="14553"/>
                </a:cubicBezTo>
                <a:cubicBezTo>
                  <a:pt x="75412" y="11817"/>
                  <a:pt x="70610" y="11148"/>
                  <a:pt x="66141" y="10115"/>
                </a:cubicBezTo>
                <a:cubicBezTo>
                  <a:pt x="55375" y="7722"/>
                  <a:pt x="39864" y="0"/>
                  <a:pt x="26647" y="0"/>
                </a:cubicBezTo>
                <a:close/>
              </a:path>
            </a:pathLst>
          </a:custGeom>
          <a:solidFill>
            <a:schemeClr val="accent1"/>
          </a:solidFill>
          <a:ln>
            <a:noFill/>
          </a:ln>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sp>
        <p:nvSpPr>
          <p:cNvPr id="10" name="Google Shape;459;p2">
            <a:extLst>
              <a:ext uri="{FF2B5EF4-FFF2-40B4-BE49-F238E27FC236}">
                <a16:creationId xmlns:a16="http://schemas.microsoft.com/office/drawing/2014/main" id="{7E0D68F2-A53F-A5C4-1CDE-55EBFE8E86D3}"/>
              </a:ext>
            </a:extLst>
          </p:cNvPr>
          <p:cNvSpPr txBox="1"/>
          <p:nvPr/>
        </p:nvSpPr>
        <p:spPr>
          <a:xfrm>
            <a:off x="6091037" y="1947480"/>
            <a:ext cx="586256" cy="562000"/>
          </a:xfrm>
          <a:prstGeom prst="rect">
            <a:avLst/>
          </a:prstGeom>
          <a:noFill/>
          <a:ln>
            <a:noFill/>
          </a:ln>
        </p:spPr>
        <p:txBody>
          <a:bodyPr spcFirstLastPara="1" wrap="square" lIns="0" tIns="0" rIns="0" bIns="0" anchor="ctr" anchorCtr="0">
            <a:noAutofit/>
          </a:bodyPr>
          <a:lstStyle/>
          <a:p>
            <a:pPr algn="ctr" defTabSz="1219170">
              <a:buClr>
                <a:srgbClr val="004E98"/>
              </a:buClr>
              <a:buSzPts val="2800"/>
            </a:pPr>
            <a:r>
              <a:rPr lang="en-US" sz="2667" kern="0" dirty="0">
                <a:solidFill>
                  <a:srgbClr val="004E98"/>
                </a:solidFill>
                <a:latin typeface="Work Sans ExtraBold"/>
                <a:cs typeface="Arial"/>
                <a:sym typeface="Work Sans ExtraBold"/>
              </a:rPr>
              <a:t>4</a:t>
            </a:r>
            <a:endParaRPr sz="1867" kern="0" dirty="0">
              <a:solidFill>
                <a:srgbClr val="000000"/>
              </a:solidFill>
              <a:latin typeface="Arial"/>
              <a:cs typeface="Arial"/>
              <a:sym typeface="Arial"/>
            </a:endParaRPr>
          </a:p>
        </p:txBody>
      </p:sp>
      <p:pic>
        <p:nvPicPr>
          <p:cNvPr id="3" name="Google Shape;440;p1" descr="Top 10 trung tâm tin học đào tạo cấp chứng chỉ chất lượng nhất hiện nay">
            <a:extLst>
              <a:ext uri="{FF2B5EF4-FFF2-40B4-BE49-F238E27FC236}">
                <a16:creationId xmlns:a16="http://schemas.microsoft.com/office/drawing/2014/main" id="{5E195964-B2D0-CFEF-E0F5-80BD61690041}"/>
              </a:ext>
            </a:extLst>
          </p:cNvPr>
          <p:cNvPicPr preferRelativeResize="0"/>
          <p:nvPr/>
        </p:nvPicPr>
        <p:blipFill rotWithShape="1">
          <a:blip r:embed="rId3">
            <a:alphaModFix/>
          </a:blip>
          <a:srcRect/>
          <a:stretch/>
        </p:blipFill>
        <p:spPr>
          <a:xfrm>
            <a:off x="11490022" y="0"/>
            <a:ext cx="701978" cy="70197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c 3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2" name="Google Shape;440;p1" descr="Top 10 trung tâm tin học đào tạo cấp chứng chỉ chất lượng nhất hiện nay">
            <a:extLst>
              <a:ext uri="{FF2B5EF4-FFF2-40B4-BE49-F238E27FC236}">
                <a16:creationId xmlns:a16="http://schemas.microsoft.com/office/drawing/2014/main" id="{AFD4A30F-2DB0-3C59-6ACB-0879580388C0}"/>
              </a:ext>
            </a:extLst>
          </p:cNvPr>
          <p:cNvPicPr preferRelativeResize="0"/>
          <p:nvPr/>
        </p:nvPicPr>
        <p:blipFill rotWithShape="1">
          <a:blip r:embed="rId2">
            <a:alphaModFix/>
          </a:blip>
          <a:srcRect/>
          <a:stretch/>
        </p:blipFill>
        <p:spPr>
          <a:xfrm>
            <a:off x="11486974" y="9196"/>
            <a:ext cx="701978" cy="701978"/>
          </a:xfrm>
          <a:prstGeom prst="rect">
            <a:avLst/>
          </a:prstGeom>
          <a:noFill/>
          <a:ln>
            <a:noFill/>
          </a:ln>
        </p:spPr>
      </p:pic>
      <p:sp>
        <p:nvSpPr>
          <p:cNvPr id="8" name="Google Shape;624;p4">
            <a:extLst>
              <a:ext uri="{FF2B5EF4-FFF2-40B4-BE49-F238E27FC236}">
                <a16:creationId xmlns:a16="http://schemas.microsoft.com/office/drawing/2014/main" id="{97D55A0B-FCED-97C3-7F14-A78141A6BB65}"/>
              </a:ext>
            </a:extLst>
          </p:cNvPr>
          <p:cNvSpPr txBox="1"/>
          <p:nvPr/>
        </p:nvSpPr>
        <p:spPr>
          <a:xfrm>
            <a:off x="4090581" y="1268185"/>
            <a:ext cx="8178110" cy="4011738"/>
          </a:xfrm>
          <a:prstGeom prst="rect">
            <a:avLst/>
          </a:prstGeom>
          <a:noFill/>
          <a:ln>
            <a:noFill/>
          </a:ln>
        </p:spPr>
        <p:txBody>
          <a:bodyPr spcFirstLastPara="1" wrap="square" lIns="91425" tIns="91425" rIns="91425" bIns="91425" anchor="t" anchorCtr="0">
            <a:noAutofit/>
          </a:bodyPr>
          <a:lstStyle/>
          <a:p>
            <a:pPr defTabSz="914400">
              <a:buClr>
                <a:srgbClr val="000000"/>
              </a:buClr>
              <a:buFont typeface="Arial"/>
              <a:buNone/>
            </a:pPr>
            <a:r>
              <a:rPr lang="vi-VN" sz="2000" b="1" kern="0" dirty="0">
                <a:solidFill>
                  <a:srgbClr val="000000"/>
                </a:solidFill>
                <a:cs typeface="Arial"/>
                <a:sym typeface="Arial"/>
              </a:rPr>
              <a:t>Bối cảnh</a:t>
            </a:r>
            <a:endParaRPr lang="vi-VN" sz="2000" kern="0" dirty="0">
              <a:solidFill>
                <a:srgbClr val="000000"/>
              </a:solidFill>
              <a:cs typeface="Arial"/>
              <a:sym typeface="Arial"/>
            </a:endParaRPr>
          </a:p>
          <a:p>
            <a:pPr defTabSz="914400">
              <a:buClr>
                <a:srgbClr val="000000"/>
              </a:buClr>
              <a:buFont typeface="Arial"/>
              <a:buNone/>
            </a:pPr>
            <a:r>
              <a:rPr lang="vi-VN" sz="2000" kern="0" dirty="0">
                <a:solidFill>
                  <a:srgbClr val="000000"/>
                </a:solidFill>
                <a:cs typeface="Arial"/>
                <a:sym typeface="Arial"/>
              </a:rPr>
              <a:t>Dữ liệu nhà ở được thu thập từ nền tảng đăng bán bất động sản </a:t>
            </a:r>
            <a:r>
              <a:rPr lang="vi-VN" sz="2000" b="1" kern="0" dirty="0">
                <a:solidFill>
                  <a:srgbClr val="000000"/>
                </a:solidFill>
                <a:cs typeface="Arial"/>
                <a:sym typeface="Arial"/>
              </a:rPr>
              <a:t>Nhà Tốt</a:t>
            </a:r>
            <a:r>
              <a:rPr lang="vi-VN" sz="2000" kern="0" dirty="0">
                <a:solidFill>
                  <a:srgbClr val="000000"/>
                </a:solidFill>
                <a:cs typeface="Arial"/>
                <a:sym typeface="Arial"/>
              </a:rPr>
              <a:t>.</a:t>
            </a:r>
            <a:br>
              <a:rPr lang="vi-VN" sz="2000" kern="0" dirty="0">
                <a:solidFill>
                  <a:srgbClr val="000000"/>
                </a:solidFill>
                <a:cs typeface="Arial"/>
                <a:sym typeface="Arial"/>
              </a:rPr>
            </a:br>
            <a:r>
              <a:rPr lang="vi-VN" sz="2000" kern="0" dirty="0">
                <a:solidFill>
                  <a:srgbClr val="000000"/>
                </a:solidFill>
                <a:cs typeface="Arial"/>
                <a:sym typeface="Arial"/>
              </a:rPr>
              <a:t>Người bán thường gặp khó khăn trong việc xác định giá đăng bán hợp lý, trong khi nền tảng cần kiểm soát các tin đăng có giá bất thường.</a:t>
            </a:r>
            <a:endParaRPr lang="en-US" sz="2000" kern="0" dirty="0">
              <a:solidFill>
                <a:srgbClr val="000000"/>
              </a:solidFill>
              <a:latin typeface="Arial"/>
              <a:cs typeface="Arial"/>
              <a:sym typeface="Arial"/>
            </a:endParaRPr>
          </a:p>
          <a:p>
            <a:pPr defTabSz="914400">
              <a:buClr>
                <a:srgbClr val="000000"/>
              </a:buClr>
              <a:buFont typeface="Arial"/>
              <a:buNone/>
            </a:pPr>
            <a:endParaRPr lang="vi-VN" sz="2000" kern="0" dirty="0">
              <a:solidFill>
                <a:srgbClr val="000000"/>
              </a:solidFill>
              <a:cs typeface="Arial"/>
              <a:sym typeface="Arial"/>
            </a:endParaRPr>
          </a:p>
          <a:p>
            <a:pPr defTabSz="914400">
              <a:buClr>
                <a:srgbClr val="000000"/>
              </a:buClr>
              <a:buFont typeface="Arial"/>
              <a:buNone/>
            </a:pPr>
            <a:r>
              <a:rPr lang="vi-VN" sz="2000" b="1" kern="0" dirty="0">
                <a:solidFill>
                  <a:srgbClr val="000000"/>
                </a:solidFill>
                <a:cs typeface="Arial"/>
                <a:sym typeface="Arial"/>
              </a:rPr>
              <a:t>Mục tiêu dự án</a:t>
            </a:r>
            <a:endParaRPr lang="vi-VN" sz="2000" kern="0" dirty="0">
              <a:solidFill>
                <a:srgbClr val="000000"/>
              </a:solidFill>
              <a:cs typeface="Arial"/>
              <a:sym typeface="Arial"/>
            </a:endParaRPr>
          </a:p>
          <a:p>
            <a:pPr marL="285750" indent="-285750" defTabSz="914400">
              <a:buClr>
                <a:srgbClr val="000000"/>
              </a:buClr>
              <a:buFont typeface="Wingdings" panose="05000000000000000000" pitchFamily="2" charset="2"/>
              <a:buChar char="q"/>
            </a:pPr>
            <a:r>
              <a:rPr lang="vi-VN" sz="2000" kern="0" dirty="0">
                <a:solidFill>
                  <a:srgbClr val="000000"/>
                </a:solidFill>
                <a:cs typeface="Arial"/>
                <a:sym typeface="Arial"/>
              </a:rPr>
              <a:t>Xây dựng mô hình </a:t>
            </a:r>
            <a:r>
              <a:rPr lang="vi-VN" sz="2000" b="1" kern="0" dirty="0">
                <a:solidFill>
                  <a:srgbClr val="000000"/>
                </a:solidFill>
                <a:cs typeface="Arial"/>
                <a:sym typeface="Arial"/>
              </a:rPr>
              <a:t>dự đoán giá nhà</a:t>
            </a:r>
            <a:r>
              <a:rPr lang="vi-VN" sz="2000" kern="0" dirty="0">
                <a:solidFill>
                  <a:srgbClr val="000000"/>
                </a:solidFill>
                <a:cs typeface="Arial"/>
                <a:sym typeface="Arial"/>
              </a:rPr>
              <a:t> dựa trên các đặc trưng của bất động sản.</a:t>
            </a:r>
          </a:p>
          <a:p>
            <a:pPr marL="285750" indent="-285750" defTabSz="914400">
              <a:buClr>
                <a:srgbClr val="000000"/>
              </a:buClr>
              <a:buFont typeface="Wingdings" panose="05000000000000000000" pitchFamily="2" charset="2"/>
              <a:buChar char="q"/>
            </a:pPr>
            <a:r>
              <a:rPr lang="vi-VN" sz="2000" kern="0" dirty="0">
                <a:solidFill>
                  <a:srgbClr val="000000"/>
                </a:solidFill>
                <a:cs typeface="Arial"/>
                <a:sym typeface="Arial"/>
              </a:rPr>
              <a:t>Phát hiện các </a:t>
            </a:r>
            <a:r>
              <a:rPr lang="vi-VN" sz="2000" b="1" kern="0" dirty="0">
                <a:solidFill>
                  <a:srgbClr val="000000"/>
                </a:solidFill>
                <a:cs typeface="Arial"/>
                <a:sym typeface="Arial"/>
              </a:rPr>
              <a:t>tin đăng có giá bất thường</a:t>
            </a:r>
            <a:r>
              <a:rPr lang="vi-VN" sz="2000" kern="0" dirty="0">
                <a:solidFill>
                  <a:srgbClr val="000000"/>
                </a:solidFill>
                <a:cs typeface="Arial"/>
                <a:sym typeface="Arial"/>
              </a:rPr>
              <a:t> (quá cao hoặc quá thấp so với thị trường).</a:t>
            </a:r>
          </a:p>
          <a:p>
            <a:pPr marL="285750" indent="-285750" defTabSz="914400">
              <a:buClr>
                <a:srgbClr val="000000"/>
              </a:buClr>
              <a:buFont typeface="Wingdings" panose="05000000000000000000" pitchFamily="2" charset="2"/>
              <a:buChar char="q"/>
            </a:pPr>
            <a:r>
              <a:rPr lang="vi-VN" sz="2000" kern="0" dirty="0">
                <a:solidFill>
                  <a:srgbClr val="000000"/>
                </a:solidFill>
                <a:cs typeface="Arial"/>
                <a:sym typeface="Arial"/>
              </a:rPr>
              <a:t>Hỗ trợ </a:t>
            </a:r>
            <a:r>
              <a:rPr lang="vi-VN" sz="2000" b="1" kern="0" dirty="0">
                <a:solidFill>
                  <a:srgbClr val="000000"/>
                </a:solidFill>
                <a:cs typeface="Arial"/>
                <a:sym typeface="Arial"/>
              </a:rPr>
              <a:t>nền tảng kiểm duyệt</a:t>
            </a:r>
            <a:r>
              <a:rPr lang="vi-VN" sz="2000" kern="0" dirty="0">
                <a:solidFill>
                  <a:srgbClr val="000000"/>
                </a:solidFill>
                <a:cs typeface="Arial"/>
                <a:sym typeface="Arial"/>
              </a:rPr>
              <a:t> phát hiện các tin đăng sai lệch.</a:t>
            </a:r>
            <a:endParaRPr lang="en-US" sz="2000" kern="0" dirty="0">
              <a:solidFill>
                <a:srgbClr val="000000"/>
              </a:solidFill>
              <a:latin typeface="Arial"/>
              <a:cs typeface="Arial"/>
              <a:sym typeface="Arial"/>
            </a:endParaRPr>
          </a:p>
          <a:p>
            <a:pPr defTabSz="914400">
              <a:buClr>
                <a:srgbClr val="000000"/>
              </a:buClr>
              <a:buFont typeface="Arial"/>
              <a:buNone/>
            </a:pPr>
            <a:endParaRPr lang="en-US" sz="2000" kern="0" dirty="0">
              <a:solidFill>
                <a:srgbClr val="000000"/>
              </a:solidFill>
              <a:latin typeface="Arial"/>
              <a:cs typeface="Arial"/>
              <a:sym typeface="Arial"/>
            </a:endParaRPr>
          </a:p>
        </p:txBody>
      </p:sp>
      <p:sp>
        <p:nvSpPr>
          <p:cNvPr id="9" name="Google Shape;468;p3">
            <a:extLst>
              <a:ext uri="{FF2B5EF4-FFF2-40B4-BE49-F238E27FC236}">
                <a16:creationId xmlns:a16="http://schemas.microsoft.com/office/drawing/2014/main" id="{3ED74D40-0294-5646-E96B-AA24458D51A4}"/>
              </a:ext>
            </a:extLst>
          </p:cNvPr>
          <p:cNvSpPr txBox="1">
            <a:spLocks/>
          </p:cNvSpPr>
          <p:nvPr/>
        </p:nvSpPr>
        <p:spPr>
          <a:xfrm>
            <a:off x="0" y="2717600"/>
            <a:ext cx="3609107" cy="7114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2"/>
              </a:buClr>
              <a:buSzPts val="1100"/>
              <a:buFont typeface="Work Sans ExtraBold"/>
              <a:buNone/>
              <a:defRPr sz="1800" b="0" i="0" u="none" strike="noStrike" cap="none">
                <a:solidFill>
                  <a:schemeClr val="lt2"/>
                </a:solidFill>
                <a:latin typeface="Work Sans ExtraBold"/>
                <a:ea typeface="Work Sans ExtraBold"/>
                <a:cs typeface="Work Sans ExtraBold"/>
                <a:sym typeface="Work Sans ExtraBold"/>
              </a:defRPr>
            </a:lvl1pPr>
            <a:lvl2pPr marR="0" lvl="1"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9pPr>
          </a:lstStyle>
          <a:p>
            <a:pPr lvl="0" defTabSz="914400">
              <a:buClr>
                <a:srgbClr val="004E98"/>
              </a:buClr>
              <a:buSzPts val="3600"/>
            </a:pPr>
            <a:r>
              <a:rPr kumimoji="0" lang="en-US" sz="3600" b="1" i="0" u="none" strike="noStrike" kern="0" cap="none" spc="0" normalizeH="0" baseline="0" noProof="0">
                <a:ln>
                  <a:noFill/>
                </a:ln>
                <a:solidFill>
                  <a:schemeClr val="tx1"/>
                </a:solidFill>
                <a:effectLst>
                  <a:outerShdw blurRad="50800" dist="38100" dir="2700000" algn="tl" rotWithShape="0">
                    <a:prstClr val="black">
                      <a:alpha val="40000"/>
                    </a:prstClr>
                  </a:outerShdw>
                </a:effectLst>
                <a:uLnTx/>
                <a:uFillTx/>
                <a:latin typeface="Work Sans ExtraBold"/>
                <a:sym typeface="Work Sans ExtraBold"/>
              </a:rPr>
              <a:t>1.</a:t>
            </a:r>
            <a:r>
              <a:rPr lang="ja-JP" altLang="en-US" sz="3600"/>
              <a:t>🎯</a:t>
            </a:r>
            <a:r>
              <a:rPr kumimoji="0" lang="en-US" sz="3600" b="1" i="0" u="none" strike="noStrike" kern="0" cap="none" spc="0" normalizeH="0" baseline="0" noProof="0">
                <a:ln>
                  <a:noFill/>
                </a:ln>
                <a:solidFill>
                  <a:schemeClr val="tx1"/>
                </a:solidFill>
                <a:effectLst>
                  <a:outerShdw blurRad="50800" dist="38100" dir="2700000" algn="tl" rotWithShape="0">
                    <a:prstClr val="black">
                      <a:alpha val="40000"/>
                    </a:prstClr>
                  </a:outerShdw>
                </a:effectLst>
                <a:uLnTx/>
                <a:uFillTx/>
                <a:latin typeface="Work Sans ExtraBold"/>
                <a:sym typeface="Work Sans ExtraBold"/>
              </a:rPr>
              <a:t>MỤC TIÊU</a:t>
            </a:r>
            <a:endParaRPr kumimoji="0" lang="en-US" sz="4800" b="1" i="0" u="none" strike="noStrike" kern="0" cap="none" spc="0" normalizeH="0" baseline="0" noProof="0" dirty="0">
              <a:ln>
                <a:noFill/>
              </a:ln>
              <a:solidFill>
                <a:schemeClr val="tx1"/>
              </a:solidFill>
              <a:effectLst>
                <a:outerShdw blurRad="50800" dist="38100" dir="2700000" algn="tl" rotWithShape="0">
                  <a:prstClr val="black">
                    <a:alpha val="40000"/>
                  </a:prstClr>
                </a:outerShdw>
              </a:effectLst>
              <a:uLnTx/>
              <a:uFillTx/>
              <a:latin typeface="Work Sans ExtraBold"/>
              <a:sym typeface="Work Sans ExtraBold"/>
            </a:endParaRPr>
          </a:p>
        </p:txBody>
      </p:sp>
    </p:spTree>
    <p:extLst>
      <p:ext uri="{BB962C8B-B14F-4D97-AF65-F5344CB8AC3E}">
        <p14:creationId xmlns:p14="http://schemas.microsoft.com/office/powerpoint/2010/main" val="4033038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CB56C0F7-14F5-F7F6-66E4-1FA8B507EC77}"/>
              </a:ext>
            </a:extLst>
          </p:cNvPr>
          <p:cNvGrpSpPr/>
          <p:nvPr/>
        </p:nvGrpSpPr>
        <p:grpSpPr>
          <a:xfrm>
            <a:off x="2458" y="36673"/>
            <a:ext cx="12051888" cy="6368678"/>
            <a:chOff x="2458" y="36673"/>
            <a:chExt cx="12051888" cy="6368678"/>
          </a:xfrm>
        </p:grpSpPr>
        <p:sp>
          <p:nvSpPr>
            <p:cNvPr id="5" name="TextBox 4">
              <a:hlinkClick r:id="" action="ppaction://noaction" highlightClick="1"/>
              <a:hlinkHover r:id="" action="ppaction://noaction" highlightClick="1"/>
              <a:extLst>
                <a:ext uri="{FF2B5EF4-FFF2-40B4-BE49-F238E27FC236}">
                  <a16:creationId xmlns:a16="http://schemas.microsoft.com/office/drawing/2014/main" id="{EA8C07A1-54A1-CE6A-EB00-46C1EFBBE395}"/>
                </a:ext>
              </a:extLst>
            </p:cNvPr>
            <p:cNvSpPr txBox="1"/>
            <p:nvPr/>
          </p:nvSpPr>
          <p:spPr>
            <a:xfrm>
              <a:off x="442451" y="821981"/>
              <a:ext cx="5889523" cy="646331"/>
            </a:xfrm>
            <a:prstGeom prst="rect">
              <a:avLst/>
            </a:prstGeom>
            <a:solidFill>
              <a:srgbClr val="00B0F0"/>
            </a:solidFill>
            <a:ln>
              <a:solidFill>
                <a:schemeClr val="tx1"/>
              </a:solidFill>
            </a:ln>
          </p:spPr>
          <p:txBody>
            <a:bodyPr wrap="square">
              <a:spAutoFit/>
            </a:bodyPr>
            <a:lstStyle/>
            <a:p>
              <a:pPr algn="ctr"/>
              <a:r>
                <a:rPr lang="ja-JP" altLang="en-US"/>
                <a:t>📦 </a:t>
              </a:r>
              <a:r>
                <a:rPr lang="vi-VN" altLang="ja-JP"/>
                <a:t>BƯỚC 1: TIỀN XỬ LÝ DỮ LIỆU (PRE-PROCESSING)</a:t>
              </a:r>
              <a:endParaRPr lang="ja-JP" altLang="en-US"/>
            </a:p>
          </p:txBody>
        </p:sp>
        <p:sp>
          <p:nvSpPr>
            <p:cNvPr id="7" name="TextBox 6">
              <a:extLst>
                <a:ext uri="{FF2B5EF4-FFF2-40B4-BE49-F238E27FC236}">
                  <a16:creationId xmlns:a16="http://schemas.microsoft.com/office/drawing/2014/main" id="{CCE58F12-691E-73CF-C950-BA8CD788DE2D}"/>
                </a:ext>
              </a:extLst>
            </p:cNvPr>
            <p:cNvSpPr txBox="1"/>
            <p:nvPr/>
          </p:nvSpPr>
          <p:spPr>
            <a:xfrm>
              <a:off x="442451" y="2115598"/>
              <a:ext cx="5889523" cy="369332"/>
            </a:xfrm>
            <a:prstGeom prst="rect">
              <a:avLst/>
            </a:prstGeom>
            <a:noFill/>
            <a:ln>
              <a:solidFill>
                <a:schemeClr val="tx1"/>
              </a:solidFill>
            </a:ln>
          </p:spPr>
          <p:txBody>
            <a:bodyPr wrap="square">
              <a:spAutoFit/>
            </a:bodyPr>
            <a:lstStyle/>
            <a:p>
              <a:pPr algn="ctr"/>
              <a:r>
                <a:rPr lang="ja-JP" altLang="en-US"/>
                <a:t>🔍 </a:t>
              </a:r>
              <a:r>
                <a:rPr lang="vi-VN" altLang="ja-JP"/>
                <a:t>BƯỚC 2: PHÂN TÍCH KHÁM PHÁ (EDA)</a:t>
              </a:r>
              <a:endParaRPr lang="ja-JP" altLang="en-US"/>
            </a:p>
          </p:txBody>
        </p:sp>
        <p:sp>
          <p:nvSpPr>
            <p:cNvPr id="9" name="TextBox 8">
              <a:extLst>
                <a:ext uri="{FF2B5EF4-FFF2-40B4-BE49-F238E27FC236}">
                  <a16:creationId xmlns:a16="http://schemas.microsoft.com/office/drawing/2014/main" id="{FF97B19A-49BE-9F33-039C-3D86462D215C}"/>
                </a:ext>
              </a:extLst>
            </p:cNvPr>
            <p:cNvSpPr txBox="1"/>
            <p:nvPr/>
          </p:nvSpPr>
          <p:spPr>
            <a:xfrm>
              <a:off x="442451" y="3178261"/>
              <a:ext cx="5889523" cy="646331"/>
            </a:xfrm>
            <a:prstGeom prst="rect">
              <a:avLst/>
            </a:prstGeom>
            <a:noFill/>
            <a:ln>
              <a:solidFill>
                <a:schemeClr val="tx1"/>
              </a:solidFill>
            </a:ln>
          </p:spPr>
          <p:txBody>
            <a:bodyPr wrap="square">
              <a:spAutoFit/>
            </a:bodyPr>
            <a:lstStyle/>
            <a:p>
              <a:pPr algn="ctr"/>
              <a:r>
                <a:rPr lang="ja-JP" altLang="en-US"/>
                <a:t>🤖 </a:t>
              </a:r>
              <a:r>
                <a:rPr lang="vi-VN" altLang="ja-JP"/>
                <a:t>BƯỚC 3: BÀI TOÁN 1 - DỰ BÁO GIÁ (REGRESSION)</a:t>
              </a:r>
              <a:endParaRPr lang="ja-JP" altLang="en-US"/>
            </a:p>
          </p:txBody>
        </p:sp>
        <p:sp>
          <p:nvSpPr>
            <p:cNvPr id="11" name="TextBox 10">
              <a:extLst>
                <a:ext uri="{FF2B5EF4-FFF2-40B4-BE49-F238E27FC236}">
                  <a16:creationId xmlns:a16="http://schemas.microsoft.com/office/drawing/2014/main" id="{1446BBC1-4A0D-7923-398F-5F119DF5B051}"/>
                </a:ext>
              </a:extLst>
            </p:cNvPr>
            <p:cNvSpPr txBox="1"/>
            <p:nvPr/>
          </p:nvSpPr>
          <p:spPr>
            <a:xfrm>
              <a:off x="373624" y="4656545"/>
              <a:ext cx="6007510" cy="646331"/>
            </a:xfrm>
            <a:prstGeom prst="rect">
              <a:avLst/>
            </a:prstGeom>
            <a:noFill/>
            <a:ln>
              <a:solidFill>
                <a:schemeClr val="tx1"/>
              </a:solidFill>
            </a:ln>
          </p:spPr>
          <p:txBody>
            <a:bodyPr wrap="square">
              <a:spAutoFit/>
            </a:bodyPr>
            <a:lstStyle/>
            <a:p>
              <a:pPr algn="ctr"/>
              <a:r>
                <a:rPr lang="ja-JP" altLang="en-US"/>
                <a:t>🚩 </a:t>
              </a:r>
              <a:r>
                <a:rPr lang="vi-VN" altLang="ja-JP"/>
                <a:t>BƯỚC 4: BÀI TOÁN 2 - PHÁT HIỆN BẤT THƯỜNG (ANOMALY)</a:t>
              </a:r>
              <a:endParaRPr lang="ja-JP" altLang="en-US"/>
            </a:p>
          </p:txBody>
        </p:sp>
        <p:sp>
          <p:nvSpPr>
            <p:cNvPr id="13" name="TextBox 12">
              <a:extLst>
                <a:ext uri="{FF2B5EF4-FFF2-40B4-BE49-F238E27FC236}">
                  <a16:creationId xmlns:a16="http://schemas.microsoft.com/office/drawing/2014/main" id="{E9C8B263-C927-434E-0178-3A4DCBF887ED}"/>
                </a:ext>
              </a:extLst>
            </p:cNvPr>
            <p:cNvSpPr txBox="1"/>
            <p:nvPr/>
          </p:nvSpPr>
          <p:spPr>
            <a:xfrm>
              <a:off x="324462" y="6036019"/>
              <a:ext cx="6096000" cy="369332"/>
            </a:xfrm>
            <a:prstGeom prst="rect">
              <a:avLst/>
            </a:prstGeom>
            <a:noFill/>
            <a:ln>
              <a:solidFill>
                <a:schemeClr val="tx1"/>
              </a:solidFill>
            </a:ln>
          </p:spPr>
          <p:txBody>
            <a:bodyPr wrap="square">
              <a:spAutoFit/>
            </a:bodyPr>
            <a:lstStyle/>
            <a:p>
              <a:pPr algn="ctr"/>
              <a:r>
                <a:rPr lang="ja-JP" altLang="en-US"/>
                <a:t>🚀 </a:t>
              </a:r>
              <a:r>
                <a:rPr lang="vi-VN" altLang="ja-JP"/>
                <a:t>BƯỚC 5: KẾT LUẬN &amp; ĐÓNG GÓI</a:t>
              </a:r>
              <a:endParaRPr lang="ja-JP" altLang="en-US"/>
            </a:p>
          </p:txBody>
        </p:sp>
        <p:sp>
          <p:nvSpPr>
            <p:cNvPr id="14" name="Rectangle 1">
              <a:extLst>
                <a:ext uri="{FF2B5EF4-FFF2-40B4-BE49-F238E27FC236}">
                  <a16:creationId xmlns:a16="http://schemas.microsoft.com/office/drawing/2014/main" id="{6CB499AC-3185-475C-FD0A-4D0DAD2CC2D2}"/>
                </a:ext>
              </a:extLst>
            </p:cNvPr>
            <p:cNvSpPr>
              <a:spLocks noChangeArrowheads="1"/>
            </p:cNvSpPr>
            <p:nvPr/>
          </p:nvSpPr>
          <p:spPr bwMode="auto">
            <a:xfrm>
              <a:off x="7321506" y="1200880"/>
              <a:ext cx="4732840" cy="120032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ja-JP" altLang="ja-JP" sz="1800" b="1" i="0" u="none" strike="noStrike" cap="none" normalizeH="0" baseline="0">
                  <a:ln>
                    <a:noFill/>
                  </a:ln>
                  <a:solidFill>
                    <a:schemeClr val="tx1"/>
                  </a:solidFill>
                  <a:effectLst/>
                  <a:latin typeface="Arial" panose="020B0604020202020204" pitchFamily="34" charset="0"/>
                </a:rPr>
                <a:t>⚖️ </a:t>
              </a:r>
              <a:r>
                <a:rPr kumimoji="0" lang="en-US" altLang="ja-JP" sz="1800" b="1" i="0" u="none" strike="noStrike" cap="none" normalizeH="0" baseline="0">
                  <a:ln>
                    <a:noFill/>
                  </a:ln>
                  <a:solidFill>
                    <a:schemeClr val="tx1"/>
                  </a:solidFill>
                  <a:effectLst/>
                  <a:latin typeface="Arial" panose="020B0604020202020204" pitchFamily="34" charset="0"/>
                </a:rPr>
                <a:t>Xử lí Null:</a:t>
              </a:r>
            </a:p>
            <a:p>
              <a:pPr lvl="0" defTabSz="914400" eaLnBrk="0" fontAlgn="base" hangingPunct="0">
                <a:spcBef>
                  <a:spcPct val="0"/>
                </a:spcBef>
                <a:spcAft>
                  <a:spcPct val="0"/>
                </a:spcAft>
              </a:pPr>
              <a:r>
                <a:rPr lang="en-US" altLang="ja-JP">
                  <a:latin typeface="Arial" panose="020B0604020202020204" pitchFamily="34" charset="0"/>
                  <a:cs typeface="Arial" panose="020B0604020202020204" pitchFamily="34" charset="0"/>
                </a:rPr>
                <a:t>SkLearn: Dùng fillna xử lý trực tiếp</a:t>
              </a:r>
            </a:p>
            <a:p>
              <a:pPr lvl="0" defTabSz="914400" eaLnBrk="0" fontAlgn="base" hangingPunct="0">
                <a:spcBef>
                  <a:spcPct val="0"/>
                </a:spcBef>
                <a:spcAft>
                  <a:spcPct val="0"/>
                </a:spcAft>
              </a:pPr>
              <a:r>
                <a:rPr lang="en-US" altLang="ja-JP">
                  <a:latin typeface="Arial" panose="020B0604020202020204" pitchFamily="34" charset="0"/>
                  <a:cs typeface="Arial" panose="020B0604020202020204" pitchFamily="34" charset="0"/>
                </a:rPr>
                <a:t>PySpark: </a:t>
              </a:r>
              <a:r>
                <a:rPr lang="vi-VN" altLang="ja-JP">
                  <a:latin typeface="Arial" panose="020B0604020202020204" pitchFamily="34" charset="0"/>
                  <a:cs typeface="Arial" panose="020B0604020202020204" pitchFamily="34" charset="0"/>
                </a:rPr>
                <a:t>Thiết lập quy tắc điền Null như một Stage trong Pipeline.</a:t>
              </a:r>
              <a:endParaRPr kumimoji="0" lang="ja-JP" altLang="ja-JP"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1188392-4929-DEA0-435D-69F268A28987}"/>
                </a:ext>
              </a:extLst>
            </p:cNvPr>
            <p:cNvSpPr txBox="1"/>
            <p:nvPr/>
          </p:nvSpPr>
          <p:spPr>
            <a:xfrm>
              <a:off x="2458" y="36673"/>
              <a:ext cx="6769508" cy="646331"/>
            </a:xfrm>
            <a:prstGeom prst="rect">
              <a:avLst/>
            </a:prstGeom>
            <a:noFill/>
          </p:spPr>
          <p:txBody>
            <a:bodyPr wrap="square">
              <a:spAutoFit/>
            </a:bodyPr>
            <a:lstStyle/>
            <a:p>
              <a:r>
                <a:rPr lang="en-US" altLang="ja-JP" sz="3600" b="1"/>
                <a:t>2. QUY TRÌNH TRIỂN KHAI DỰ ÁN</a:t>
              </a:r>
              <a:endParaRPr lang="ja-JP" altLang="en-US" sz="3600" b="1"/>
            </a:p>
          </p:txBody>
        </p:sp>
        <p:sp>
          <p:nvSpPr>
            <p:cNvPr id="4" name="Rectangle 1">
              <a:extLst>
                <a:ext uri="{FF2B5EF4-FFF2-40B4-BE49-F238E27FC236}">
                  <a16:creationId xmlns:a16="http://schemas.microsoft.com/office/drawing/2014/main" id="{30A2AEE7-ABC3-F292-CD18-183461B8C80D}"/>
                </a:ext>
              </a:extLst>
            </p:cNvPr>
            <p:cNvSpPr>
              <a:spLocks noChangeArrowheads="1"/>
            </p:cNvSpPr>
            <p:nvPr/>
          </p:nvSpPr>
          <p:spPr bwMode="auto">
            <a:xfrm>
              <a:off x="7321506" y="2690336"/>
              <a:ext cx="4732839"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kumimoji="0" lang="ja-JP" altLang="ja-JP" sz="1800" b="1" i="0" u="none" strike="noStrike" cap="none" normalizeH="0" baseline="0">
                  <a:ln>
                    <a:noFill/>
                  </a:ln>
                  <a:solidFill>
                    <a:schemeClr val="tx1"/>
                  </a:solidFill>
                  <a:effectLst/>
                  <a:latin typeface="Arial" panose="020B0604020202020204" pitchFamily="34" charset="0"/>
                  <a:cs typeface="Arial" panose="020B0604020202020204" pitchFamily="34" charset="0"/>
                </a:rPr>
                <a:t>🧹 </a:t>
              </a:r>
              <a:r>
                <a:rPr lang="en-US" altLang="ja-JP" b="1">
                  <a:latin typeface="Arial" panose="020B0604020202020204" pitchFamily="34" charset="0"/>
                  <a:cs typeface="Arial" panose="020B0604020202020204" pitchFamily="34" charset="0"/>
                </a:rPr>
                <a:t>Outliers:</a:t>
              </a:r>
            </a:p>
            <a:p>
              <a:pPr lvl="0" defTabSz="914400" eaLnBrk="0" fontAlgn="base" hangingPunct="0">
                <a:spcBef>
                  <a:spcPct val="0"/>
                </a:spcBef>
                <a:spcAft>
                  <a:spcPct val="0"/>
                </a:spcAft>
              </a:pPr>
              <a:r>
                <a:rPr lang="en-US" altLang="ja-JP">
                  <a:latin typeface="Arial" panose="020B0604020202020204" pitchFamily="34" charset="0"/>
                  <a:cs typeface="Arial" panose="020B0604020202020204" pitchFamily="34" charset="0"/>
                </a:rPr>
                <a:t>SkLearn: Lọc dựa trên tri thức thực tế (ví dụ: diện tích &lt; 500m2).</a:t>
              </a:r>
            </a:p>
            <a:p>
              <a:pPr lvl="0" defTabSz="914400" eaLnBrk="0" fontAlgn="base" hangingPunct="0">
                <a:spcBef>
                  <a:spcPct val="0"/>
                </a:spcBef>
                <a:spcAft>
                  <a:spcPct val="0"/>
                </a:spcAft>
              </a:pPr>
              <a:r>
                <a:rPr lang="en-US" altLang="ja-JP">
                  <a:latin typeface="Arial" panose="020B0604020202020204" pitchFamily="34" charset="0"/>
                  <a:cs typeface="Arial" panose="020B0604020202020204" pitchFamily="34" charset="0"/>
                </a:rPr>
                <a:t>PySpark: </a:t>
              </a:r>
              <a:r>
                <a:rPr lang="vi-VN" altLang="ja-JP">
                  <a:latin typeface="Arial" panose="020B0604020202020204" pitchFamily="34" charset="0"/>
                  <a:cs typeface="Arial" panose="020B0604020202020204" pitchFamily="34" charset="0"/>
                </a:rPr>
                <a:t>Tự động xác định ngưỡng dựa trên phân vị (P10 - P90).</a:t>
              </a:r>
              <a:endParaRPr lang="ja-JP" altLang="ja-JP">
                <a:latin typeface="Arial" panose="020B0604020202020204" pitchFamily="34" charset="0"/>
                <a:cs typeface="Arial" panose="020B0604020202020204" pitchFamily="34" charset="0"/>
              </a:endParaRPr>
            </a:p>
          </p:txBody>
        </p:sp>
        <p:sp>
          <p:nvSpPr>
            <p:cNvPr id="6" name="Rectangle 1">
              <a:extLst>
                <a:ext uri="{FF2B5EF4-FFF2-40B4-BE49-F238E27FC236}">
                  <a16:creationId xmlns:a16="http://schemas.microsoft.com/office/drawing/2014/main" id="{7C07BEB9-4FE9-DCE2-14E1-20BC8373930B}"/>
                </a:ext>
              </a:extLst>
            </p:cNvPr>
            <p:cNvSpPr>
              <a:spLocks noChangeArrowheads="1"/>
            </p:cNvSpPr>
            <p:nvPr/>
          </p:nvSpPr>
          <p:spPr bwMode="auto">
            <a:xfrm>
              <a:off x="7336257" y="4746117"/>
              <a:ext cx="4718088" cy="92333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kumimoji="0" lang="ja-JP" altLang="ja-JP" sz="1800" b="1" i="0" u="none" strike="noStrike" cap="none" normalizeH="0" baseline="0">
                  <a:ln>
                    <a:noFill/>
                  </a:ln>
                  <a:solidFill>
                    <a:schemeClr val="tx1"/>
                  </a:solidFill>
                  <a:effectLst/>
                  <a:latin typeface="Arial" panose="020B0604020202020204" pitchFamily="34" charset="0"/>
                  <a:cs typeface="Arial" panose="020B0604020202020204" pitchFamily="34" charset="0"/>
                </a:rPr>
                <a:t>🛠</a:t>
              </a:r>
              <a:r>
                <a:rPr kumimoji="0" lang="en-US" altLang="ja-JP" sz="1800" b="1" i="0" u="none" strike="noStrike" cap="none" normalizeH="0" baseline="0">
                  <a:ln>
                    <a:noFill/>
                  </a:ln>
                  <a:solidFill>
                    <a:schemeClr val="tx1"/>
                  </a:solidFill>
                  <a:effectLst/>
                  <a:latin typeface="Arial" panose="020B0604020202020204" pitchFamily="34" charset="0"/>
                  <a:cs typeface="Arial" panose="020B0604020202020204" pitchFamily="34" charset="0"/>
                </a:rPr>
                <a:t> </a:t>
              </a:r>
              <a:r>
                <a:rPr lang="en-US" altLang="ja-JP" b="1">
                  <a:latin typeface="Arial" panose="020B0604020202020204" pitchFamily="34" charset="0"/>
                  <a:cs typeface="Arial" panose="020B0604020202020204" pitchFamily="34" charset="0"/>
                </a:rPr>
                <a:t>Encoding:</a:t>
              </a:r>
            </a:p>
            <a:p>
              <a:pPr lvl="0" defTabSz="914400" eaLnBrk="0" fontAlgn="base" hangingPunct="0">
                <a:spcBef>
                  <a:spcPct val="0"/>
                </a:spcBef>
                <a:spcAft>
                  <a:spcPct val="0"/>
                </a:spcAft>
              </a:pPr>
              <a:r>
                <a:rPr lang="en-US" altLang="ja-JP">
                  <a:latin typeface="Arial" panose="020B0604020202020204" pitchFamily="34" charset="0"/>
                  <a:cs typeface="Arial" panose="020B0604020202020204" pitchFamily="34" charset="0"/>
                </a:rPr>
                <a:t>SkLearn: Dùng get_dummies mở rộng bảng.</a:t>
              </a:r>
            </a:p>
            <a:p>
              <a:pPr lvl="0" defTabSz="914400" eaLnBrk="0" fontAlgn="base" hangingPunct="0">
                <a:spcBef>
                  <a:spcPct val="0"/>
                </a:spcBef>
                <a:spcAft>
                  <a:spcPct val="0"/>
                </a:spcAft>
              </a:pPr>
              <a:r>
                <a:rPr lang="en-US" altLang="ja-JP">
                  <a:latin typeface="Arial" panose="020B0604020202020204" pitchFamily="34" charset="0"/>
                  <a:cs typeface="Arial" panose="020B0604020202020204" pitchFamily="34" charset="0"/>
                </a:rPr>
                <a:t>PySpark: Nén dữ liệu vào Sparse Vector.</a:t>
              </a:r>
              <a:endParaRPr lang="ja-JP" altLang="ja-JP">
                <a:latin typeface="Arial" panose="020B0604020202020204" pitchFamily="34" charset="0"/>
                <a:cs typeface="Arial" panose="020B0604020202020204" pitchFamily="34" charset="0"/>
              </a:endParaRPr>
            </a:p>
          </p:txBody>
        </p:sp>
        <p:cxnSp>
          <p:nvCxnSpPr>
            <p:cNvPr id="10" name="Straight Arrow Connector 9">
              <a:extLst>
                <a:ext uri="{FF2B5EF4-FFF2-40B4-BE49-F238E27FC236}">
                  <a16:creationId xmlns:a16="http://schemas.microsoft.com/office/drawing/2014/main" id="{BCBADEB4-9D79-864E-9967-ADF13EDC04CD}"/>
                </a:ext>
              </a:extLst>
            </p:cNvPr>
            <p:cNvCxnSpPr>
              <a:cxnSpLocks/>
              <a:stCxn id="5" idx="2"/>
              <a:endCxn id="7" idx="0"/>
            </p:cNvCxnSpPr>
            <p:nvPr/>
          </p:nvCxnSpPr>
          <p:spPr>
            <a:xfrm>
              <a:off x="3387213" y="1468312"/>
              <a:ext cx="0" cy="64728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0A61A61-86A8-5D65-96D6-91358396FDEB}"/>
                </a:ext>
              </a:extLst>
            </p:cNvPr>
            <p:cNvCxnSpPr>
              <a:cxnSpLocks/>
              <a:stCxn id="7" idx="2"/>
              <a:endCxn id="9" idx="0"/>
            </p:cNvCxnSpPr>
            <p:nvPr/>
          </p:nvCxnSpPr>
          <p:spPr>
            <a:xfrm>
              <a:off x="3387213" y="2484930"/>
              <a:ext cx="0" cy="69333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C2486EE-FD11-033E-AAD7-85E042802807}"/>
                </a:ext>
              </a:extLst>
            </p:cNvPr>
            <p:cNvCxnSpPr>
              <a:cxnSpLocks/>
              <a:stCxn id="9" idx="2"/>
              <a:endCxn id="11" idx="0"/>
            </p:cNvCxnSpPr>
            <p:nvPr/>
          </p:nvCxnSpPr>
          <p:spPr>
            <a:xfrm flipH="1">
              <a:off x="3377379" y="3824592"/>
              <a:ext cx="9834" cy="8319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2945514-FDB7-47BE-6333-7ABDAAF1F0DD}"/>
                </a:ext>
              </a:extLst>
            </p:cNvPr>
            <p:cNvCxnSpPr>
              <a:cxnSpLocks/>
              <a:stCxn id="11" idx="2"/>
              <a:endCxn id="13" idx="0"/>
            </p:cNvCxnSpPr>
            <p:nvPr/>
          </p:nvCxnSpPr>
          <p:spPr>
            <a:xfrm flipH="1">
              <a:off x="3372462" y="5302876"/>
              <a:ext cx="4917" cy="7331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5424FC3C-2A0C-C78B-2AF6-E05197C73BCC}"/>
                </a:ext>
              </a:extLst>
            </p:cNvPr>
            <p:cNvCxnSpPr>
              <a:stCxn id="5" idx="3"/>
              <a:endCxn id="14" idx="1"/>
            </p:cNvCxnSpPr>
            <p:nvPr/>
          </p:nvCxnSpPr>
          <p:spPr>
            <a:xfrm>
              <a:off x="6331974" y="1145147"/>
              <a:ext cx="989532" cy="655898"/>
            </a:xfrm>
            <a:prstGeom prst="bentConnector3">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3ADC5877-6CE3-82E3-540B-62BAF2C08335}"/>
                </a:ext>
              </a:extLst>
            </p:cNvPr>
            <p:cNvCxnSpPr>
              <a:cxnSpLocks/>
              <a:stCxn id="5" idx="3"/>
              <a:endCxn id="4" idx="1"/>
            </p:cNvCxnSpPr>
            <p:nvPr/>
          </p:nvCxnSpPr>
          <p:spPr>
            <a:xfrm>
              <a:off x="6331974" y="1145147"/>
              <a:ext cx="989532" cy="2283853"/>
            </a:xfrm>
            <a:prstGeom prst="bent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D890F1C7-5210-BB65-36B2-8876DD51BA84}"/>
                </a:ext>
              </a:extLst>
            </p:cNvPr>
            <p:cNvCxnSpPr>
              <a:cxnSpLocks/>
              <a:stCxn id="5" idx="3"/>
              <a:endCxn id="6" idx="1"/>
            </p:cNvCxnSpPr>
            <p:nvPr/>
          </p:nvCxnSpPr>
          <p:spPr>
            <a:xfrm>
              <a:off x="6331974" y="1145147"/>
              <a:ext cx="1004283" cy="4062635"/>
            </a:xfrm>
            <a:prstGeom prst="bent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79194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4FE3A9A1-E1A5-FD79-908C-5976D2C8BE5E}"/>
              </a:ext>
            </a:extLst>
          </p:cNvPr>
          <p:cNvGrpSpPr/>
          <p:nvPr/>
        </p:nvGrpSpPr>
        <p:grpSpPr>
          <a:xfrm>
            <a:off x="2458" y="36673"/>
            <a:ext cx="12051887" cy="6368678"/>
            <a:chOff x="2458" y="36673"/>
            <a:chExt cx="12051887" cy="6368678"/>
          </a:xfrm>
        </p:grpSpPr>
        <p:sp>
          <p:nvSpPr>
            <p:cNvPr id="20" name="TextBox 19">
              <a:hlinkClick r:id="" action="ppaction://noaction" highlightClick="1"/>
              <a:hlinkHover r:id="" action="ppaction://noaction" highlightClick="1"/>
              <a:extLst>
                <a:ext uri="{FF2B5EF4-FFF2-40B4-BE49-F238E27FC236}">
                  <a16:creationId xmlns:a16="http://schemas.microsoft.com/office/drawing/2014/main" id="{1484C66F-6289-1E90-7BF1-D6F81FCC1A7E}"/>
                </a:ext>
              </a:extLst>
            </p:cNvPr>
            <p:cNvSpPr txBox="1"/>
            <p:nvPr/>
          </p:nvSpPr>
          <p:spPr>
            <a:xfrm>
              <a:off x="442451" y="821981"/>
              <a:ext cx="5889523" cy="646331"/>
            </a:xfrm>
            <a:prstGeom prst="rect">
              <a:avLst/>
            </a:prstGeom>
            <a:noFill/>
            <a:ln>
              <a:solidFill>
                <a:schemeClr val="tx1"/>
              </a:solidFill>
            </a:ln>
          </p:spPr>
          <p:txBody>
            <a:bodyPr wrap="square">
              <a:spAutoFit/>
            </a:bodyPr>
            <a:lstStyle/>
            <a:p>
              <a:pPr algn="ctr"/>
              <a:r>
                <a:rPr lang="ja-JP" altLang="en-US"/>
                <a:t>📦 </a:t>
              </a:r>
              <a:r>
                <a:rPr lang="vi-VN" altLang="ja-JP"/>
                <a:t>BƯỚC 1: TIỀN XỬ LÝ DỮ LIỆU (PRE-PROCESSING)</a:t>
              </a:r>
              <a:endParaRPr lang="ja-JP" altLang="en-US"/>
            </a:p>
          </p:txBody>
        </p:sp>
        <p:sp>
          <p:nvSpPr>
            <p:cNvPr id="21" name="TextBox 20">
              <a:extLst>
                <a:ext uri="{FF2B5EF4-FFF2-40B4-BE49-F238E27FC236}">
                  <a16:creationId xmlns:a16="http://schemas.microsoft.com/office/drawing/2014/main" id="{D93EC701-DF57-72F6-D0E0-08B0F69DB377}"/>
                </a:ext>
              </a:extLst>
            </p:cNvPr>
            <p:cNvSpPr txBox="1"/>
            <p:nvPr/>
          </p:nvSpPr>
          <p:spPr>
            <a:xfrm>
              <a:off x="442451" y="2115598"/>
              <a:ext cx="5889523" cy="369332"/>
            </a:xfrm>
            <a:prstGeom prst="rect">
              <a:avLst/>
            </a:prstGeom>
            <a:solidFill>
              <a:srgbClr val="00B0F0"/>
            </a:solidFill>
            <a:ln>
              <a:solidFill>
                <a:schemeClr val="tx1"/>
              </a:solidFill>
            </a:ln>
          </p:spPr>
          <p:txBody>
            <a:bodyPr wrap="square">
              <a:spAutoFit/>
            </a:bodyPr>
            <a:lstStyle/>
            <a:p>
              <a:pPr algn="ctr"/>
              <a:r>
                <a:rPr lang="ja-JP" altLang="en-US"/>
                <a:t>🔍 </a:t>
              </a:r>
              <a:r>
                <a:rPr lang="vi-VN" altLang="ja-JP"/>
                <a:t>BƯỚC 2: PHÂN TÍCH KHÁM PHÁ (EDA)</a:t>
              </a:r>
              <a:endParaRPr lang="ja-JP" altLang="en-US"/>
            </a:p>
          </p:txBody>
        </p:sp>
        <p:sp>
          <p:nvSpPr>
            <p:cNvPr id="22" name="TextBox 21">
              <a:extLst>
                <a:ext uri="{FF2B5EF4-FFF2-40B4-BE49-F238E27FC236}">
                  <a16:creationId xmlns:a16="http://schemas.microsoft.com/office/drawing/2014/main" id="{7A7CB275-5779-1DEE-E7C4-09654D774C90}"/>
                </a:ext>
              </a:extLst>
            </p:cNvPr>
            <p:cNvSpPr txBox="1"/>
            <p:nvPr/>
          </p:nvSpPr>
          <p:spPr>
            <a:xfrm>
              <a:off x="442451" y="3178261"/>
              <a:ext cx="5889523" cy="646331"/>
            </a:xfrm>
            <a:prstGeom prst="rect">
              <a:avLst/>
            </a:prstGeom>
            <a:noFill/>
            <a:ln>
              <a:solidFill>
                <a:schemeClr val="tx1"/>
              </a:solidFill>
            </a:ln>
          </p:spPr>
          <p:txBody>
            <a:bodyPr wrap="square">
              <a:spAutoFit/>
            </a:bodyPr>
            <a:lstStyle/>
            <a:p>
              <a:pPr algn="ctr"/>
              <a:r>
                <a:rPr lang="ja-JP" altLang="en-US"/>
                <a:t>🤖 </a:t>
              </a:r>
              <a:r>
                <a:rPr lang="vi-VN" altLang="ja-JP"/>
                <a:t>BƯỚC 3: BÀI TOÁN 1 - DỰ BÁO GIÁ (REGRESSION)</a:t>
              </a:r>
              <a:endParaRPr lang="ja-JP" altLang="en-US"/>
            </a:p>
          </p:txBody>
        </p:sp>
        <p:sp>
          <p:nvSpPr>
            <p:cNvPr id="23" name="TextBox 22">
              <a:extLst>
                <a:ext uri="{FF2B5EF4-FFF2-40B4-BE49-F238E27FC236}">
                  <a16:creationId xmlns:a16="http://schemas.microsoft.com/office/drawing/2014/main" id="{C9BB8AE3-7F3F-0229-FBBC-08EDDC6DA57B}"/>
                </a:ext>
              </a:extLst>
            </p:cNvPr>
            <p:cNvSpPr txBox="1"/>
            <p:nvPr/>
          </p:nvSpPr>
          <p:spPr>
            <a:xfrm>
              <a:off x="373624" y="4656545"/>
              <a:ext cx="6007510" cy="646331"/>
            </a:xfrm>
            <a:prstGeom prst="rect">
              <a:avLst/>
            </a:prstGeom>
            <a:noFill/>
            <a:ln>
              <a:solidFill>
                <a:schemeClr val="tx1"/>
              </a:solidFill>
            </a:ln>
          </p:spPr>
          <p:txBody>
            <a:bodyPr wrap="square">
              <a:spAutoFit/>
            </a:bodyPr>
            <a:lstStyle/>
            <a:p>
              <a:pPr algn="ctr"/>
              <a:r>
                <a:rPr lang="ja-JP" altLang="en-US"/>
                <a:t>🚩 </a:t>
              </a:r>
              <a:r>
                <a:rPr lang="vi-VN" altLang="ja-JP"/>
                <a:t>BƯỚC 4: BÀI TOÁN 2 - PHÁT HIỆN BẤT THƯỜNG (ANOMALY)</a:t>
              </a:r>
              <a:endParaRPr lang="ja-JP" altLang="en-US"/>
            </a:p>
          </p:txBody>
        </p:sp>
        <p:sp>
          <p:nvSpPr>
            <p:cNvPr id="24" name="TextBox 23">
              <a:extLst>
                <a:ext uri="{FF2B5EF4-FFF2-40B4-BE49-F238E27FC236}">
                  <a16:creationId xmlns:a16="http://schemas.microsoft.com/office/drawing/2014/main" id="{324CB54E-CAD3-0BE8-7F95-D8BAE2BAC60F}"/>
                </a:ext>
              </a:extLst>
            </p:cNvPr>
            <p:cNvSpPr txBox="1"/>
            <p:nvPr/>
          </p:nvSpPr>
          <p:spPr>
            <a:xfrm>
              <a:off x="324462" y="6036019"/>
              <a:ext cx="6096000" cy="369332"/>
            </a:xfrm>
            <a:prstGeom prst="rect">
              <a:avLst/>
            </a:prstGeom>
            <a:noFill/>
            <a:ln>
              <a:solidFill>
                <a:schemeClr val="tx1"/>
              </a:solidFill>
            </a:ln>
          </p:spPr>
          <p:txBody>
            <a:bodyPr wrap="square">
              <a:spAutoFit/>
            </a:bodyPr>
            <a:lstStyle/>
            <a:p>
              <a:pPr algn="ctr"/>
              <a:r>
                <a:rPr lang="ja-JP" altLang="en-US"/>
                <a:t>🚀 </a:t>
              </a:r>
              <a:r>
                <a:rPr lang="vi-VN" altLang="ja-JP"/>
                <a:t>BƯỚC 5: KẾT LUẬN &amp; ĐÓNG GÓI</a:t>
              </a:r>
              <a:endParaRPr lang="ja-JP" altLang="en-US"/>
            </a:p>
          </p:txBody>
        </p:sp>
        <p:sp>
          <p:nvSpPr>
            <p:cNvPr id="25" name="Rectangle 1">
              <a:extLst>
                <a:ext uri="{FF2B5EF4-FFF2-40B4-BE49-F238E27FC236}">
                  <a16:creationId xmlns:a16="http://schemas.microsoft.com/office/drawing/2014/main" id="{CAEC161C-DFA7-E4A8-6242-6CF946BAD380}"/>
                </a:ext>
              </a:extLst>
            </p:cNvPr>
            <p:cNvSpPr>
              <a:spLocks noChangeArrowheads="1"/>
            </p:cNvSpPr>
            <p:nvPr/>
          </p:nvSpPr>
          <p:spPr bwMode="auto">
            <a:xfrm>
              <a:off x="7548713" y="2277348"/>
              <a:ext cx="4505632"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ja-JP" altLang="en-US" b="1">
                  <a:latin typeface="Arial" panose="020B0604020202020204" pitchFamily="34" charset="0"/>
                  <a:cs typeface="Arial" panose="020B0604020202020204" pitchFamily="34" charset="0"/>
                </a:rPr>
                <a:t>📈 </a:t>
              </a:r>
              <a:r>
                <a:rPr lang="en-US" altLang="ja-JP" b="1">
                  <a:latin typeface="Arial" panose="020B0604020202020204" pitchFamily="34" charset="0"/>
                  <a:cs typeface="Arial" panose="020B0604020202020204" pitchFamily="34" charset="0"/>
                </a:rPr>
                <a:t>Thống kê:</a:t>
              </a:r>
            </a:p>
            <a:p>
              <a:pPr lvl="0" defTabSz="914400" eaLnBrk="0" fontAlgn="base" hangingPunct="0">
                <a:spcBef>
                  <a:spcPct val="0"/>
                </a:spcBef>
                <a:spcAft>
                  <a:spcPct val="0"/>
                </a:spcAft>
              </a:pPr>
              <a:r>
                <a:rPr lang="en-US" altLang="ja-JP">
                  <a:latin typeface="Arial" panose="020B0604020202020204" pitchFamily="34" charset="0"/>
                  <a:cs typeface="Arial" panose="020B0604020202020204" pitchFamily="34" charset="0"/>
                </a:rPr>
                <a:t>SkLearn: Dùng Describe, Info trên toàn bộ tập dữ liệu.</a:t>
              </a:r>
            </a:p>
            <a:p>
              <a:pPr lvl="0" defTabSz="914400" eaLnBrk="0" fontAlgn="base" hangingPunct="0">
                <a:spcBef>
                  <a:spcPct val="0"/>
                </a:spcBef>
                <a:spcAft>
                  <a:spcPct val="0"/>
                </a:spcAft>
              </a:pPr>
              <a:r>
                <a:rPr lang="en-US" altLang="ja-JP">
                  <a:latin typeface="Arial" panose="020B0604020202020204" pitchFamily="34" charset="0"/>
                  <a:cs typeface="Arial" panose="020B0604020202020204" pitchFamily="34" charset="0"/>
                </a:rPr>
                <a:t>PySpark: Dùng Summary, approxQuantile cho dữ liệu lớn.</a:t>
              </a:r>
              <a:endParaRPr kumimoji="0" lang="ja-JP" altLang="ja-JP"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D08C975F-9502-4B14-2095-9DE50816A244}"/>
                </a:ext>
              </a:extLst>
            </p:cNvPr>
            <p:cNvSpPr txBox="1"/>
            <p:nvPr/>
          </p:nvSpPr>
          <p:spPr>
            <a:xfrm>
              <a:off x="2458" y="36673"/>
              <a:ext cx="6769508" cy="646331"/>
            </a:xfrm>
            <a:prstGeom prst="rect">
              <a:avLst/>
            </a:prstGeom>
            <a:noFill/>
          </p:spPr>
          <p:txBody>
            <a:bodyPr wrap="square">
              <a:spAutoFit/>
            </a:bodyPr>
            <a:lstStyle/>
            <a:p>
              <a:r>
                <a:rPr lang="en-US" altLang="ja-JP" sz="3600" b="1"/>
                <a:t>2. QUY TRÌNH TRIỂN KHAI DỰ ÁN</a:t>
              </a:r>
              <a:endParaRPr lang="ja-JP" altLang="en-US" sz="3600" b="1"/>
            </a:p>
          </p:txBody>
        </p:sp>
        <p:sp>
          <p:nvSpPr>
            <p:cNvPr id="27" name="Rectangle 1">
              <a:extLst>
                <a:ext uri="{FF2B5EF4-FFF2-40B4-BE49-F238E27FC236}">
                  <a16:creationId xmlns:a16="http://schemas.microsoft.com/office/drawing/2014/main" id="{D70B2312-AEF0-64D6-F2CE-67EEFD0B1992}"/>
                </a:ext>
              </a:extLst>
            </p:cNvPr>
            <p:cNvSpPr>
              <a:spLocks noChangeArrowheads="1"/>
            </p:cNvSpPr>
            <p:nvPr/>
          </p:nvSpPr>
          <p:spPr bwMode="auto">
            <a:xfrm>
              <a:off x="7548714" y="4142239"/>
              <a:ext cx="4505631"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ja-JP" altLang="en-US" b="1">
                  <a:latin typeface="Arial" panose="020B0604020202020204" pitchFamily="34" charset="0"/>
                  <a:cs typeface="Arial" panose="020B0604020202020204" pitchFamily="34" charset="0"/>
                </a:rPr>
                <a:t>📊 </a:t>
              </a:r>
              <a:r>
                <a:rPr lang="vi-VN" altLang="ja-JP" b="1">
                  <a:latin typeface="Arial" panose="020B0604020202020204" pitchFamily="34" charset="0"/>
                  <a:cs typeface="Arial" panose="020B0604020202020204" pitchFamily="34" charset="0"/>
                </a:rPr>
                <a:t>Trực quan hóa</a:t>
              </a:r>
              <a:r>
                <a:rPr lang="en-US" altLang="ja-JP" b="1">
                  <a:latin typeface="Arial" panose="020B0604020202020204" pitchFamily="34" charset="0"/>
                  <a:cs typeface="Arial" panose="020B0604020202020204" pitchFamily="34" charset="0"/>
                </a:rPr>
                <a:t>:</a:t>
              </a:r>
            </a:p>
            <a:p>
              <a:pPr lvl="0" defTabSz="914400" eaLnBrk="0" fontAlgn="base" hangingPunct="0">
                <a:spcBef>
                  <a:spcPct val="0"/>
                </a:spcBef>
                <a:spcAft>
                  <a:spcPct val="0"/>
                </a:spcAft>
              </a:pPr>
              <a:r>
                <a:rPr lang="en-US" altLang="ja-JP">
                  <a:latin typeface="Arial" panose="020B0604020202020204" pitchFamily="34" charset="0"/>
                  <a:cs typeface="Arial" panose="020B0604020202020204" pitchFamily="34" charset="0"/>
                </a:rPr>
                <a:t>SkLearn: </a:t>
              </a:r>
              <a:r>
                <a:rPr lang="vi-VN" altLang="ja-JP">
                  <a:latin typeface="Arial" panose="020B0604020202020204" pitchFamily="34" charset="0"/>
                  <a:cs typeface="Arial" panose="020B0604020202020204" pitchFamily="34" charset="0"/>
                </a:rPr>
                <a:t>Dùng Seaborn, Matplotlib vẽ biểu đồ mật độ, tương quan.</a:t>
              </a:r>
              <a:endParaRPr lang="en-US" altLang="ja-JP">
                <a:latin typeface="Arial" panose="020B0604020202020204" pitchFamily="34" charset="0"/>
                <a:cs typeface="Arial" panose="020B0604020202020204" pitchFamily="34" charset="0"/>
              </a:endParaRPr>
            </a:p>
            <a:p>
              <a:pPr lvl="0" defTabSz="914400" eaLnBrk="0" fontAlgn="base" hangingPunct="0">
                <a:spcBef>
                  <a:spcPct val="0"/>
                </a:spcBef>
                <a:spcAft>
                  <a:spcPct val="0"/>
                </a:spcAft>
              </a:pPr>
              <a:r>
                <a:rPr lang="en-US" altLang="ja-JP">
                  <a:latin typeface="Arial" panose="020B0604020202020204" pitchFamily="34" charset="0"/>
                  <a:cs typeface="Arial" panose="020B0604020202020204" pitchFamily="34" charset="0"/>
                </a:rPr>
                <a:t>PySpark: Chuyển mẫu dữ liệu về Pandas để vẽ hoặc dùng Pandas-on-Spark.</a:t>
              </a:r>
              <a:endParaRPr kumimoji="0" lang="ja-JP" altLang="ja-JP"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cxnSp>
          <p:nvCxnSpPr>
            <p:cNvPr id="29" name="Straight Arrow Connector 28">
              <a:extLst>
                <a:ext uri="{FF2B5EF4-FFF2-40B4-BE49-F238E27FC236}">
                  <a16:creationId xmlns:a16="http://schemas.microsoft.com/office/drawing/2014/main" id="{EB2DFF7F-A4EB-0069-D07D-89AC39534F60}"/>
                </a:ext>
              </a:extLst>
            </p:cNvPr>
            <p:cNvCxnSpPr>
              <a:cxnSpLocks/>
              <a:stCxn id="20" idx="2"/>
              <a:endCxn id="21" idx="0"/>
            </p:cNvCxnSpPr>
            <p:nvPr/>
          </p:nvCxnSpPr>
          <p:spPr>
            <a:xfrm>
              <a:off x="3387213" y="1468312"/>
              <a:ext cx="0" cy="64728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DD09C9F-2E76-17A8-664A-F1906EDA6D2F}"/>
                </a:ext>
              </a:extLst>
            </p:cNvPr>
            <p:cNvCxnSpPr>
              <a:cxnSpLocks/>
              <a:stCxn id="21" idx="2"/>
              <a:endCxn id="22" idx="0"/>
            </p:cNvCxnSpPr>
            <p:nvPr/>
          </p:nvCxnSpPr>
          <p:spPr>
            <a:xfrm>
              <a:off x="3387213" y="2484930"/>
              <a:ext cx="0" cy="69333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6A31288-BBD9-3207-BFD8-0151619F6312}"/>
                </a:ext>
              </a:extLst>
            </p:cNvPr>
            <p:cNvCxnSpPr>
              <a:cxnSpLocks/>
              <a:stCxn id="22" idx="2"/>
              <a:endCxn id="23" idx="0"/>
            </p:cNvCxnSpPr>
            <p:nvPr/>
          </p:nvCxnSpPr>
          <p:spPr>
            <a:xfrm flipH="1">
              <a:off x="3377379" y="3824592"/>
              <a:ext cx="9834" cy="8319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335E6A3-33D0-DF96-AF2F-82295EB61674}"/>
                </a:ext>
              </a:extLst>
            </p:cNvPr>
            <p:cNvCxnSpPr>
              <a:cxnSpLocks/>
              <a:stCxn id="23" idx="2"/>
              <a:endCxn id="24" idx="0"/>
            </p:cNvCxnSpPr>
            <p:nvPr/>
          </p:nvCxnSpPr>
          <p:spPr>
            <a:xfrm flipH="1">
              <a:off x="3372462" y="5302876"/>
              <a:ext cx="4917" cy="7331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3AE2ACDC-383E-153C-0B6E-754C71580571}"/>
                </a:ext>
              </a:extLst>
            </p:cNvPr>
            <p:cNvCxnSpPr>
              <a:cxnSpLocks/>
              <a:stCxn id="21" idx="3"/>
              <a:endCxn id="25" idx="1"/>
            </p:cNvCxnSpPr>
            <p:nvPr/>
          </p:nvCxnSpPr>
          <p:spPr>
            <a:xfrm>
              <a:off x="6331974" y="2300264"/>
              <a:ext cx="1216739" cy="715748"/>
            </a:xfrm>
            <a:prstGeom prst="bentConnector3">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3D421761-BE73-11AE-D24E-626971148B27}"/>
                </a:ext>
              </a:extLst>
            </p:cNvPr>
            <p:cNvCxnSpPr>
              <a:cxnSpLocks/>
              <a:stCxn id="21" idx="3"/>
              <a:endCxn id="27" idx="1"/>
            </p:cNvCxnSpPr>
            <p:nvPr/>
          </p:nvCxnSpPr>
          <p:spPr>
            <a:xfrm>
              <a:off x="6331974" y="2300264"/>
              <a:ext cx="1216740" cy="2580639"/>
            </a:xfrm>
            <a:prstGeom prst="bent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65013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4FE3A9A1-E1A5-FD79-908C-5976D2C8BE5E}"/>
              </a:ext>
            </a:extLst>
          </p:cNvPr>
          <p:cNvGrpSpPr/>
          <p:nvPr/>
        </p:nvGrpSpPr>
        <p:grpSpPr>
          <a:xfrm>
            <a:off x="2458" y="36673"/>
            <a:ext cx="12051887" cy="6368678"/>
            <a:chOff x="2458" y="36673"/>
            <a:chExt cx="12051887" cy="6368678"/>
          </a:xfrm>
        </p:grpSpPr>
        <p:sp>
          <p:nvSpPr>
            <p:cNvPr id="20" name="TextBox 19">
              <a:hlinkClick r:id="" action="ppaction://noaction" highlightClick="1"/>
              <a:hlinkHover r:id="" action="ppaction://noaction" highlightClick="1"/>
              <a:extLst>
                <a:ext uri="{FF2B5EF4-FFF2-40B4-BE49-F238E27FC236}">
                  <a16:creationId xmlns:a16="http://schemas.microsoft.com/office/drawing/2014/main" id="{1484C66F-6289-1E90-7BF1-D6F81FCC1A7E}"/>
                </a:ext>
              </a:extLst>
            </p:cNvPr>
            <p:cNvSpPr txBox="1"/>
            <p:nvPr/>
          </p:nvSpPr>
          <p:spPr>
            <a:xfrm>
              <a:off x="442451" y="821981"/>
              <a:ext cx="5889523" cy="646331"/>
            </a:xfrm>
            <a:prstGeom prst="rect">
              <a:avLst/>
            </a:prstGeom>
            <a:noFill/>
            <a:ln>
              <a:solidFill>
                <a:schemeClr val="tx1"/>
              </a:solidFill>
            </a:ln>
          </p:spPr>
          <p:txBody>
            <a:bodyPr wrap="square">
              <a:spAutoFit/>
            </a:bodyPr>
            <a:lstStyle/>
            <a:p>
              <a:pPr algn="ctr"/>
              <a:r>
                <a:rPr lang="ja-JP" altLang="en-US"/>
                <a:t>📦 </a:t>
              </a:r>
              <a:r>
                <a:rPr lang="vi-VN" altLang="ja-JP"/>
                <a:t>BƯỚC 1: TIỀN XỬ LÝ DỮ LIỆU (PRE-PROCESSING)</a:t>
              </a:r>
              <a:endParaRPr lang="ja-JP" altLang="en-US"/>
            </a:p>
          </p:txBody>
        </p:sp>
        <p:sp>
          <p:nvSpPr>
            <p:cNvPr id="21" name="TextBox 20">
              <a:extLst>
                <a:ext uri="{FF2B5EF4-FFF2-40B4-BE49-F238E27FC236}">
                  <a16:creationId xmlns:a16="http://schemas.microsoft.com/office/drawing/2014/main" id="{D93EC701-DF57-72F6-D0E0-08B0F69DB377}"/>
                </a:ext>
              </a:extLst>
            </p:cNvPr>
            <p:cNvSpPr txBox="1"/>
            <p:nvPr/>
          </p:nvSpPr>
          <p:spPr>
            <a:xfrm>
              <a:off x="442451" y="2115598"/>
              <a:ext cx="5889523" cy="369332"/>
            </a:xfrm>
            <a:prstGeom prst="rect">
              <a:avLst/>
            </a:prstGeom>
            <a:noFill/>
            <a:ln>
              <a:solidFill>
                <a:schemeClr val="tx1"/>
              </a:solidFill>
            </a:ln>
          </p:spPr>
          <p:txBody>
            <a:bodyPr wrap="square">
              <a:spAutoFit/>
            </a:bodyPr>
            <a:lstStyle/>
            <a:p>
              <a:pPr algn="ctr"/>
              <a:r>
                <a:rPr lang="ja-JP" altLang="en-US"/>
                <a:t>🔍 </a:t>
              </a:r>
              <a:r>
                <a:rPr lang="vi-VN" altLang="ja-JP"/>
                <a:t>BƯỚC 2: PHÂN TÍCH KHÁM PHÁ (EDA)</a:t>
              </a:r>
              <a:endParaRPr lang="ja-JP" altLang="en-US"/>
            </a:p>
          </p:txBody>
        </p:sp>
        <p:sp>
          <p:nvSpPr>
            <p:cNvPr id="22" name="TextBox 21">
              <a:extLst>
                <a:ext uri="{FF2B5EF4-FFF2-40B4-BE49-F238E27FC236}">
                  <a16:creationId xmlns:a16="http://schemas.microsoft.com/office/drawing/2014/main" id="{7A7CB275-5779-1DEE-E7C4-09654D774C90}"/>
                </a:ext>
              </a:extLst>
            </p:cNvPr>
            <p:cNvSpPr txBox="1"/>
            <p:nvPr/>
          </p:nvSpPr>
          <p:spPr>
            <a:xfrm>
              <a:off x="442451" y="3178261"/>
              <a:ext cx="5889523" cy="646331"/>
            </a:xfrm>
            <a:prstGeom prst="rect">
              <a:avLst/>
            </a:prstGeom>
            <a:solidFill>
              <a:srgbClr val="00B0F0"/>
            </a:solidFill>
            <a:ln>
              <a:solidFill>
                <a:schemeClr val="tx1"/>
              </a:solidFill>
            </a:ln>
          </p:spPr>
          <p:txBody>
            <a:bodyPr wrap="square">
              <a:spAutoFit/>
            </a:bodyPr>
            <a:lstStyle/>
            <a:p>
              <a:pPr algn="ctr"/>
              <a:r>
                <a:rPr lang="ja-JP" altLang="en-US"/>
                <a:t>🤖 </a:t>
              </a:r>
              <a:r>
                <a:rPr lang="vi-VN" altLang="ja-JP"/>
                <a:t>BƯỚC 3: BÀI TOÁN 1 - DỰ BÁO GIÁ (REGRESSION)</a:t>
              </a:r>
              <a:endParaRPr lang="ja-JP" altLang="en-US"/>
            </a:p>
          </p:txBody>
        </p:sp>
        <p:sp>
          <p:nvSpPr>
            <p:cNvPr id="23" name="TextBox 22">
              <a:extLst>
                <a:ext uri="{FF2B5EF4-FFF2-40B4-BE49-F238E27FC236}">
                  <a16:creationId xmlns:a16="http://schemas.microsoft.com/office/drawing/2014/main" id="{C9BB8AE3-7F3F-0229-FBBC-08EDDC6DA57B}"/>
                </a:ext>
              </a:extLst>
            </p:cNvPr>
            <p:cNvSpPr txBox="1"/>
            <p:nvPr/>
          </p:nvSpPr>
          <p:spPr>
            <a:xfrm>
              <a:off x="373624" y="4656545"/>
              <a:ext cx="6007510" cy="646331"/>
            </a:xfrm>
            <a:prstGeom prst="rect">
              <a:avLst/>
            </a:prstGeom>
            <a:noFill/>
            <a:ln>
              <a:solidFill>
                <a:schemeClr val="tx1"/>
              </a:solidFill>
            </a:ln>
          </p:spPr>
          <p:txBody>
            <a:bodyPr wrap="square">
              <a:spAutoFit/>
            </a:bodyPr>
            <a:lstStyle/>
            <a:p>
              <a:pPr algn="ctr"/>
              <a:r>
                <a:rPr lang="ja-JP" altLang="en-US"/>
                <a:t>🚩 </a:t>
              </a:r>
              <a:r>
                <a:rPr lang="vi-VN" altLang="ja-JP"/>
                <a:t>BƯỚC 4: BÀI TOÁN 2 - PHÁT HIỆN BẤT THƯỜNG (ANOMALY)</a:t>
              </a:r>
              <a:endParaRPr lang="ja-JP" altLang="en-US"/>
            </a:p>
          </p:txBody>
        </p:sp>
        <p:sp>
          <p:nvSpPr>
            <p:cNvPr id="24" name="TextBox 23">
              <a:extLst>
                <a:ext uri="{FF2B5EF4-FFF2-40B4-BE49-F238E27FC236}">
                  <a16:creationId xmlns:a16="http://schemas.microsoft.com/office/drawing/2014/main" id="{324CB54E-CAD3-0BE8-7F95-D8BAE2BAC60F}"/>
                </a:ext>
              </a:extLst>
            </p:cNvPr>
            <p:cNvSpPr txBox="1"/>
            <p:nvPr/>
          </p:nvSpPr>
          <p:spPr>
            <a:xfrm>
              <a:off x="324462" y="6036019"/>
              <a:ext cx="6096000" cy="369332"/>
            </a:xfrm>
            <a:prstGeom prst="rect">
              <a:avLst/>
            </a:prstGeom>
            <a:noFill/>
            <a:ln>
              <a:solidFill>
                <a:schemeClr val="tx1"/>
              </a:solidFill>
            </a:ln>
          </p:spPr>
          <p:txBody>
            <a:bodyPr wrap="square">
              <a:spAutoFit/>
            </a:bodyPr>
            <a:lstStyle/>
            <a:p>
              <a:pPr algn="ctr"/>
              <a:r>
                <a:rPr lang="ja-JP" altLang="en-US"/>
                <a:t>🚀 </a:t>
              </a:r>
              <a:r>
                <a:rPr lang="vi-VN" altLang="ja-JP"/>
                <a:t>BƯỚC 5: KẾT LUẬN &amp; ĐÓNG GÓI</a:t>
              </a:r>
              <a:endParaRPr lang="ja-JP" altLang="en-US"/>
            </a:p>
          </p:txBody>
        </p:sp>
        <p:sp>
          <p:nvSpPr>
            <p:cNvPr id="25" name="Rectangle 1">
              <a:extLst>
                <a:ext uri="{FF2B5EF4-FFF2-40B4-BE49-F238E27FC236}">
                  <a16:creationId xmlns:a16="http://schemas.microsoft.com/office/drawing/2014/main" id="{CAEC161C-DFA7-E4A8-6242-6CF946BAD380}"/>
                </a:ext>
              </a:extLst>
            </p:cNvPr>
            <p:cNvSpPr>
              <a:spLocks noChangeArrowheads="1"/>
            </p:cNvSpPr>
            <p:nvPr/>
          </p:nvSpPr>
          <p:spPr bwMode="auto">
            <a:xfrm>
              <a:off x="7548713" y="1751194"/>
              <a:ext cx="4505632" cy="20313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ja-JP" altLang="en-US" b="1">
                  <a:latin typeface="Arial" panose="020B0604020202020204" pitchFamily="34" charset="0"/>
                  <a:cs typeface="Arial" panose="020B0604020202020204" pitchFamily="34" charset="0"/>
                </a:rPr>
                <a:t>🏗 </a:t>
              </a:r>
              <a:r>
                <a:rPr lang="en-US" altLang="ja-JP" b="1">
                  <a:latin typeface="Arial" panose="020B0604020202020204" pitchFamily="34" charset="0"/>
                  <a:cs typeface="Arial" panose="020B0604020202020204" pitchFamily="34" charset="0"/>
                </a:rPr>
                <a:t>Modeling:</a:t>
              </a:r>
            </a:p>
            <a:p>
              <a:pPr lvl="0" defTabSz="914400" eaLnBrk="0" fontAlgn="base" hangingPunct="0">
                <a:spcBef>
                  <a:spcPct val="0"/>
                </a:spcBef>
                <a:spcAft>
                  <a:spcPct val="0"/>
                </a:spcAft>
              </a:pPr>
              <a:r>
                <a:rPr lang="en-US" altLang="ja-JP">
                  <a:latin typeface="Arial" panose="020B0604020202020204" pitchFamily="34" charset="0"/>
                  <a:cs typeface="Arial" panose="020B0604020202020204" pitchFamily="34" charset="0"/>
                </a:rPr>
                <a:t>SkLearn: </a:t>
              </a:r>
              <a:r>
                <a:rPr lang="en-US" altLang="ja-JP" b="1">
                  <a:latin typeface="Arial" panose="020B0604020202020204" pitchFamily="34" charset="0"/>
                  <a:cs typeface="Arial" panose="020B0604020202020204" pitchFamily="34" charset="0"/>
                </a:rPr>
                <a:t>XGBoost, </a:t>
              </a:r>
              <a:r>
                <a:rPr lang="en-US" altLang="ja-JP">
                  <a:latin typeface="Arial" panose="020B0604020202020204" pitchFamily="34" charset="0"/>
                  <a:cs typeface="Arial" panose="020B0604020202020204" pitchFamily="34" charset="0"/>
                </a:rPr>
                <a:t>Random Forest, LightGBM, Gradient Boosting, Linear Regression.</a:t>
              </a:r>
            </a:p>
            <a:p>
              <a:pPr lvl="0" defTabSz="914400" eaLnBrk="0" fontAlgn="base" hangingPunct="0">
                <a:spcBef>
                  <a:spcPct val="0"/>
                </a:spcBef>
                <a:spcAft>
                  <a:spcPct val="0"/>
                </a:spcAft>
              </a:pPr>
              <a:r>
                <a:rPr lang="en-US" altLang="ja-JP">
                  <a:latin typeface="Arial" panose="020B0604020202020204" pitchFamily="34" charset="0"/>
                  <a:cs typeface="Arial" panose="020B0604020202020204" pitchFamily="34" charset="0"/>
                </a:rPr>
                <a:t>PySpark: </a:t>
              </a:r>
              <a:r>
                <a:rPr lang="en-US" altLang="ja-JP" b="1">
                  <a:latin typeface="Arial" panose="020B0604020202020204" pitchFamily="34" charset="0"/>
                  <a:cs typeface="Arial" panose="020B0604020202020204" pitchFamily="34" charset="0"/>
                </a:rPr>
                <a:t>GBTRegressor</a:t>
              </a:r>
              <a:r>
                <a:rPr lang="en-US" altLang="ja-JP">
                  <a:latin typeface="Arial" panose="020B0604020202020204" pitchFamily="34" charset="0"/>
                  <a:cs typeface="Arial" panose="020B0604020202020204" pitchFamily="34" charset="0"/>
                </a:rPr>
                <a:t>, Random Forest Regressor, Linear Regression, Decision Tree.</a:t>
              </a:r>
              <a:endParaRPr kumimoji="0" lang="ja-JP" altLang="ja-JP"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D08C975F-9502-4B14-2095-9DE50816A244}"/>
                </a:ext>
              </a:extLst>
            </p:cNvPr>
            <p:cNvSpPr txBox="1"/>
            <p:nvPr/>
          </p:nvSpPr>
          <p:spPr>
            <a:xfrm>
              <a:off x="2458" y="36673"/>
              <a:ext cx="6769508" cy="646331"/>
            </a:xfrm>
            <a:prstGeom prst="rect">
              <a:avLst/>
            </a:prstGeom>
            <a:noFill/>
          </p:spPr>
          <p:txBody>
            <a:bodyPr wrap="square">
              <a:spAutoFit/>
            </a:bodyPr>
            <a:lstStyle>
              <a:defPPr>
                <a:defRPr lang="en-US"/>
              </a:defPPr>
              <a:lvl1pPr>
                <a:defRPr sz="3600" b="1"/>
              </a:lvl1pPr>
            </a:lstStyle>
            <a:p>
              <a:r>
                <a:rPr lang="en-US" altLang="ja-JP"/>
                <a:t>2. QUY TRÌNH TRIỂN KHAI DỰ ÁN</a:t>
              </a:r>
              <a:endParaRPr lang="ja-JP" altLang="en-US"/>
            </a:p>
          </p:txBody>
        </p:sp>
        <p:sp>
          <p:nvSpPr>
            <p:cNvPr id="28" name="Rectangle 1">
              <a:extLst>
                <a:ext uri="{FF2B5EF4-FFF2-40B4-BE49-F238E27FC236}">
                  <a16:creationId xmlns:a16="http://schemas.microsoft.com/office/drawing/2014/main" id="{02957A78-239E-5C60-C0A9-92F79FF9ACA7}"/>
                </a:ext>
              </a:extLst>
            </p:cNvPr>
            <p:cNvSpPr>
              <a:spLocks noChangeArrowheads="1"/>
            </p:cNvSpPr>
            <p:nvPr/>
          </p:nvSpPr>
          <p:spPr bwMode="auto">
            <a:xfrm>
              <a:off x="7548713" y="4206634"/>
              <a:ext cx="4505632" cy="92333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ja-JP" altLang="ja-JP" b="1">
                  <a:latin typeface="Arial" panose="020B0604020202020204" pitchFamily="34" charset="0"/>
                  <a:ea typeface="Google Sans Text"/>
                  <a:cs typeface="Arial" panose="020B0604020202020204" pitchFamily="34" charset="0"/>
                </a:rPr>
                <a:t>🏆 Evaluation:</a:t>
              </a:r>
              <a:r>
                <a:rPr lang="ja-JP" altLang="ja-JP">
                  <a:latin typeface="Arial" panose="020B0604020202020204" pitchFamily="34" charset="0"/>
                  <a:cs typeface="Arial" panose="020B0604020202020204" pitchFamily="34" charset="0"/>
                </a:rPr>
                <a:t> So sánh </a:t>
              </a:r>
              <a:r>
                <a:rPr lang="ja-JP" altLang="ja-JP">
                  <a:latin typeface="Arial" panose="020B0604020202020204" pitchFamily="34" charset="0"/>
                  <a:ea typeface="Google Sans Text"/>
                  <a:cs typeface="Arial" panose="020B0604020202020204" pitchFamily="34" charset="0"/>
                </a:rPr>
                <a:t>R^2</a:t>
              </a:r>
              <a:r>
                <a:rPr lang="ja-JP" altLang="ja-JP">
                  <a:latin typeface="Arial" panose="020B0604020202020204" pitchFamily="34" charset="0"/>
                  <a:cs typeface="Arial" panose="020B0604020202020204" pitchFamily="34" charset="0"/>
                </a:rPr>
                <a:t>, MAE</a:t>
              </a:r>
              <a:r>
                <a:rPr lang="en-US" altLang="ja-JP">
                  <a:latin typeface="Arial" panose="020B0604020202020204" pitchFamily="34" charset="0"/>
                  <a:cs typeface="Arial" panose="020B0604020202020204" pitchFamily="34" charset="0"/>
                </a:rPr>
                <a:t>, RMSE</a:t>
              </a:r>
              <a:r>
                <a:rPr lang="ja-JP" altLang="ja-JP">
                  <a:latin typeface="Arial" panose="020B0604020202020204" pitchFamily="34" charset="0"/>
                  <a:cs typeface="Arial" panose="020B0604020202020204" pitchFamily="34" charset="0"/>
                </a:rPr>
                <a:t> để chọn ra "Model Vô Địch" (XGBoost).</a:t>
              </a:r>
            </a:p>
          </p:txBody>
        </p:sp>
        <p:cxnSp>
          <p:nvCxnSpPr>
            <p:cNvPr id="29" name="Straight Arrow Connector 28">
              <a:extLst>
                <a:ext uri="{FF2B5EF4-FFF2-40B4-BE49-F238E27FC236}">
                  <a16:creationId xmlns:a16="http://schemas.microsoft.com/office/drawing/2014/main" id="{EB2DFF7F-A4EB-0069-D07D-89AC39534F60}"/>
                </a:ext>
              </a:extLst>
            </p:cNvPr>
            <p:cNvCxnSpPr>
              <a:cxnSpLocks/>
              <a:stCxn id="20" idx="2"/>
              <a:endCxn id="21" idx="0"/>
            </p:cNvCxnSpPr>
            <p:nvPr/>
          </p:nvCxnSpPr>
          <p:spPr>
            <a:xfrm>
              <a:off x="3387213" y="1468312"/>
              <a:ext cx="0" cy="64728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DD09C9F-2E76-17A8-664A-F1906EDA6D2F}"/>
                </a:ext>
              </a:extLst>
            </p:cNvPr>
            <p:cNvCxnSpPr>
              <a:cxnSpLocks/>
              <a:stCxn id="21" idx="2"/>
              <a:endCxn id="22" idx="0"/>
            </p:cNvCxnSpPr>
            <p:nvPr/>
          </p:nvCxnSpPr>
          <p:spPr>
            <a:xfrm>
              <a:off x="3387213" y="2484930"/>
              <a:ext cx="0" cy="69333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6A31288-BBD9-3207-BFD8-0151619F6312}"/>
                </a:ext>
              </a:extLst>
            </p:cNvPr>
            <p:cNvCxnSpPr>
              <a:cxnSpLocks/>
              <a:stCxn id="22" idx="2"/>
              <a:endCxn id="23" idx="0"/>
            </p:cNvCxnSpPr>
            <p:nvPr/>
          </p:nvCxnSpPr>
          <p:spPr>
            <a:xfrm flipH="1">
              <a:off x="3377379" y="3824592"/>
              <a:ext cx="9834" cy="8319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335E6A3-33D0-DF96-AF2F-82295EB61674}"/>
                </a:ext>
              </a:extLst>
            </p:cNvPr>
            <p:cNvCxnSpPr>
              <a:cxnSpLocks/>
              <a:stCxn id="23" idx="2"/>
              <a:endCxn id="24" idx="0"/>
            </p:cNvCxnSpPr>
            <p:nvPr/>
          </p:nvCxnSpPr>
          <p:spPr>
            <a:xfrm flipH="1">
              <a:off x="3372462" y="5302876"/>
              <a:ext cx="4917" cy="7331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3AE2ACDC-383E-153C-0B6E-754C71580571}"/>
                </a:ext>
              </a:extLst>
            </p:cNvPr>
            <p:cNvCxnSpPr>
              <a:cxnSpLocks/>
              <a:stCxn id="22" idx="3"/>
              <a:endCxn id="25" idx="1"/>
            </p:cNvCxnSpPr>
            <p:nvPr/>
          </p:nvCxnSpPr>
          <p:spPr>
            <a:xfrm flipV="1">
              <a:off x="6331974" y="2766857"/>
              <a:ext cx="1216739" cy="734570"/>
            </a:xfrm>
            <a:prstGeom prst="bent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4166976B-3EC6-B176-11C4-11EC5E30ED3D}"/>
                </a:ext>
              </a:extLst>
            </p:cNvPr>
            <p:cNvCxnSpPr>
              <a:cxnSpLocks/>
              <a:stCxn id="22" idx="3"/>
              <a:endCxn id="28" idx="1"/>
            </p:cNvCxnSpPr>
            <p:nvPr/>
          </p:nvCxnSpPr>
          <p:spPr>
            <a:xfrm>
              <a:off x="6331974" y="3501427"/>
              <a:ext cx="1216739" cy="1166872"/>
            </a:xfrm>
            <a:prstGeom prst="bent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70427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4FE3A9A1-E1A5-FD79-908C-5976D2C8BE5E}"/>
              </a:ext>
            </a:extLst>
          </p:cNvPr>
          <p:cNvGrpSpPr/>
          <p:nvPr/>
        </p:nvGrpSpPr>
        <p:grpSpPr>
          <a:xfrm>
            <a:off x="2458" y="36673"/>
            <a:ext cx="12051887" cy="6645199"/>
            <a:chOff x="2458" y="36673"/>
            <a:chExt cx="12051887" cy="6645199"/>
          </a:xfrm>
        </p:grpSpPr>
        <p:sp>
          <p:nvSpPr>
            <p:cNvPr id="20" name="TextBox 19">
              <a:hlinkClick r:id="" action="ppaction://noaction" highlightClick="1"/>
              <a:hlinkHover r:id="" action="ppaction://noaction" highlightClick="1"/>
              <a:extLst>
                <a:ext uri="{FF2B5EF4-FFF2-40B4-BE49-F238E27FC236}">
                  <a16:creationId xmlns:a16="http://schemas.microsoft.com/office/drawing/2014/main" id="{1484C66F-6289-1E90-7BF1-D6F81FCC1A7E}"/>
                </a:ext>
              </a:extLst>
            </p:cNvPr>
            <p:cNvSpPr txBox="1"/>
            <p:nvPr/>
          </p:nvSpPr>
          <p:spPr>
            <a:xfrm>
              <a:off x="442451" y="821981"/>
              <a:ext cx="5889523" cy="646331"/>
            </a:xfrm>
            <a:prstGeom prst="rect">
              <a:avLst/>
            </a:prstGeom>
            <a:noFill/>
            <a:ln>
              <a:solidFill>
                <a:schemeClr val="tx1"/>
              </a:solidFill>
            </a:ln>
          </p:spPr>
          <p:txBody>
            <a:bodyPr wrap="square">
              <a:spAutoFit/>
            </a:bodyPr>
            <a:lstStyle/>
            <a:p>
              <a:pPr algn="ctr"/>
              <a:r>
                <a:rPr lang="ja-JP" altLang="en-US"/>
                <a:t>📦 </a:t>
              </a:r>
              <a:r>
                <a:rPr lang="vi-VN" altLang="ja-JP"/>
                <a:t>BƯỚC 1: TIỀN XỬ LÝ DỮ LIỆU (PRE-PROCESSING)</a:t>
              </a:r>
              <a:endParaRPr lang="ja-JP" altLang="en-US"/>
            </a:p>
          </p:txBody>
        </p:sp>
        <p:sp>
          <p:nvSpPr>
            <p:cNvPr id="21" name="TextBox 20">
              <a:extLst>
                <a:ext uri="{FF2B5EF4-FFF2-40B4-BE49-F238E27FC236}">
                  <a16:creationId xmlns:a16="http://schemas.microsoft.com/office/drawing/2014/main" id="{D93EC701-DF57-72F6-D0E0-08B0F69DB377}"/>
                </a:ext>
              </a:extLst>
            </p:cNvPr>
            <p:cNvSpPr txBox="1"/>
            <p:nvPr/>
          </p:nvSpPr>
          <p:spPr>
            <a:xfrm>
              <a:off x="442451" y="2115598"/>
              <a:ext cx="5889523" cy="369332"/>
            </a:xfrm>
            <a:prstGeom prst="rect">
              <a:avLst/>
            </a:prstGeom>
            <a:noFill/>
            <a:ln>
              <a:solidFill>
                <a:schemeClr val="tx1"/>
              </a:solidFill>
            </a:ln>
          </p:spPr>
          <p:txBody>
            <a:bodyPr wrap="square">
              <a:spAutoFit/>
            </a:bodyPr>
            <a:lstStyle/>
            <a:p>
              <a:pPr algn="ctr"/>
              <a:r>
                <a:rPr lang="ja-JP" altLang="en-US"/>
                <a:t>🔍 </a:t>
              </a:r>
              <a:r>
                <a:rPr lang="vi-VN" altLang="ja-JP"/>
                <a:t>BƯỚC 2: PHÂN TÍCH KHÁM PHÁ (EDA)</a:t>
              </a:r>
              <a:endParaRPr lang="ja-JP" altLang="en-US"/>
            </a:p>
          </p:txBody>
        </p:sp>
        <p:sp>
          <p:nvSpPr>
            <p:cNvPr id="22" name="TextBox 21">
              <a:extLst>
                <a:ext uri="{FF2B5EF4-FFF2-40B4-BE49-F238E27FC236}">
                  <a16:creationId xmlns:a16="http://schemas.microsoft.com/office/drawing/2014/main" id="{7A7CB275-5779-1DEE-E7C4-09654D774C90}"/>
                </a:ext>
              </a:extLst>
            </p:cNvPr>
            <p:cNvSpPr txBox="1"/>
            <p:nvPr/>
          </p:nvSpPr>
          <p:spPr>
            <a:xfrm>
              <a:off x="442451" y="3178261"/>
              <a:ext cx="5889523" cy="646331"/>
            </a:xfrm>
            <a:prstGeom prst="rect">
              <a:avLst/>
            </a:prstGeom>
            <a:noFill/>
            <a:ln>
              <a:solidFill>
                <a:schemeClr val="tx1"/>
              </a:solidFill>
            </a:ln>
          </p:spPr>
          <p:txBody>
            <a:bodyPr wrap="square">
              <a:spAutoFit/>
            </a:bodyPr>
            <a:lstStyle/>
            <a:p>
              <a:pPr algn="ctr"/>
              <a:r>
                <a:rPr lang="ja-JP" altLang="en-US"/>
                <a:t>🤖 </a:t>
              </a:r>
              <a:r>
                <a:rPr lang="vi-VN" altLang="ja-JP"/>
                <a:t>BƯỚC 3: BÀI TOÁN 1 - DỰ BÁO GIÁ (REGRESSION)</a:t>
              </a:r>
              <a:endParaRPr lang="ja-JP" altLang="en-US"/>
            </a:p>
          </p:txBody>
        </p:sp>
        <p:sp>
          <p:nvSpPr>
            <p:cNvPr id="23" name="TextBox 22">
              <a:extLst>
                <a:ext uri="{FF2B5EF4-FFF2-40B4-BE49-F238E27FC236}">
                  <a16:creationId xmlns:a16="http://schemas.microsoft.com/office/drawing/2014/main" id="{C9BB8AE3-7F3F-0229-FBBC-08EDDC6DA57B}"/>
                </a:ext>
              </a:extLst>
            </p:cNvPr>
            <p:cNvSpPr txBox="1"/>
            <p:nvPr/>
          </p:nvSpPr>
          <p:spPr>
            <a:xfrm>
              <a:off x="373624" y="4656545"/>
              <a:ext cx="6007510" cy="646331"/>
            </a:xfrm>
            <a:prstGeom prst="rect">
              <a:avLst/>
            </a:prstGeom>
            <a:solidFill>
              <a:srgbClr val="00B0F0"/>
            </a:solidFill>
            <a:ln>
              <a:solidFill>
                <a:schemeClr val="tx1"/>
              </a:solidFill>
            </a:ln>
          </p:spPr>
          <p:txBody>
            <a:bodyPr wrap="square">
              <a:spAutoFit/>
            </a:bodyPr>
            <a:lstStyle/>
            <a:p>
              <a:pPr algn="ctr"/>
              <a:r>
                <a:rPr lang="ja-JP" altLang="en-US"/>
                <a:t>🚩 </a:t>
              </a:r>
              <a:r>
                <a:rPr lang="vi-VN" altLang="ja-JP"/>
                <a:t>BƯỚC 4: BÀI TOÁN 2 - PHÁT HIỆN BẤT THƯỜNG (ANOMALY)</a:t>
              </a:r>
              <a:endParaRPr lang="ja-JP" altLang="en-US"/>
            </a:p>
          </p:txBody>
        </p:sp>
        <p:sp>
          <p:nvSpPr>
            <p:cNvPr id="24" name="TextBox 23">
              <a:extLst>
                <a:ext uri="{FF2B5EF4-FFF2-40B4-BE49-F238E27FC236}">
                  <a16:creationId xmlns:a16="http://schemas.microsoft.com/office/drawing/2014/main" id="{324CB54E-CAD3-0BE8-7F95-D8BAE2BAC60F}"/>
                </a:ext>
              </a:extLst>
            </p:cNvPr>
            <p:cNvSpPr txBox="1"/>
            <p:nvPr/>
          </p:nvSpPr>
          <p:spPr>
            <a:xfrm>
              <a:off x="324462" y="6036019"/>
              <a:ext cx="6096000" cy="369332"/>
            </a:xfrm>
            <a:prstGeom prst="rect">
              <a:avLst/>
            </a:prstGeom>
            <a:noFill/>
            <a:ln>
              <a:solidFill>
                <a:schemeClr val="tx1"/>
              </a:solidFill>
            </a:ln>
          </p:spPr>
          <p:txBody>
            <a:bodyPr wrap="square">
              <a:spAutoFit/>
            </a:bodyPr>
            <a:lstStyle/>
            <a:p>
              <a:pPr algn="ctr"/>
              <a:r>
                <a:rPr lang="ja-JP" altLang="en-US"/>
                <a:t>🚀 </a:t>
              </a:r>
              <a:r>
                <a:rPr lang="vi-VN" altLang="ja-JP"/>
                <a:t>BƯỚC 5: KẾT LUẬN &amp; ĐÓNG GÓI</a:t>
              </a:r>
              <a:endParaRPr lang="ja-JP" altLang="en-US"/>
            </a:p>
          </p:txBody>
        </p:sp>
        <p:sp>
          <p:nvSpPr>
            <p:cNvPr id="25" name="Rectangle 1">
              <a:extLst>
                <a:ext uri="{FF2B5EF4-FFF2-40B4-BE49-F238E27FC236}">
                  <a16:creationId xmlns:a16="http://schemas.microsoft.com/office/drawing/2014/main" id="{CAEC161C-DFA7-E4A8-6242-6CF946BAD380}"/>
                </a:ext>
              </a:extLst>
            </p:cNvPr>
            <p:cNvSpPr>
              <a:spLocks noChangeArrowheads="1"/>
            </p:cNvSpPr>
            <p:nvPr/>
          </p:nvSpPr>
          <p:spPr bwMode="auto">
            <a:xfrm>
              <a:off x="7548713" y="914792"/>
              <a:ext cx="4505632" cy="175432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lang="en-US" altLang="ja-JP">
                  <a:latin typeface="Arial" panose="020B0604020202020204" pitchFamily="34" charset="0"/>
                  <a:cs typeface="Arial" panose="020B0604020202020204" pitchFamily="34" charset="0"/>
                </a:rPr>
                <a:t>SkLearn: </a:t>
              </a:r>
              <a:endParaRPr lang="en-US" altLang="ja-JP" b="1">
                <a:latin typeface="Arial" panose="020B0604020202020204" pitchFamily="34" charset="0"/>
                <a:cs typeface="Arial" panose="020B0604020202020204" pitchFamily="34" charset="0"/>
              </a:endParaRPr>
            </a:p>
            <a:p>
              <a:pPr lvl="0" defTabSz="914400" eaLnBrk="0" fontAlgn="base" hangingPunct="0">
                <a:spcBef>
                  <a:spcPct val="0"/>
                </a:spcBef>
                <a:spcAft>
                  <a:spcPct val="0"/>
                </a:spcAft>
              </a:pPr>
              <a:r>
                <a:rPr lang="ja-JP" altLang="en-US" b="1">
                  <a:latin typeface="Arial" panose="020B0604020202020204" pitchFamily="34" charset="0"/>
                  <a:cs typeface="Arial" panose="020B0604020202020204" pitchFamily="34" charset="0"/>
                </a:rPr>
                <a:t>📉 </a:t>
              </a:r>
              <a:r>
                <a:rPr lang="en-US" altLang="ja-JP" b="1">
                  <a:latin typeface="Arial" panose="020B0604020202020204" pitchFamily="34" charset="0"/>
                  <a:cs typeface="Arial" panose="020B0604020202020204" pitchFamily="34" charset="0"/>
                </a:rPr>
                <a:t>Z-score Residual:</a:t>
              </a:r>
              <a:r>
                <a:rPr lang="en-US" altLang="ja-JP">
                  <a:latin typeface="Arial" panose="020B0604020202020204" pitchFamily="34" charset="0"/>
                  <a:cs typeface="Arial" panose="020B0604020202020204" pitchFamily="34" charset="0"/>
                </a:rPr>
                <a:t> Dựa trên sai số của XGBoost.</a:t>
              </a:r>
            </a:p>
            <a:p>
              <a:pPr defTabSz="914400" eaLnBrk="0" fontAlgn="base" hangingPunct="0">
                <a:spcBef>
                  <a:spcPct val="0"/>
                </a:spcBef>
                <a:spcAft>
                  <a:spcPct val="0"/>
                </a:spcAft>
              </a:pPr>
              <a:r>
                <a:rPr lang="en-US" altLang="ja-JP">
                  <a:latin typeface="Arial" panose="020B0604020202020204" pitchFamily="34" charset="0"/>
                  <a:cs typeface="Arial" panose="020B0604020202020204" pitchFamily="34" charset="0"/>
                </a:rPr>
                <a:t>PySpark:</a:t>
              </a:r>
              <a:endParaRPr lang="en-US" altLang="ja-JP" b="1">
                <a:latin typeface="Arial" panose="020B0604020202020204" pitchFamily="34" charset="0"/>
                <a:cs typeface="Arial" panose="020B0604020202020204" pitchFamily="34" charset="0"/>
              </a:endParaRPr>
            </a:p>
            <a:p>
              <a:pPr lvl="0" defTabSz="914400" eaLnBrk="0" fontAlgn="base" hangingPunct="0">
                <a:spcBef>
                  <a:spcPct val="0"/>
                </a:spcBef>
                <a:spcAft>
                  <a:spcPct val="0"/>
                </a:spcAft>
              </a:pPr>
              <a:r>
                <a:rPr lang="en-US" altLang="ja-JP" b="1">
                  <a:latin typeface="Arial" panose="020B0604020202020204" pitchFamily="34" charset="0"/>
                  <a:cs typeface="Arial" panose="020B0604020202020204" pitchFamily="34" charset="0"/>
                </a:rPr>
                <a:t>Hybrid Score:</a:t>
              </a:r>
              <a:r>
                <a:rPr lang="en-US" altLang="ja-JP">
                  <a:latin typeface="Arial" panose="020B0604020202020204" pitchFamily="34" charset="0"/>
                  <a:cs typeface="Arial" panose="020B0604020202020204" pitchFamily="34" charset="0"/>
                </a:rPr>
                <a:t> Kết hợp khoảng cách cụm và sai số GBT.</a:t>
              </a:r>
              <a:endParaRPr kumimoji="0" lang="ja-JP" altLang="ja-JP"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D08C975F-9502-4B14-2095-9DE50816A244}"/>
                </a:ext>
              </a:extLst>
            </p:cNvPr>
            <p:cNvSpPr txBox="1"/>
            <p:nvPr/>
          </p:nvSpPr>
          <p:spPr>
            <a:xfrm>
              <a:off x="2458" y="36673"/>
              <a:ext cx="6769508" cy="646331"/>
            </a:xfrm>
            <a:prstGeom prst="rect">
              <a:avLst/>
            </a:prstGeom>
            <a:noFill/>
          </p:spPr>
          <p:txBody>
            <a:bodyPr wrap="square">
              <a:spAutoFit/>
            </a:bodyPr>
            <a:lstStyle/>
            <a:p>
              <a:r>
                <a:rPr lang="en-US" altLang="ja-JP" sz="3600" b="1"/>
                <a:t>2. QUY TRÌNH TRIỂN KHAI DỰ ÁN</a:t>
              </a:r>
              <a:endParaRPr lang="ja-JP" altLang="en-US" sz="3600" b="1"/>
            </a:p>
          </p:txBody>
        </p:sp>
        <p:sp>
          <p:nvSpPr>
            <p:cNvPr id="27" name="Rectangle 1">
              <a:extLst>
                <a:ext uri="{FF2B5EF4-FFF2-40B4-BE49-F238E27FC236}">
                  <a16:creationId xmlns:a16="http://schemas.microsoft.com/office/drawing/2014/main" id="{D70B2312-AEF0-64D6-F2CE-67EEFD0B1992}"/>
                </a:ext>
              </a:extLst>
            </p:cNvPr>
            <p:cNvSpPr>
              <a:spLocks noChangeArrowheads="1"/>
            </p:cNvSpPr>
            <p:nvPr/>
          </p:nvSpPr>
          <p:spPr bwMode="auto">
            <a:xfrm>
              <a:off x="7548713" y="2893951"/>
              <a:ext cx="4505631" cy="20313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ja-JP"/>
                <a:t>SkLearn: </a:t>
              </a:r>
            </a:p>
            <a:p>
              <a:pPr lvl="0" defTabSz="914400" eaLnBrk="0" fontAlgn="base" hangingPunct="0">
                <a:spcBef>
                  <a:spcPct val="0"/>
                </a:spcBef>
                <a:spcAft>
                  <a:spcPct val="0"/>
                </a:spcAft>
              </a:pPr>
              <a:r>
                <a:rPr lang="ja-JP" altLang="en-US" b="1"/>
                <a:t>🌲 </a:t>
              </a:r>
              <a:r>
                <a:rPr lang="en-US" altLang="ja-JP" b="1"/>
                <a:t>Isolation Forest:</a:t>
              </a:r>
              <a:r>
                <a:rPr lang="en-US" altLang="ja-JP"/>
                <a:t> Tìm điểm cô lập dựa trên cấu trúc cây.</a:t>
              </a:r>
            </a:p>
            <a:p>
              <a:pPr defTabSz="914400" eaLnBrk="0" fontAlgn="base" hangingPunct="0">
                <a:spcBef>
                  <a:spcPct val="0"/>
                </a:spcBef>
                <a:spcAft>
                  <a:spcPct val="0"/>
                </a:spcAft>
              </a:pPr>
              <a:r>
                <a:rPr lang="en-US" altLang="ja-JP"/>
                <a:t>PySpark:</a:t>
              </a:r>
              <a:endParaRPr lang="en-US" altLang="ja-JP" b="1"/>
            </a:p>
            <a:p>
              <a:pPr lvl="0" defTabSz="914400" eaLnBrk="0" fontAlgn="base" hangingPunct="0">
                <a:spcBef>
                  <a:spcPct val="0"/>
                </a:spcBef>
                <a:spcAft>
                  <a:spcPct val="0"/>
                </a:spcAft>
              </a:pPr>
              <a:r>
                <a:rPr lang="en-US" altLang="ja-JP" b="1"/>
                <a:t>K-Means Clustering:</a:t>
              </a:r>
              <a:r>
                <a:rPr lang="en-US" altLang="ja-JP"/>
                <a:t> Phân cụm để tìm điểm dị biệt.</a:t>
              </a:r>
            </a:p>
            <a:p>
              <a:pPr lvl="0" defTabSz="914400" eaLnBrk="0" fontAlgn="base" hangingPunct="0">
                <a:spcBef>
                  <a:spcPct val="0"/>
                </a:spcBef>
                <a:spcAft>
                  <a:spcPct val="0"/>
                </a:spcAf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28" name="Rectangle 1">
              <a:extLst>
                <a:ext uri="{FF2B5EF4-FFF2-40B4-BE49-F238E27FC236}">
                  <a16:creationId xmlns:a16="http://schemas.microsoft.com/office/drawing/2014/main" id="{02957A78-239E-5C60-C0A9-92F79FF9ACA7}"/>
                </a:ext>
              </a:extLst>
            </p:cNvPr>
            <p:cNvSpPr>
              <a:spLocks noChangeArrowheads="1"/>
            </p:cNvSpPr>
            <p:nvPr/>
          </p:nvSpPr>
          <p:spPr bwMode="auto">
            <a:xfrm>
              <a:off x="7548713" y="5204544"/>
              <a:ext cx="4505632"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ja-JP" b="1">
                  <a:latin typeface="Arial" panose="020B0604020202020204" pitchFamily="34" charset="0"/>
                  <a:cs typeface="Arial" panose="020B0604020202020204" pitchFamily="34" charset="0"/>
                </a:rPr>
                <a:t>⚖️ Final Score:</a:t>
              </a:r>
              <a:r>
                <a:rPr lang="en-US" altLang="ja-JP">
                  <a:latin typeface="Arial" panose="020B0604020202020204" pitchFamily="34" charset="0"/>
                  <a:cs typeface="Arial" panose="020B0604020202020204" pitchFamily="34" charset="0"/>
                </a:rPr>
                <a:t> </a:t>
              </a:r>
            </a:p>
            <a:p>
              <a:pPr lvl="0" defTabSz="914400" eaLnBrk="0" fontAlgn="base" hangingPunct="0">
                <a:spcBef>
                  <a:spcPct val="0"/>
                </a:spcBef>
                <a:spcAft>
                  <a:spcPct val="0"/>
                </a:spcAft>
              </a:pPr>
              <a:r>
                <a:rPr lang="vi-VN" altLang="ja-JP">
                  <a:latin typeface="Arial" panose="020B0604020202020204" pitchFamily="34" charset="0"/>
                  <a:cs typeface="Arial" panose="020B0604020202020204" pitchFamily="34" charset="0"/>
                </a:rPr>
                <a:t>Xác định top các căn nhà có giá lệch xa xu hướng.</a:t>
              </a:r>
              <a:endParaRPr lang="en-US" altLang="ja-JP">
                <a:latin typeface="Arial" panose="020B0604020202020204" pitchFamily="34" charset="0"/>
                <a:cs typeface="Arial" panose="020B0604020202020204" pitchFamily="34" charset="0"/>
              </a:endParaRPr>
            </a:p>
            <a:p>
              <a:pPr lvl="0" defTabSz="914400" eaLnBrk="0" fontAlgn="base" hangingPunct="0">
                <a:spcBef>
                  <a:spcPct val="0"/>
                </a:spcBef>
                <a:spcAft>
                  <a:spcPct val="0"/>
                </a:spcAft>
              </a:pPr>
              <a:r>
                <a:rPr lang="en-US" altLang="ja-JP">
                  <a:latin typeface="Arial" panose="020B0604020202020204" pitchFamily="34" charset="0"/>
                  <a:cs typeface="Arial" panose="020B0604020202020204" pitchFamily="34" charset="0"/>
                </a:rPr>
                <a:t>Gắn nhãn tự động cho tin đăng nghi ngờ trên hệ thống lớn.</a:t>
              </a:r>
              <a:endParaRPr kumimoji="0" lang="ja-JP" altLang="ja-JP"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cxnSp>
          <p:nvCxnSpPr>
            <p:cNvPr id="29" name="Straight Arrow Connector 28">
              <a:extLst>
                <a:ext uri="{FF2B5EF4-FFF2-40B4-BE49-F238E27FC236}">
                  <a16:creationId xmlns:a16="http://schemas.microsoft.com/office/drawing/2014/main" id="{EB2DFF7F-A4EB-0069-D07D-89AC39534F60}"/>
                </a:ext>
              </a:extLst>
            </p:cNvPr>
            <p:cNvCxnSpPr>
              <a:cxnSpLocks/>
              <a:stCxn id="20" idx="2"/>
              <a:endCxn id="21" idx="0"/>
            </p:cNvCxnSpPr>
            <p:nvPr/>
          </p:nvCxnSpPr>
          <p:spPr>
            <a:xfrm>
              <a:off x="3387213" y="1468312"/>
              <a:ext cx="0" cy="64728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DD09C9F-2E76-17A8-664A-F1906EDA6D2F}"/>
                </a:ext>
              </a:extLst>
            </p:cNvPr>
            <p:cNvCxnSpPr>
              <a:cxnSpLocks/>
              <a:stCxn id="21" idx="2"/>
              <a:endCxn id="22" idx="0"/>
            </p:cNvCxnSpPr>
            <p:nvPr/>
          </p:nvCxnSpPr>
          <p:spPr>
            <a:xfrm>
              <a:off x="3387213" y="2484930"/>
              <a:ext cx="0" cy="69333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6A31288-BBD9-3207-BFD8-0151619F6312}"/>
                </a:ext>
              </a:extLst>
            </p:cNvPr>
            <p:cNvCxnSpPr>
              <a:cxnSpLocks/>
              <a:stCxn id="22" idx="2"/>
              <a:endCxn id="23" idx="0"/>
            </p:cNvCxnSpPr>
            <p:nvPr/>
          </p:nvCxnSpPr>
          <p:spPr>
            <a:xfrm flipH="1">
              <a:off x="3377379" y="3824592"/>
              <a:ext cx="9834" cy="8319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335E6A3-33D0-DF96-AF2F-82295EB61674}"/>
                </a:ext>
              </a:extLst>
            </p:cNvPr>
            <p:cNvCxnSpPr>
              <a:cxnSpLocks/>
              <a:stCxn id="23" idx="2"/>
              <a:endCxn id="24" idx="0"/>
            </p:cNvCxnSpPr>
            <p:nvPr/>
          </p:nvCxnSpPr>
          <p:spPr>
            <a:xfrm flipH="1">
              <a:off x="3372462" y="5302876"/>
              <a:ext cx="4917" cy="7331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3AE2ACDC-383E-153C-0B6E-754C71580571}"/>
                </a:ext>
              </a:extLst>
            </p:cNvPr>
            <p:cNvCxnSpPr>
              <a:cxnSpLocks/>
              <a:stCxn id="23" idx="3"/>
              <a:endCxn id="25" idx="1"/>
            </p:cNvCxnSpPr>
            <p:nvPr/>
          </p:nvCxnSpPr>
          <p:spPr>
            <a:xfrm flipV="1">
              <a:off x="6381134" y="1791955"/>
              <a:ext cx="1167579" cy="3187756"/>
            </a:xfrm>
            <a:prstGeom prst="bentConnector3">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3D421761-BE73-11AE-D24E-626971148B27}"/>
                </a:ext>
              </a:extLst>
            </p:cNvPr>
            <p:cNvCxnSpPr>
              <a:cxnSpLocks/>
              <a:stCxn id="23" idx="3"/>
              <a:endCxn id="27" idx="1"/>
            </p:cNvCxnSpPr>
            <p:nvPr/>
          </p:nvCxnSpPr>
          <p:spPr>
            <a:xfrm flipV="1">
              <a:off x="6381134" y="3909614"/>
              <a:ext cx="1167579" cy="1070097"/>
            </a:xfrm>
            <a:prstGeom prst="bent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4166976B-3EC6-B176-11C4-11EC5E30ED3D}"/>
                </a:ext>
              </a:extLst>
            </p:cNvPr>
            <p:cNvCxnSpPr>
              <a:cxnSpLocks/>
              <a:stCxn id="23" idx="3"/>
              <a:endCxn id="28" idx="1"/>
            </p:cNvCxnSpPr>
            <p:nvPr/>
          </p:nvCxnSpPr>
          <p:spPr>
            <a:xfrm>
              <a:off x="6381134" y="4979711"/>
              <a:ext cx="1167579" cy="963497"/>
            </a:xfrm>
            <a:prstGeom prst="bent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08804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4FE3A9A1-E1A5-FD79-908C-5976D2C8BE5E}"/>
              </a:ext>
            </a:extLst>
          </p:cNvPr>
          <p:cNvGrpSpPr/>
          <p:nvPr/>
        </p:nvGrpSpPr>
        <p:grpSpPr>
          <a:xfrm>
            <a:off x="2458" y="36673"/>
            <a:ext cx="12051887" cy="6368678"/>
            <a:chOff x="2458" y="36673"/>
            <a:chExt cx="12051887" cy="6368678"/>
          </a:xfrm>
        </p:grpSpPr>
        <p:sp>
          <p:nvSpPr>
            <p:cNvPr id="20" name="TextBox 19">
              <a:hlinkClick r:id="" action="ppaction://noaction" highlightClick="1"/>
              <a:hlinkHover r:id="" action="ppaction://noaction" highlightClick="1"/>
              <a:extLst>
                <a:ext uri="{FF2B5EF4-FFF2-40B4-BE49-F238E27FC236}">
                  <a16:creationId xmlns:a16="http://schemas.microsoft.com/office/drawing/2014/main" id="{1484C66F-6289-1E90-7BF1-D6F81FCC1A7E}"/>
                </a:ext>
              </a:extLst>
            </p:cNvPr>
            <p:cNvSpPr txBox="1"/>
            <p:nvPr/>
          </p:nvSpPr>
          <p:spPr>
            <a:xfrm>
              <a:off x="442451" y="821981"/>
              <a:ext cx="5889523" cy="646331"/>
            </a:xfrm>
            <a:prstGeom prst="rect">
              <a:avLst/>
            </a:prstGeom>
            <a:noFill/>
            <a:ln>
              <a:solidFill>
                <a:schemeClr val="tx1"/>
              </a:solidFill>
            </a:ln>
          </p:spPr>
          <p:txBody>
            <a:bodyPr wrap="square">
              <a:spAutoFit/>
            </a:bodyPr>
            <a:lstStyle/>
            <a:p>
              <a:pPr algn="ctr"/>
              <a:r>
                <a:rPr lang="ja-JP" altLang="en-US"/>
                <a:t>📦 </a:t>
              </a:r>
              <a:r>
                <a:rPr lang="vi-VN" altLang="ja-JP"/>
                <a:t>BƯỚC 1: TIỀN XỬ LÝ DỮ LIỆU (PRE-PROCESSING)</a:t>
              </a:r>
              <a:endParaRPr lang="ja-JP" altLang="en-US"/>
            </a:p>
          </p:txBody>
        </p:sp>
        <p:sp>
          <p:nvSpPr>
            <p:cNvPr id="21" name="TextBox 20">
              <a:extLst>
                <a:ext uri="{FF2B5EF4-FFF2-40B4-BE49-F238E27FC236}">
                  <a16:creationId xmlns:a16="http://schemas.microsoft.com/office/drawing/2014/main" id="{D93EC701-DF57-72F6-D0E0-08B0F69DB377}"/>
                </a:ext>
              </a:extLst>
            </p:cNvPr>
            <p:cNvSpPr txBox="1"/>
            <p:nvPr/>
          </p:nvSpPr>
          <p:spPr>
            <a:xfrm>
              <a:off x="442451" y="2115598"/>
              <a:ext cx="5889523" cy="369332"/>
            </a:xfrm>
            <a:prstGeom prst="rect">
              <a:avLst/>
            </a:prstGeom>
            <a:noFill/>
            <a:ln>
              <a:solidFill>
                <a:schemeClr val="tx1"/>
              </a:solidFill>
            </a:ln>
          </p:spPr>
          <p:txBody>
            <a:bodyPr wrap="square">
              <a:spAutoFit/>
            </a:bodyPr>
            <a:lstStyle/>
            <a:p>
              <a:pPr algn="ctr"/>
              <a:r>
                <a:rPr lang="ja-JP" altLang="en-US"/>
                <a:t>🔍 </a:t>
              </a:r>
              <a:r>
                <a:rPr lang="vi-VN" altLang="ja-JP"/>
                <a:t>BƯỚC 2: PHÂN TÍCH KHÁM PHÁ (EDA)</a:t>
              </a:r>
              <a:endParaRPr lang="ja-JP" altLang="en-US"/>
            </a:p>
          </p:txBody>
        </p:sp>
        <p:sp>
          <p:nvSpPr>
            <p:cNvPr id="22" name="TextBox 21">
              <a:extLst>
                <a:ext uri="{FF2B5EF4-FFF2-40B4-BE49-F238E27FC236}">
                  <a16:creationId xmlns:a16="http://schemas.microsoft.com/office/drawing/2014/main" id="{7A7CB275-5779-1DEE-E7C4-09654D774C90}"/>
                </a:ext>
              </a:extLst>
            </p:cNvPr>
            <p:cNvSpPr txBox="1"/>
            <p:nvPr/>
          </p:nvSpPr>
          <p:spPr>
            <a:xfrm>
              <a:off x="442451" y="3178261"/>
              <a:ext cx="5889523" cy="646331"/>
            </a:xfrm>
            <a:prstGeom prst="rect">
              <a:avLst/>
            </a:prstGeom>
            <a:noFill/>
            <a:ln>
              <a:solidFill>
                <a:schemeClr val="tx1"/>
              </a:solidFill>
            </a:ln>
          </p:spPr>
          <p:txBody>
            <a:bodyPr wrap="square">
              <a:spAutoFit/>
            </a:bodyPr>
            <a:lstStyle/>
            <a:p>
              <a:pPr algn="ctr"/>
              <a:r>
                <a:rPr lang="ja-JP" altLang="en-US"/>
                <a:t>🤖 </a:t>
              </a:r>
              <a:r>
                <a:rPr lang="vi-VN" altLang="ja-JP"/>
                <a:t>BƯỚC 3: BÀI TOÁN 1 - DỰ BÁO GIÁ (REGRESSION)</a:t>
              </a:r>
              <a:endParaRPr lang="ja-JP" altLang="en-US"/>
            </a:p>
          </p:txBody>
        </p:sp>
        <p:sp>
          <p:nvSpPr>
            <p:cNvPr id="23" name="TextBox 22">
              <a:extLst>
                <a:ext uri="{FF2B5EF4-FFF2-40B4-BE49-F238E27FC236}">
                  <a16:creationId xmlns:a16="http://schemas.microsoft.com/office/drawing/2014/main" id="{C9BB8AE3-7F3F-0229-FBBC-08EDDC6DA57B}"/>
                </a:ext>
              </a:extLst>
            </p:cNvPr>
            <p:cNvSpPr txBox="1"/>
            <p:nvPr/>
          </p:nvSpPr>
          <p:spPr>
            <a:xfrm>
              <a:off x="373624" y="4656545"/>
              <a:ext cx="6007510" cy="646331"/>
            </a:xfrm>
            <a:prstGeom prst="rect">
              <a:avLst/>
            </a:prstGeom>
            <a:noFill/>
            <a:ln>
              <a:solidFill>
                <a:schemeClr val="tx1"/>
              </a:solidFill>
            </a:ln>
          </p:spPr>
          <p:txBody>
            <a:bodyPr wrap="square">
              <a:spAutoFit/>
            </a:bodyPr>
            <a:lstStyle/>
            <a:p>
              <a:pPr algn="ctr"/>
              <a:r>
                <a:rPr lang="ja-JP" altLang="en-US"/>
                <a:t>🚩 </a:t>
              </a:r>
              <a:r>
                <a:rPr lang="vi-VN" altLang="ja-JP"/>
                <a:t>BƯỚC 4: BÀI TOÁN 2 - PHÁT HIỆN BẤT THƯỜNG (ANOMALY)</a:t>
              </a:r>
              <a:endParaRPr lang="ja-JP" altLang="en-US"/>
            </a:p>
          </p:txBody>
        </p:sp>
        <p:sp>
          <p:nvSpPr>
            <p:cNvPr id="24" name="TextBox 23">
              <a:extLst>
                <a:ext uri="{FF2B5EF4-FFF2-40B4-BE49-F238E27FC236}">
                  <a16:creationId xmlns:a16="http://schemas.microsoft.com/office/drawing/2014/main" id="{324CB54E-CAD3-0BE8-7F95-D8BAE2BAC60F}"/>
                </a:ext>
              </a:extLst>
            </p:cNvPr>
            <p:cNvSpPr txBox="1"/>
            <p:nvPr/>
          </p:nvSpPr>
          <p:spPr>
            <a:xfrm>
              <a:off x="324462" y="6036019"/>
              <a:ext cx="6096000" cy="369332"/>
            </a:xfrm>
            <a:prstGeom prst="rect">
              <a:avLst/>
            </a:prstGeom>
            <a:solidFill>
              <a:srgbClr val="00B0F0"/>
            </a:solidFill>
            <a:ln>
              <a:solidFill>
                <a:schemeClr val="tx1"/>
              </a:solidFill>
            </a:ln>
          </p:spPr>
          <p:txBody>
            <a:bodyPr wrap="square">
              <a:spAutoFit/>
            </a:bodyPr>
            <a:lstStyle/>
            <a:p>
              <a:pPr algn="ctr"/>
              <a:r>
                <a:rPr lang="ja-JP" altLang="en-US"/>
                <a:t>🚀 </a:t>
              </a:r>
              <a:r>
                <a:rPr lang="vi-VN" altLang="ja-JP"/>
                <a:t>BƯỚC 5: KẾT LUẬN &amp; ĐÓNG GÓI</a:t>
              </a:r>
              <a:endParaRPr lang="ja-JP" altLang="en-US"/>
            </a:p>
          </p:txBody>
        </p:sp>
        <p:sp>
          <p:nvSpPr>
            <p:cNvPr id="26" name="TextBox 25">
              <a:extLst>
                <a:ext uri="{FF2B5EF4-FFF2-40B4-BE49-F238E27FC236}">
                  <a16:creationId xmlns:a16="http://schemas.microsoft.com/office/drawing/2014/main" id="{D08C975F-9502-4B14-2095-9DE50816A244}"/>
                </a:ext>
              </a:extLst>
            </p:cNvPr>
            <p:cNvSpPr txBox="1"/>
            <p:nvPr/>
          </p:nvSpPr>
          <p:spPr>
            <a:xfrm>
              <a:off x="2458" y="36673"/>
              <a:ext cx="6769508" cy="646331"/>
            </a:xfrm>
            <a:prstGeom prst="rect">
              <a:avLst/>
            </a:prstGeom>
            <a:noFill/>
          </p:spPr>
          <p:txBody>
            <a:bodyPr wrap="square">
              <a:spAutoFit/>
            </a:bodyPr>
            <a:lstStyle/>
            <a:p>
              <a:r>
                <a:rPr lang="en-US" altLang="ja-JP" sz="3600" b="1"/>
                <a:t>2. QUY TRÌNH TRIỂN KHAI DỰ ÁN</a:t>
              </a:r>
              <a:endParaRPr lang="ja-JP" altLang="en-US" sz="3600" b="1"/>
            </a:p>
          </p:txBody>
        </p:sp>
        <p:sp>
          <p:nvSpPr>
            <p:cNvPr id="27" name="Rectangle 1">
              <a:extLst>
                <a:ext uri="{FF2B5EF4-FFF2-40B4-BE49-F238E27FC236}">
                  <a16:creationId xmlns:a16="http://schemas.microsoft.com/office/drawing/2014/main" id="{D70B2312-AEF0-64D6-F2CE-67EEFD0B1992}"/>
                </a:ext>
              </a:extLst>
            </p:cNvPr>
            <p:cNvSpPr>
              <a:spLocks noChangeArrowheads="1"/>
            </p:cNvSpPr>
            <p:nvPr/>
          </p:nvSpPr>
          <p:spPr bwMode="auto">
            <a:xfrm>
              <a:off x="7548714" y="3893261"/>
              <a:ext cx="4505631" cy="64633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ja-JP" altLang="en-US" b="1"/>
                <a:t>💾 </a:t>
              </a:r>
              <a:r>
                <a:rPr lang="vi-VN" altLang="ja-JP" b="1"/>
                <a:t>Export:</a:t>
              </a:r>
              <a:r>
                <a:rPr lang="vi-VN" altLang="ja-JP"/>
                <a:t> Lưu mô hình và danh mục (categories.pkl) để chạy App Streamlit.</a:t>
              </a: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28" name="Rectangle 1">
              <a:extLst>
                <a:ext uri="{FF2B5EF4-FFF2-40B4-BE49-F238E27FC236}">
                  <a16:creationId xmlns:a16="http://schemas.microsoft.com/office/drawing/2014/main" id="{02957A78-239E-5C60-C0A9-92F79FF9ACA7}"/>
                </a:ext>
              </a:extLst>
            </p:cNvPr>
            <p:cNvSpPr>
              <a:spLocks noChangeArrowheads="1"/>
            </p:cNvSpPr>
            <p:nvPr/>
          </p:nvSpPr>
          <p:spPr bwMode="auto">
            <a:xfrm>
              <a:off x="7548713" y="5207782"/>
              <a:ext cx="4505632" cy="64633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ja-JP" altLang="en-US" b="1"/>
                <a:t>📝 </a:t>
              </a:r>
              <a:r>
                <a:rPr lang="vi-VN" altLang="ja-JP" b="1"/>
                <a:t>Summary:</a:t>
              </a:r>
              <a:r>
                <a:rPr lang="vi-VN" altLang="ja-JP"/>
                <a:t> Đánh giá hiệu quả và đề xuất hướng cải thiện cho tương lai.</a:t>
              </a:r>
              <a:endParaRPr kumimoji="0" lang="ja-JP" altLang="ja-JP" sz="1800" b="0" i="0" u="none" strike="noStrike" cap="none" normalizeH="0" baseline="0">
                <a:ln>
                  <a:noFill/>
                </a:ln>
                <a:solidFill>
                  <a:schemeClr val="tx1"/>
                </a:solidFill>
                <a:effectLst/>
                <a:latin typeface="Arial" panose="020B0604020202020204" pitchFamily="34" charset="0"/>
              </a:endParaRPr>
            </a:p>
          </p:txBody>
        </p:sp>
        <p:cxnSp>
          <p:nvCxnSpPr>
            <p:cNvPr id="29" name="Straight Arrow Connector 28">
              <a:extLst>
                <a:ext uri="{FF2B5EF4-FFF2-40B4-BE49-F238E27FC236}">
                  <a16:creationId xmlns:a16="http://schemas.microsoft.com/office/drawing/2014/main" id="{EB2DFF7F-A4EB-0069-D07D-89AC39534F60}"/>
                </a:ext>
              </a:extLst>
            </p:cNvPr>
            <p:cNvCxnSpPr>
              <a:cxnSpLocks/>
              <a:stCxn id="20" idx="2"/>
              <a:endCxn id="21" idx="0"/>
            </p:cNvCxnSpPr>
            <p:nvPr/>
          </p:nvCxnSpPr>
          <p:spPr>
            <a:xfrm>
              <a:off x="3387213" y="1468312"/>
              <a:ext cx="0" cy="64728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1DD09C9F-2E76-17A8-664A-F1906EDA6D2F}"/>
                </a:ext>
              </a:extLst>
            </p:cNvPr>
            <p:cNvCxnSpPr>
              <a:cxnSpLocks/>
              <a:stCxn id="21" idx="2"/>
              <a:endCxn id="22" idx="0"/>
            </p:cNvCxnSpPr>
            <p:nvPr/>
          </p:nvCxnSpPr>
          <p:spPr>
            <a:xfrm>
              <a:off x="3387213" y="2484930"/>
              <a:ext cx="0" cy="69333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6A31288-BBD9-3207-BFD8-0151619F6312}"/>
                </a:ext>
              </a:extLst>
            </p:cNvPr>
            <p:cNvCxnSpPr>
              <a:cxnSpLocks/>
              <a:stCxn id="22" idx="2"/>
              <a:endCxn id="23" idx="0"/>
            </p:cNvCxnSpPr>
            <p:nvPr/>
          </p:nvCxnSpPr>
          <p:spPr>
            <a:xfrm flipH="1">
              <a:off x="3377379" y="3824592"/>
              <a:ext cx="9834" cy="8319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335E6A3-33D0-DF96-AF2F-82295EB61674}"/>
                </a:ext>
              </a:extLst>
            </p:cNvPr>
            <p:cNvCxnSpPr>
              <a:cxnSpLocks/>
              <a:stCxn id="23" idx="2"/>
              <a:endCxn id="24" idx="0"/>
            </p:cNvCxnSpPr>
            <p:nvPr/>
          </p:nvCxnSpPr>
          <p:spPr>
            <a:xfrm flipH="1">
              <a:off x="3372462" y="5302876"/>
              <a:ext cx="4917" cy="7331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3D421761-BE73-11AE-D24E-626971148B27}"/>
                </a:ext>
              </a:extLst>
            </p:cNvPr>
            <p:cNvCxnSpPr>
              <a:cxnSpLocks/>
              <a:stCxn id="24" idx="3"/>
              <a:endCxn id="27" idx="1"/>
            </p:cNvCxnSpPr>
            <p:nvPr/>
          </p:nvCxnSpPr>
          <p:spPr>
            <a:xfrm flipV="1">
              <a:off x="6420462" y="4216427"/>
              <a:ext cx="1128252" cy="2004258"/>
            </a:xfrm>
            <a:prstGeom prst="bent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4166976B-3EC6-B176-11C4-11EC5E30ED3D}"/>
                </a:ext>
              </a:extLst>
            </p:cNvPr>
            <p:cNvCxnSpPr>
              <a:cxnSpLocks/>
              <a:stCxn id="24" idx="3"/>
              <a:endCxn id="28" idx="1"/>
            </p:cNvCxnSpPr>
            <p:nvPr/>
          </p:nvCxnSpPr>
          <p:spPr>
            <a:xfrm flipV="1">
              <a:off x="6420462" y="5530948"/>
              <a:ext cx="1128251" cy="689737"/>
            </a:xfrm>
            <a:prstGeom prst="bentConnector3">
              <a:avLst>
                <a:gd name="adj1" fmla="val 50000"/>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80347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oogle Shape;440;p1" descr="Top 10 trung tâm tin học đào tạo cấp chứng chỉ chất lượng nhất hiện nay">
            <a:extLst>
              <a:ext uri="{FF2B5EF4-FFF2-40B4-BE49-F238E27FC236}">
                <a16:creationId xmlns:a16="http://schemas.microsoft.com/office/drawing/2014/main" id="{99036AD2-EF35-CE50-5945-38E5B28A422F}"/>
              </a:ext>
            </a:extLst>
          </p:cNvPr>
          <p:cNvPicPr preferRelativeResize="0"/>
          <p:nvPr/>
        </p:nvPicPr>
        <p:blipFill rotWithShape="1">
          <a:blip r:embed="rId2">
            <a:alphaModFix/>
          </a:blip>
          <a:srcRect/>
          <a:stretch/>
        </p:blipFill>
        <p:spPr>
          <a:xfrm>
            <a:off x="11490022" y="0"/>
            <a:ext cx="701978" cy="701978"/>
          </a:xfrm>
          <a:prstGeom prst="rect">
            <a:avLst/>
          </a:prstGeom>
          <a:noFill/>
          <a:ln>
            <a:noFill/>
          </a:ln>
        </p:spPr>
      </p:pic>
      <p:sp>
        <p:nvSpPr>
          <p:cNvPr id="5" name="TextBox 4">
            <a:extLst>
              <a:ext uri="{FF2B5EF4-FFF2-40B4-BE49-F238E27FC236}">
                <a16:creationId xmlns:a16="http://schemas.microsoft.com/office/drawing/2014/main" id="{6ABFF17F-8A0D-07CD-FCD1-CBB065E215FF}"/>
              </a:ext>
            </a:extLst>
          </p:cNvPr>
          <p:cNvSpPr txBox="1"/>
          <p:nvPr/>
        </p:nvSpPr>
        <p:spPr>
          <a:xfrm>
            <a:off x="643473" y="43469"/>
            <a:ext cx="10905053" cy="1200329"/>
          </a:xfrm>
          <a:prstGeom prst="rect">
            <a:avLst/>
          </a:prstGeom>
          <a:noFill/>
        </p:spPr>
        <p:txBody>
          <a:bodyPr wrap="square">
            <a:spAutoFit/>
          </a:bodyPr>
          <a:lstStyle>
            <a:defPPr>
              <a:defRPr lang="en-US"/>
            </a:defPPr>
            <a:lvl1pPr>
              <a:defRPr sz="3600" b="1"/>
            </a:lvl1pPr>
          </a:lstStyle>
          <a:p>
            <a:r>
              <a:rPr lang="en-US" altLang="ja-JP"/>
              <a:t>3. </a:t>
            </a:r>
            <a:r>
              <a:rPr lang="ja-JP" altLang="en-US"/>
              <a:t>📦 </a:t>
            </a:r>
            <a:r>
              <a:rPr lang="vi-VN" altLang="ja-JP"/>
              <a:t>Xử lý &amp; Khám phá dữ liệu (EDA)</a:t>
            </a:r>
          </a:p>
          <a:p>
            <a:endParaRPr lang="ja-JP" altLang="en-US"/>
          </a:p>
        </p:txBody>
      </p:sp>
      <p:sp>
        <p:nvSpPr>
          <p:cNvPr id="7" name="TextBox 6">
            <a:extLst>
              <a:ext uri="{FF2B5EF4-FFF2-40B4-BE49-F238E27FC236}">
                <a16:creationId xmlns:a16="http://schemas.microsoft.com/office/drawing/2014/main" id="{F33598A9-C906-FA58-2F19-8947B016A4E4}"/>
              </a:ext>
            </a:extLst>
          </p:cNvPr>
          <p:cNvSpPr txBox="1"/>
          <p:nvPr/>
        </p:nvSpPr>
        <p:spPr>
          <a:xfrm>
            <a:off x="641774" y="638457"/>
            <a:ext cx="10905052" cy="369332"/>
          </a:xfrm>
          <a:prstGeom prst="rect">
            <a:avLst/>
          </a:prstGeom>
          <a:noFill/>
        </p:spPr>
        <p:txBody>
          <a:bodyPr wrap="square">
            <a:spAutoFit/>
          </a:bodyPr>
          <a:lstStyle/>
          <a:p>
            <a:r>
              <a:rPr lang="en-US" altLang="ja-JP" b="1" dirty="0" err="1"/>
              <a:t>Chuẩn</a:t>
            </a:r>
            <a:r>
              <a:rPr lang="en-US" altLang="ja-JP" b="1" dirty="0"/>
              <a:t> </a:t>
            </a:r>
            <a:r>
              <a:rPr lang="en-US" altLang="ja-JP" b="1" dirty="0" err="1"/>
              <a:t>hóa</a:t>
            </a:r>
            <a:r>
              <a:rPr lang="en-US" altLang="ja-JP" b="1" dirty="0"/>
              <a:t> </a:t>
            </a:r>
            <a:r>
              <a:rPr lang="en-US" altLang="ja-JP" b="1" dirty="0" err="1"/>
              <a:t>dữ</a:t>
            </a:r>
            <a:r>
              <a:rPr lang="en-US" altLang="ja-JP" b="1" dirty="0"/>
              <a:t> </a:t>
            </a:r>
            <a:r>
              <a:rPr lang="en-US" altLang="ja-JP" b="1" dirty="0" err="1"/>
              <a:t>liệu</a:t>
            </a:r>
            <a:r>
              <a:rPr lang="en-US" altLang="ja-JP" b="1" dirty="0"/>
              <a:t> </a:t>
            </a:r>
            <a:r>
              <a:rPr lang="en-US" altLang="ja-JP" b="1" dirty="0" err="1"/>
              <a:t>văn</a:t>
            </a:r>
            <a:r>
              <a:rPr lang="en-US" altLang="ja-JP" b="1" dirty="0"/>
              <a:t> </a:t>
            </a:r>
            <a:r>
              <a:rPr lang="en-US" altLang="ja-JP" b="1" dirty="0" err="1"/>
              <a:t>bản</a:t>
            </a:r>
            <a:r>
              <a:rPr lang="en-US" altLang="ja-JP" b="1" dirty="0"/>
              <a:t> (Regex):</a:t>
            </a:r>
            <a:r>
              <a:rPr lang="en-US" altLang="ja-JP" dirty="0"/>
              <a:t> * </a:t>
            </a:r>
            <a:r>
              <a:rPr lang="en-US" altLang="ja-JP" dirty="0" err="1"/>
              <a:t>Sử</a:t>
            </a:r>
            <a:r>
              <a:rPr lang="en-US" altLang="ja-JP" dirty="0"/>
              <a:t> </a:t>
            </a:r>
            <a:r>
              <a:rPr lang="en-US" altLang="ja-JP" dirty="0" err="1"/>
              <a:t>dụng</a:t>
            </a:r>
            <a:r>
              <a:rPr lang="en-US" altLang="ja-JP" dirty="0"/>
              <a:t> Regular Expression </a:t>
            </a:r>
            <a:r>
              <a:rPr lang="en-US" altLang="ja-JP" dirty="0" err="1"/>
              <a:t>để</a:t>
            </a:r>
            <a:r>
              <a:rPr lang="en-US" altLang="ja-JP" dirty="0"/>
              <a:t> </a:t>
            </a:r>
            <a:r>
              <a:rPr lang="en-US" altLang="ja-JP" dirty="0" err="1"/>
              <a:t>bóc</a:t>
            </a:r>
            <a:r>
              <a:rPr lang="en-US" altLang="ja-JP" dirty="0"/>
              <a:t> </a:t>
            </a:r>
            <a:r>
              <a:rPr lang="en-US" altLang="ja-JP" dirty="0" err="1"/>
              <a:t>tách</a:t>
            </a:r>
            <a:r>
              <a:rPr lang="en-US" altLang="ja-JP" dirty="0"/>
              <a:t> </a:t>
            </a:r>
            <a:r>
              <a:rPr lang="en-US" altLang="ja-JP" dirty="0" err="1"/>
              <a:t>các</a:t>
            </a:r>
            <a:r>
              <a:rPr lang="en-US" altLang="ja-JP" dirty="0"/>
              <a:t> </a:t>
            </a:r>
            <a:r>
              <a:rPr lang="en-US" altLang="ja-JP" dirty="0" err="1"/>
              <a:t>chuỗi</a:t>
            </a:r>
            <a:r>
              <a:rPr lang="en-US" altLang="ja-JP" dirty="0"/>
              <a:t> </a:t>
            </a:r>
            <a:r>
              <a:rPr lang="en-US" altLang="ja-JP" dirty="0" err="1"/>
              <a:t>phức</a:t>
            </a:r>
            <a:r>
              <a:rPr lang="en-US" altLang="ja-JP" dirty="0"/>
              <a:t> </a:t>
            </a:r>
            <a:r>
              <a:rPr lang="en-US" altLang="ja-JP" dirty="0" err="1"/>
              <a:t>tạp</a:t>
            </a:r>
            <a:r>
              <a:rPr lang="en-US" altLang="ja-JP" dirty="0"/>
              <a:t>.</a:t>
            </a:r>
            <a:endParaRPr lang="ja-JP" altLang="en-US" dirty="0"/>
          </a:p>
        </p:txBody>
      </p:sp>
      <p:pic>
        <p:nvPicPr>
          <p:cNvPr id="4" name="Picture 3">
            <a:extLst>
              <a:ext uri="{FF2B5EF4-FFF2-40B4-BE49-F238E27FC236}">
                <a16:creationId xmlns:a16="http://schemas.microsoft.com/office/drawing/2014/main" id="{96A0E614-F607-386D-6EC8-F42493C77973}"/>
              </a:ext>
            </a:extLst>
          </p:cNvPr>
          <p:cNvPicPr>
            <a:picLocks noChangeAspect="1"/>
          </p:cNvPicPr>
          <p:nvPr/>
        </p:nvPicPr>
        <p:blipFill>
          <a:blip r:embed="rId3"/>
          <a:stretch>
            <a:fillRect/>
          </a:stretch>
        </p:blipFill>
        <p:spPr>
          <a:xfrm>
            <a:off x="842857" y="2272786"/>
            <a:ext cx="3960426" cy="2190150"/>
          </a:xfrm>
          <a:prstGeom prst="rect">
            <a:avLst/>
          </a:prstGeom>
        </p:spPr>
      </p:pic>
      <p:pic>
        <p:nvPicPr>
          <p:cNvPr id="14" name="Picture 13">
            <a:extLst>
              <a:ext uri="{FF2B5EF4-FFF2-40B4-BE49-F238E27FC236}">
                <a16:creationId xmlns:a16="http://schemas.microsoft.com/office/drawing/2014/main" id="{16F6A800-F515-032F-C131-1AABB38CB3EE}"/>
              </a:ext>
            </a:extLst>
          </p:cNvPr>
          <p:cNvPicPr>
            <a:picLocks noChangeAspect="1"/>
          </p:cNvPicPr>
          <p:nvPr/>
        </p:nvPicPr>
        <p:blipFill>
          <a:blip r:embed="rId4"/>
          <a:stretch>
            <a:fillRect/>
          </a:stretch>
        </p:blipFill>
        <p:spPr>
          <a:xfrm>
            <a:off x="6475749" y="2272786"/>
            <a:ext cx="3960426" cy="2208236"/>
          </a:xfrm>
          <a:prstGeom prst="rect">
            <a:avLst/>
          </a:prstGeom>
        </p:spPr>
      </p:pic>
      <p:sp>
        <p:nvSpPr>
          <p:cNvPr id="15" name="TextBox 14">
            <a:extLst>
              <a:ext uri="{FF2B5EF4-FFF2-40B4-BE49-F238E27FC236}">
                <a16:creationId xmlns:a16="http://schemas.microsoft.com/office/drawing/2014/main" id="{AC38E0B3-1535-B8F8-8231-544A3910F072}"/>
              </a:ext>
            </a:extLst>
          </p:cNvPr>
          <p:cNvSpPr txBox="1"/>
          <p:nvPr/>
        </p:nvSpPr>
        <p:spPr>
          <a:xfrm>
            <a:off x="2017641" y="1640708"/>
            <a:ext cx="1495145" cy="369332"/>
          </a:xfrm>
          <a:prstGeom prst="rect">
            <a:avLst/>
          </a:prstGeom>
          <a:noFill/>
        </p:spPr>
        <p:txBody>
          <a:bodyPr wrap="square" rtlCol="0">
            <a:spAutoFit/>
          </a:bodyPr>
          <a:lstStyle/>
          <a:p>
            <a:pPr algn="ctr"/>
            <a:r>
              <a:rPr lang="en-US" b="1" dirty="0" err="1"/>
              <a:t>Trước</a:t>
            </a:r>
            <a:r>
              <a:rPr lang="en-US" b="1" dirty="0"/>
              <a:t> </a:t>
            </a:r>
            <a:r>
              <a:rPr lang="en-US" b="1" dirty="0" err="1"/>
              <a:t>xử</a:t>
            </a:r>
            <a:r>
              <a:rPr lang="en-US" b="1" dirty="0"/>
              <a:t> </a:t>
            </a:r>
            <a:r>
              <a:rPr lang="en-US" b="1" dirty="0" err="1"/>
              <a:t>lí</a:t>
            </a:r>
            <a:endParaRPr lang="en-US" b="1" dirty="0"/>
          </a:p>
        </p:txBody>
      </p:sp>
      <p:sp>
        <p:nvSpPr>
          <p:cNvPr id="19" name="TextBox 18">
            <a:extLst>
              <a:ext uri="{FF2B5EF4-FFF2-40B4-BE49-F238E27FC236}">
                <a16:creationId xmlns:a16="http://schemas.microsoft.com/office/drawing/2014/main" id="{F4DCD2BE-4E6A-2CE7-48D5-67DDAC4719FB}"/>
              </a:ext>
            </a:extLst>
          </p:cNvPr>
          <p:cNvSpPr txBox="1"/>
          <p:nvPr/>
        </p:nvSpPr>
        <p:spPr>
          <a:xfrm>
            <a:off x="7713644" y="1640135"/>
            <a:ext cx="1495145" cy="369332"/>
          </a:xfrm>
          <a:prstGeom prst="rect">
            <a:avLst/>
          </a:prstGeom>
          <a:noFill/>
        </p:spPr>
        <p:txBody>
          <a:bodyPr wrap="square" rtlCol="0">
            <a:spAutoFit/>
          </a:bodyPr>
          <a:lstStyle/>
          <a:p>
            <a:pPr algn="ctr"/>
            <a:r>
              <a:rPr lang="en-US" b="1" dirty="0"/>
              <a:t>Sau </a:t>
            </a:r>
            <a:r>
              <a:rPr lang="en-US" b="1" dirty="0" err="1"/>
              <a:t>xử</a:t>
            </a:r>
            <a:r>
              <a:rPr lang="en-US" b="1" dirty="0"/>
              <a:t> </a:t>
            </a:r>
            <a:r>
              <a:rPr lang="en-US" b="1" dirty="0" err="1"/>
              <a:t>lí</a:t>
            </a:r>
            <a:endParaRPr lang="en-US" b="1" dirty="0"/>
          </a:p>
        </p:txBody>
      </p:sp>
    </p:spTree>
    <p:extLst>
      <p:ext uri="{BB962C8B-B14F-4D97-AF65-F5344CB8AC3E}">
        <p14:creationId xmlns:p14="http://schemas.microsoft.com/office/powerpoint/2010/main" val="1823700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oogle Shape;440;p1" descr="Top 10 trung tâm tin học đào tạo cấp chứng chỉ chất lượng nhất hiện nay">
            <a:extLst>
              <a:ext uri="{FF2B5EF4-FFF2-40B4-BE49-F238E27FC236}">
                <a16:creationId xmlns:a16="http://schemas.microsoft.com/office/drawing/2014/main" id="{99036AD2-EF35-CE50-5945-38E5B28A422F}"/>
              </a:ext>
            </a:extLst>
          </p:cNvPr>
          <p:cNvPicPr preferRelativeResize="0"/>
          <p:nvPr/>
        </p:nvPicPr>
        <p:blipFill rotWithShape="1">
          <a:blip r:embed="rId2">
            <a:alphaModFix/>
          </a:blip>
          <a:srcRect/>
          <a:stretch/>
        </p:blipFill>
        <p:spPr>
          <a:xfrm>
            <a:off x="11490022" y="0"/>
            <a:ext cx="701978" cy="701978"/>
          </a:xfrm>
          <a:prstGeom prst="rect">
            <a:avLst/>
          </a:prstGeom>
          <a:noFill/>
          <a:ln>
            <a:noFill/>
          </a:ln>
        </p:spPr>
      </p:pic>
      <p:sp>
        <p:nvSpPr>
          <p:cNvPr id="5" name="TextBox 4">
            <a:extLst>
              <a:ext uri="{FF2B5EF4-FFF2-40B4-BE49-F238E27FC236}">
                <a16:creationId xmlns:a16="http://schemas.microsoft.com/office/drawing/2014/main" id="{6ABFF17F-8A0D-07CD-FCD1-CBB065E215FF}"/>
              </a:ext>
            </a:extLst>
          </p:cNvPr>
          <p:cNvSpPr txBox="1"/>
          <p:nvPr/>
        </p:nvSpPr>
        <p:spPr>
          <a:xfrm>
            <a:off x="643473" y="43469"/>
            <a:ext cx="10905053" cy="1200329"/>
          </a:xfrm>
          <a:prstGeom prst="rect">
            <a:avLst/>
          </a:prstGeom>
          <a:noFill/>
        </p:spPr>
        <p:txBody>
          <a:bodyPr wrap="square">
            <a:spAutoFit/>
          </a:bodyPr>
          <a:lstStyle>
            <a:defPPr>
              <a:defRPr lang="en-US"/>
            </a:defPPr>
            <a:lvl1pPr>
              <a:defRPr sz="3600" b="1"/>
            </a:lvl1pPr>
          </a:lstStyle>
          <a:p>
            <a:r>
              <a:rPr lang="en-US" altLang="ja-JP"/>
              <a:t>3. </a:t>
            </a:r>
            <a:r>
              <a:rPr lang="ja-JP" altLang="en-US"/>
              <a:t>📦 </a:t>
            </a:r>
            <a:r>
              <a:rPr lang="vi-VN" altLang="ja-JP"/>
              <a:t>Xử lý &amp; Khám phá dữ liệu (EDA)</a:t>
            </a:r>
          </a:p>
          <a:p>
            <a:endParaRPr lang="ja-JP" altLang="en-US"/>
          </a:p>
        </p:txBody>
      </p:sp>
      <p:sp>
        <p:nvSpPr>
          <p:cNvPr id="3" name="Rectangle 1">
            <a:extLst>
              <a:ext uri="{FF2B5EF4-FFF2-40B4-BE49-F238E27FC236}">
                <a16:creationId xmlns:a16="http://schemas.microsoft.com/office/drawing/2014/main" id="{BABB99D1-B002-0F21-B4F0-9C780202FF7E}"/>
              </a:ext>
            </a:extLst>
          </p:cNvPr>
          <p:cNvSpPr>
            <a:spLocks noChangeArrowheads="1"/>
          </p:cNvSpPr>
          <p:nvPr/>
        </p:nvSpPr>
        <p:spPr bwMode="auto">
          <a:xfrm>
            <a:off x="640075" y="870849"/>
            <a:ext cx="1084994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Trích</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xuất</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đặc</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trưng</a:t>
            </a:r>
            <a:r>
              <a:rPr kumimoji="0" lang="en-US" altLang="en-US" sz="1800" b="1" i="0" u="none" strike="noStrike" cap="none" normalizeH="0" baseline="0" dirty="0">
                <a:ln>
                  <a:noFill/>
                </a:ln>
                <a:solidFill>
                  <a:schemeClr val="tx1"/>
                </a:solidFill>
                <a:effectLst/>
                <a:latin typeface="Arial" panose="020B0604020202020204" pitchFamily="34" charset="0"/>
              </a:rPr>
              <a:t> (Feature Extraction):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Sử</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dụng</a:t>
            </a:r>
            <a:r>
              <a:rPr kumimoji="0" lang="en-US" altLang="en-US" sz="1800" b="0" i="0" u="none" strike="noStrike" cap="none" normalizeH="0" baseline="0" dirty="0">
                <a:ln>
                  <a:noFill/>
                </a:ln>
                <a:solidFill>
                  <a:schemeClr val="tx1"/>
                </a:solidFill>
                <a:effectLst/>
                <a:latin typeface="Arial" panose="020B0604020202020204" pitchFamily="34" charset="0"/>
              </a:rPr>
              <a:t> Regex </a:t>
            </a:r>
            <a:r>
              <a:rPr kumimoji="0" lang="en-US" altLang="en-US" sz="1800" b="0" i="0" u="none" strike="noStrike" cap="none" normalizeH="0" baseline="0" dirty="0" err="1">
                <a:ln>
                  <a:noFill/>
                </a:ln>
                <a:solidFill>
                  <a:schemeClr val="tx1"/>
                </a:solidFill>
                <a:effectLst/>
                <a:latin typeface="Arial" panose="020B0604020202020204" pitchFamily="34" charset="0"/>
              </a:rPr>
              <a:t>để</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chuyển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đổi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ngôn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ngữ</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tự</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nhiên</a:t>
            </a:r>
            <a:r>
              <a:rPr kumimoji="0" lang="en-US" altLang="en-US" sz="1800" b="0" i="0" u="none" strike="noStrike" cap="none" normalizeH="0" baseline="0" dirty="0">
                <a:ln>
                  <a:noFill/>
                </a:ln>
                <a:solidFill>
                  <a:schemeClr val="tx1"/>
                </a:solidFill>
                <a:effectLst/>
                <a:latin typeface="Arial" panose="020B0604020202020204" pitchFamily="34" charset="0"/>
              </a:rPr>
              <a:t> (NLP </a:t>
            </a:r>
            <a:r>
              <a:rPr kumimoji="0" lang="en-US" altLang="en-US" sz="1800" b="0" i="0" u="none" strike="noStrike" cap="none" normalizeH="0" baseline="0" dirty="0" err="1">
                <a:ln>
                  <a:noFill/>
                </a:ln>
                <a:solidFill>
                  <a:schemeClr val="tx1"/>
                </a:solidFill>
                <a:effectLst/>
                <a:latin typeface="Arial" panose="020B0604020202020204" pitchFamily="34" charset="0"/>
              </a:rPr>
              <a:t>cơ</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bản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từ</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Tiêu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đề</a:t>
            </a:r>
            <a:r>
              <a:rPr kumimoji="0" lang="en-US" altLang="en-US" sz="1800" b="0"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err="1">
                <a:ln>
                  <a:noFill/>
                </a:ln>
                <a:solidFill>
                  <a:schemeClr val="tx1"/>
                </a:solidFill>
                <a:effectLst/>
                <a:latin typeface="Arial" panose="020B0604020202020204" pitchFamily="34" charset="0"/>
              </a:rPr>
              <a:t>Mô</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tả</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thành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dữ</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liệu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số</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Xử</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lý</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dữ</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liệu</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khuyết</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thiếu</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thông</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minh</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Thay </a:t>
            </a:r>
            <a:r>
              <a:rPr kumimoji="0" lang="en-US" altLang="en-US" sz="1800" b="0" i="0" u="none" strike="noStrike" cap="none" normalizeH="0" baseline="0" dirty="0" err="1">
                <a:ln>
                  <a:noFill/>
                </a:ln>
                <a:solidFill>
                  <a:schemeClr val="tx1"/>
                </a:solidFill>
                <a:effectLst/>
                <a:latin typeface="Arial" panose="020B0604020202020204" pitchFamily="34" charset="0"/>
              </a:rPr>
              <a:t>vì</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xóa</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bỏ</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các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dòng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thiếu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Số</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tầng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nhóm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đã</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tái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cấu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trúc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dữ</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liệu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từ</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các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nguồn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liên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quan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Tối</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ưu</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hóa</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tập</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dữ</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liệu</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Giúp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mô</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hình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có</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thêm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thông</a:t>
            </a:r>
            <a:r>
              <a:rPr kumimoji="0" lang="en-US" altLang="en-US" sz="1800" b="0" i="0" u="none" strike="noStrike" cap="none" normalizeH="0" baseline="0" dirty="0">
                <a:ln>
                  <a:noFill/>
                </a:ln>
                <a:solidFill>
                  <a:schemeClr val="tx1"/>
                </a:solidFill>
                <a:effectLst/>
                <a:latin typeface="Arial" panose="020B0604020202020204" pitchFamily="34" charset="0"/>
              </a:rPr>
              <a:t> tin </a:t>
            </a:r>
            <a:r>
              <a:rPr kumimoji="0" lang="en-US" altLang="en-US" sz="1800" b="0" i="0" u="none" strike="noStrike" cap="none" normalizeH="0" baseline="0" dirty="0" err="1">
                <a:ln>
                  <a:noFill/>
                </a:ln>
                <a:solidFill>
                  <a:schemeClr val="tx1"/>
                </a:solidFill>
                <a:effectLst/>
                <a:latin typeface="Arial" panose="020B0604020202020204" pitchFamily="34" charset="0"/>
              </a:rPr>
              <a:t>quan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trọng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về</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mô</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công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trình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tăng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độ</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chính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xác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dự</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báo</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giá</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grpSp>
        <p:nvGrpSpPr>
          <p:cNvPr id="17" name="Group 16">
            <a:extLst>
              <a:ext uri="{FF2B5EF4-FFF2-40B4-BE49-F238E27FC236}">
                <a16:creationId xmlns:a16="http://schemas.microsoft.com/office/drawing/2014/main" id="{179A47C8-C3B7-4269-334A-CC6C31AACDE1}"/>
              </a:ext>
            </a:extLst>
          </p:cNvPr>
          <p:cNvGrpSpPr/>
          <p:nvPr/>
        </p:nvGrpSpPr>
        <p:grpSpPr>
          <a:xfrm>
            <a:off x="732330" y="2882913"/>
            <a:ext cx="10723940" cy="2993741"/>
            <a:chOff x="732330" y="2882913"/>
            <a:chExt cx="10723940" cy="2993741"/>
          </a:xfrm>
        </p:grpSpPr>
        <p:pic>
          <p:nvPicPr>
            <p:cNvPr id="9" name="Picture 8">
              <a:extLst>
                <a:ext uri="{FF2B5EF4-FFF2-40B4-BE49-F238E27FC236}">
                  <a16:creationId xmlns:a16="http://schemas.microsoft.com/office/drawing/2014/main" id="{7105B388-4556-2714-445E-9C5AF8F3BB69}"/>
                </a:ext>
              </a:extLst>
            </p:cNvPr>
            <p:cNvPicPr>
              <a:picLocks noChangeAspect="1"/>
            </p:cNvPicPr>
            <p:nvPr/>
          </p:nvPicPr>
          <p:blipFill>
            <a:blip r:embed="rId3"/>
            <a:stretch>
              <a:fillRect/>
            </a:stretch>
          </p:blipFill>
          <p:spPr>
            <a:xfrm>
              <a:off x="732330" y="2882913"/>
              <a:ext cx="10723940" cy="2993741"/>
            </a:xfrm>
            <a:prstGeom prst="rect">
              <a:avLst/>
            </a:prstGeom>
          </p:spPr>
        </p:pic>
        <p:sp>
          <p:nvSpPr>
            <p:cNvPr id="13" name="Rectangle: Rounded Corners 12">
              <a:extLst>
                <a:ext uri="{FF2B5EF4-FFF2-40B4-BE49-F238E27FC236}">
                  <a16:creationId xmlns:a16="http://schemas.microsoft.com/office/drawing/2014/main" id="{EA39BD8C-0086-C8F3-A88C-4D7C7307B391}"/>
                </a:ext>
              </a:extLst>
            </p:cNvPr>
            <p:cNvSpPr/>
            <p:nvPr/>
          </p:nvSpPr>
          <p:spPr>
            <a:xfrm>
              <a:off x="9355756" y="3014134"/>
              <a:ext cx="1036352" cy="271289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ADD15555-1396-DAAA-4F1F-E07C9112BB63}"/>
                </a:ext>
              </a:extLst>
            </p:cNvPr>
            <p:cNvSpPr/>
            <p:nvPr/>
          </p:nvSpPr>
          <p:spPr>
            <a:xfrm>
              <a:off x="10491536" y="2946907"/>
              <a:ext cx="865307" cy="278012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27352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oogle Shape;440;p1" descr="Top 10 trung tâm tin học đào tạo cấp chứng chỉ chất lượng nhất hiện nay">
            <a:extLst>
              <a:ext uri="{FF2B5EF4-FFF2-40B4-BE49-F238E27FC236}">
                <a16:creationId xmlns:a16="http://schemas.microsoft.com/office/drawing/2014/main" id="{99036AD2-EF35-CE50-5945-38E5B28A422F}"/>
              </a:ext>
            </a:extLst>
          </p:cNvPr>
          <p:cNvPicPr preferRelativeResize="0"/>
          <p:nvPr/>
        </p:nvPicPr>
        <p:blipFill rotWithShape="1">
          <a:blip r:embed="rId2">
            <a:alphaModFix/>
          </a:blip>
          <a:srcRect/>
          <a:stretch/>
        </p:blipFill>
        <p:spPr>
          <a:xfrm>
            <a:off x="11490022" y="0"/>
            <a:ext cx="701978" cy="701978"/>
          </a:xfrm>
          <a:prstGeom prst="rect">
            <a:avLst/>
          </a:prstGeom>
          <a:noFill/>
          <a:ln>
            <a:noFill/>
          </a:ln>
        </p:spPr>
      </p:pic>
      <p:sp>
        <p:nvSpPr>
          <p:cNvPr id="5" name="TextBox 4">
            <a:extLst>
              <a:ext uri="{FF2B5EF4-FFF2-40B4-BE49-F238E27FC236}">
                <a16:creationId xmlns:a16="http://schemas.microsoft.com/office/drawing/2014/main" id="{6ABFF17F-8A0D-07CD-FCD1-CBB065E215FF}"/>
              </a:ext>
            </a:extLst>
          </p:cNvPr>
          <p:cNvSpPr txBox="1"/>
          <p:nvPr/>
        </p:nvSpPr>
        <p:spPr>
          <a:xfrm>
            <a:off x="643473" y="43469"/>
            <a:ext cx="10905053" cy="1200329"/>
          </a:xfrm>
          <a:prstGeom prst="rect">
            <a:avLst/>
          </a:prstGeom>
          <a:noFill/>
        </p:spPr>
        <p:txBody>
          <a:bodyPr wrap="square">
            <a:spAutoFit/>
          </a:bodyPr>
          <a:lstStyle>
            <a:defPPr>
              <a:defRPr lang="en-US"/>
            </a:defPPr>
            <a:lvl1pPr>
              <a:defRPr sz="3600" b="1"/>
            </a:lvl1pPr>
          </a:lstStyle>
          <a:p>
            <a:r>
              <a:rPr lang="en-US" altLang="ja-JP"/>
              <a:t>3. </a:t>
            </a:r>
            <a:r>
              <a:rPr lang="ja-JP" altLang="en-US"/>
              <a:t>📦 </a:t>
            </a:r>
            <a:r>
              <a:rPr lang="vi-VN" altLang="ja-JP"/>
              <a:t>Xử lý &amp; Khám phá dữ liệu (EDA)</a:t>
            </a:r>
          </a:p>
          <a:p>
            <a:endParaRPr lang="ja-JP" altLang="en-US"/>
          </a:p>
        </p:txBody>
      </p:sp>
      <p:sp>
        <p:nvSpPr>
          <p:cNvPr id="11" name="TextBox 10">
            <a:extLst>
              <a:ext uri="{FF2B5EF4-FFF2-40B4-BE49-F238E27FC236}">
                <a16:creationId xmlns:a16="http://schemas.microsoft.com/office/drawing/2014/main" id="{513C2D92-C346-B9CB-8F65-2B6F73B7D6C4}"/>
              </a:ext>
            </a:extLst>
          </p:cNvPr>
          <p:cNvSpPr txBox="1"/>
          <p:nvPr/>
        </p:nvSpPr>
        <p:spPr>
          <a:xfrm>
            <a:off x="641774" y="701978"/>
            <a:ext cx="10905052" cy="646331"/>
          </a:xfrm>
          <a:prstGeom prst="rect">
            <a:avLst/>
          </a:prstGeom>
          <a:noFill/>
        </p:spPr>
        <p:txBody>
          <a:bodyPr wrap="square">
            <a:spAutoFit/>
          </a:bodyPr>
          <a:lstStyle/>
          <a:p>
            <a:r>
              <a:rPr lang="vi-VN" altLang="ja-JP" b="1" dirty="0"/>
              <a:t>Xử lý phân phối lệch (Skewness):</a:t>
            </a:r>
            <a:r>
              <a:rPr lang="vi-VN" altLang="ja-JP" dirty="0"/>
              <a:t> * Áp dụng </a:t>
            </a:r>
            <a:r>
              <a:rPr lang="vi-VN" altLang="ja-JP" b="1" dirty="0"/>
              <a:t>Log Transformation</a:t>
            </a:r>
            <a:r>
              <a:rPr lang="vi-VN" altLang="ja-JP" dirty="0"/>
              <a:t> cho biến Giá (Price) để đưa dữ liệu về phân phối chuẩn, giúp tăng tốc độ hội tụ và giảm sai số cho mô hình.</a:t>
            </a:r>
            <a:endParaRPr lang="ja-JP" altLang="en-US" dirty="0"/>
          </a:p>
        </p:txBody>
      </p:sp>
      <p:grpSp>
        <p:nvGrpSpPr>
          <p:cNvPr id="17" name="Group 16">
            <a:extLst>
              <a:ext uri="{FF2B5EF4-FFF2-40B4-BE49-F238E27FC236}">
                <a16:creationId xmlns:a16="http://schemas.microsoft.com/office/drawing/2014/main" id="{551993E2-0FB4-3A89-F650-3547239325F6}"/>
              </a:ext>
            </a:extLst>
          </p:cNvPr>
          <p:cNvGrpSpPr/>
          <p:nvPr/>
        </p:nvGrpSpPr>
        <p:grpSpPr>
          <a:xfrm>
            <a:off x="701978" y="1441099"/>
            <a:ext cx="10797526" cy="4679455"/>
            <a:chOff x="701978" y="1441099"/>
            <a:chExt cx="10797526" cy="4679455"/>
          </a:xfrm>
        </p:grpSpPr>
        <p:sp>
          <p:nvSpPr>
            <p:cNvPr id="15" name="TextBox 14">
              <a:extLst>
                <a:ext uri="{FF2B5EF4-FFF2-40B4-BE49-F238E27FC236}">
                  <a16:creationId xmlns:a16="http://schemas.microsoft.com/office/drawing/2014/main" id="{AC38E0B3-1535-B8F8-8231-544A3910F072}"/>
                </a:ext>
              </a:extLst>
            </p:cNvPr>
            <p:cNvSpPr txBox="1"/>
            <p:nvPr/>
          </p:nvSpPr>
          <p:spPr>
            <a:xfrm>
              <a:off x="2516727" y="1496231"/>
              <a:ext cx="1495145" cy="369332"/>
            </a:xfrm>
            <a:prstGeom prst="rect">
              <a:avLst/>
            </a:prstGeom>
            <a:noFill/>
          </p:spPr>
          <p:txBody>
            <a:bodyPr wrap="square" rtlCol="0">
              <a:spAutoFit/>
            </a:bodyPr>
            <a:lstStyle/>
            <a:p>
              <a:pPr algn="ctr"/>
              <a:r>
                <a:rPr lang="en-US" b="1" dirty="0" err="1"/>
                <a:t>Trước</a:t>
              </a:r>
              <a:r>
                <a:rPr lang="en-US" b="1" dirty="0"/>
                <a:t> </a:t>
              </a:r>
              <a:r>
                <a:rPr lang="en-US" b="1" dirty="0" err="1"/>
                <a:t>xử</a:t>
              </a:r>
              <a:r>
                <a:rPr lang="en-US" b="1" dirty="0"/>
                <a:t> </a:t>
              </a:r>
              <a:r>
                <a:rPr lang="en-US" b="1" dirty="0" err="1"/>
                <a:t>lí</a:t>
              </a:r>
              <a:endParaRPr lang="en-US" b="1" dirty="0"/>
            </a:p>
          </p:txBody>
        </p:sp>
        <p:sp>
          <p:nvSpPr>
            <p:cNvPr id="19" name="TextBox 18">
              <a:extLst>
                <a:ext uri="{FF2B5EF4-FFF2-40B4-BE49-F238E27FC236}">
                  <a16:creationId xmlns:a16="http://schemas.microsoft.com/office/drawing/2014/main" id="{F4DCD2BE-4E6A-2CE7-48D5-67DDAC4719FB}"/>
                </a:ext>
              </a:extLst>
            </p:cNvPr>
            <p:cNvSpPr txBox="1"/>
            <p:nvPr/>
          </p:nvSpPr>
          <p:spPr>
            <a:xfrm>
              <a:off x="8190956" y="1454272"/>
              <a:ext cx="1495145" cy="369332"/>
            </a:xfrm>
            <a:prstGeom prst="rect">
              <a:avLst/>
            </a:prstGeom>
            <a:noFill/>
          </p:spPr>
          <p:txBody>
            <a:bodyPr wrap="square" rtlCol="0">
              <a:spAutoFit/>
            </a:bodyPr>
            <a:lstStyle/>
            <a:p>
              <a:pPr algn="ctr"/>
              <a:r>
                <a:rPr lang="en-US" b="1" dirty="0"/>
                <a:t>Sau </a:t>
              </a:r>
              <a:r>
                <a:rPr lang="en-US" b="1" dirty="0" err="1"/>
                <a:t>xử</a:t>
              </a:r>
              <a:r>
                <a:rPr lang="en-US" b="1" dirty="0"/>
                <a:t> </a:t>
              </a:r>
              <a:r>
                <a:rPr lang="en-US" b="1" dirty="0" err="1"/>
                <a:t>lí</a:t>
              </a:r>
              <a:endParaRPr lang="en-US" b="1" dirty="0"/>
            </a:p>
          </p:txBody>
        </p:sp>
        <p:pic>
          <p:nvPicPr>
            <p:cNvPr id="6" name="Picture 5">
              <a:extLst>
                <a:ext uri="{FF2B5EF4-FFF2-40B4-BE49-F238E27FC236}">
                  <a16:creationId xmlns:a16="http://schemas.microsoft.com/office/drawing/2014/main" id="{03D2FD79-38CA-F3DA-0558-E846756340F3}"/>
                </a:ext>
              </a:extLst>
            </p:cNvPr>
            <p:cNvPicPr>
              <a:picLocks noChangeAspect="1"/>
            </p:cNvPicPr>
            <p:nvPr/>
          </p:nvPicPr>
          <p:blipFill>
            <a:blip r:embed="rId3"/>
            <a:stretch>
              <a:fillRect/>
            </a:stretch>
          </p:blipFill>
          <p:spPr>
            <a:xfrm>
              <a:off x="6282911" y="1848109"/>
              <a:ext cx="5216593" cy="4108782"/>
            </a:xfrm>
            <a:prstGeom prst="rect">
              <a:avLst/>
            </a:prstGeom>
          </p:spPr>
        </p:pic>
        <p:pic>
          <p:nvPicPr>
            <p:cNvPr id="13" name="Picture 12">
              <a:extLst>
                <a:ext uri="{FF2B5EF4-FFF2-40B4-BE49-F238E27FC236}">
                  <a16:creationId xmlns:a16="http://schemas.microsoft.com/office/drawing/2014/main" id="{346FEFAD-D6D1-1DD2-99D1-B4303AF7013C}"/>
                </a:ext>
              </a:extLst>
            </p:cNvPr>
            <p:cNvPicPr>
              <a:picLocks noChangeAspect="1"/>
            </p:cNvPicPr>
            <p:nvPr/>
          </p:nvPicPr>
          <p:blipFill>
            <a:blip r:embed="rId4"/>
            <a:stretch>
              <a:fillRect/>
            </a:stretch>
          </p:blipFill>
          <p:spPr>
            <a:xfrm>
              <a:off x="701978" y="2027056"/>
              <a:ext cx="5124645" cy="4093498"/>
            </a:xfrm>
            <a:prstGeom prst="rect">
              <a:avLst/>
            </a:prstGeom>
          </p:spPr>
        </p:pic>
        <p:sp>
          <p:nvSpPr>
            <p:cNvPr id="16" name="Arrow: Right 15">
              <a:extLst>
                <a:ext uri="{FF2B5EF4-FFF2-40B4-BE49-F238E27FC236}">
                  <a16:creationId xmlns:a16="http://schemas.microsoft.com/office/drawing/2014/main" id="{9CF7F7FF-2980-0123-05C4-0BAA69A1C6A7}"/>
                </a:ext>
              </a:extLst>
            </p:cNvPr>
            <p:cNvSpPr/>
            <p:nvPr/>
          </p:nvSpPr>
          <p:spPr>
            <a:xfrm>
              <a:off x="4285517" y="1441099"/>
              <a:ext cx="3799703" cy="369332"/>
            </a:xfrm>
            <a:prstGeom prst="rightArrow">
              <a:avLst/>
            </a:prstGeom>
            <a:solidFill>
              <a:schemeClr val="accent6">
                <a:lumMod val="60000"/>
                <a:lumOff val="40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34287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oogle Shape;440;p1" descr="Top 10 trung tâm tin học đào tạo cấp chứng chỉ chất lượng nhất hiện nay">
            <a:extLst>
              <a:ext uri="{FF2B5EF4-FFF2-40B4-BE49-F238E27FC236}">
                <a16:creationId xmlns:a16="http://schemas.microsoft.com/office/drawing/2014/main" id="{99036AD2-EF35-CE50-5945-38E5B28A422F}"/>
              </a:ext>
            </a:extLst>
          </p:cNvPr>
          <p:cNvPicPr preferRelativeResize="0"/>
          <p:nvPr/>
        </p:nvPicPr>
        <p:blipFill rotWithShape="1">
          <a:blip r:embed="rId2">
            <a:alphaModFix/>
          </a:blip>
          <a:srcRect/>
          <a:stretch/>
        </p:blipFill>
        <p:spPr>
          <a:xfrm>
            <a:off x="11490022" y="0"/>
            <a:ext cx="701978" cy="701978"/>
          </a:xfrm>
          <a:prstGeom prst="rect">
            <a:avLst/>
          </a:prstGeom>
          <a:noFill/>
          <a:ln>
            <a:noFill/>
          </a:ln>
        </p:spPr>
      </p:pic>
      <p:sp>
        <p:nvSpPr>
          <p:cNvPr id="5" name="TextBox 4">
            <a:extLst>
              <a:ext uri="{FF2B5EF4-FFF2-40B4-BE49-F238E27FC236}">
                <a16:creationId xmlns:a16="http://schemas.microsoft.com/office/drawing/2014/main" id="{6ABFF17F-8A0D-07CD-FCD1-CBB065E215FF}"/>
              </a:ext>
            </a:extLst>
          </p:cNvPr>
          <p:cNvSpPr txBox="1"/>
          <p:nvPr/>
        </p:nvSpPr>
        <p:spPr>
          <a:xfrm>
            <a:off x="641773" y="36673"/>
            <a:ext cx="10905053" cy="1200329"/>
          </a:xfrm>
          <a:prstGeom prst="rect">
            <a:avLst/>
          </a:prstGeom>
          <a:noFill/>
        </p:spPr>
        <p:txBody>
          <a:bodyPr wrap="square">
            <a:spAutoFit/>
          </a:bodyPr>
          <a:lstStyle>
            <a:defPPr>
              <a:defRPr lang="en-US"/>
            </a:defPPr>
            <a:lvl1pPr>
              <a:defRPr sz="3600" b="1"/>
            </a:lvl1pPr>
          </a:lstStyle>
          <a:p>
            <a:r>
              <a:rPr lang="en-US" altLang="ja-JP"/>
              <a:t>3. </a:t>
            </a:r>
            <a:r>
              <a:rPr lang="ja-JP" altLang="en-US"/>
              <a:t>📦 </a:t>
            </a:r>
            <a:r>
              <a:rPr lang="vi-VN" altLang="ja-JP"/>
              <a:t>Xử lý &amp; Khám phá dữ liệu (EDA)</a:t>
            </a:r>
          </a:p>
          <a:p>
            <a:endParaRPr lang="ja-JP" altLang="en-US"/>
          </a:p>
        </p:txBody>
      </p:sp>
      <p:sp>
        <p:nvSpPr>
          <p:cNvPr id="14" name="TextBox 13">
            <a:extLst>
              <a:ext uri="{FF2B5EF4-FFF2-40B4-BE49-F238E27FC236}">
                <a16:creationId xmlns:a16="http://schemas.microsoft.com/office/drawing/2014/main" id="{1279EF73-45C2-5DF4-D811-8B9A7A829A9D}"/>
              </a:ext>
            </a:extLst>
          </p:cNvPr>
          <p:cNvSpPr txBox="1"/>
          <p:nvPr/>
        </p:nvSpPr>
        <p:spPr>
          <a:xfrm>
            <a:off x="641771" y="701978"/>
            <a:ext cx="10848249" cy="923330"/>
          </a:xfrm>
          <a:prstGeom prst="rect">
            <a:avLst/>
          </a:prstGeom>
          <a:noFill/>
        </p:spPr>
        <p:txBody>
          <a:bodyPr wrap="square">
            <a:spAutoFit/>
          </a:bodyPr>
          <a:lstStyle/>
          <a:p>
            <a:r>
              <a:rPr lang="vi-VN" b="1" dirty="0"/>
              <a:t>Loại bỏ giá trị ngoại lai (Outliers Handling):</a:t>
            </a:r>
            <a:r>
              <a:rPr lang="vi-VN" dirty="0"/>
              <a:t> Áp dụng phương pháp </a:t>
            </a:r>
            <a:r>
              <a:rPr lang="vi-VN" b="1" dirty="0"/>
              <a:t>Lọc ngưỡng thực tế</a:t>
            </a:r>
            <a:r>
              <a:rPr lang="vi-VN" dirty="0"/>
              <a:t> (Diện tích &gt; 500m2, Giá ảo) và biểu đồ </a:t>
            </a:r>
            <a:r>
              <a:rPr lang="vi-VN" b="1" dirty="0"/>
              <a:t>Box Plot</a:t>
            </a:r>
            <a:r>
              <a:rPr lang="vi-VN" dirty="0"/>
              <a:t> để loại bỏ các điểm dữ liệu nhiễu, giúp mô hình tập trung vào phân khúc nhà ở phổ thông và tăng độ tin cậy khi dự báo.</a:t>
            </a:r>
            <a:endParaRPr lang="ja-JP" altLang="en-US" dirty="0"/>
          </a:p>
        </p:txBody>
      </p:sp>
      <p:grpSp>
        <p:nvGrpSpPr>
          <p:cNvPr id="22" name="Group 21">
            <a:extLst>
              <a:ext uri="{FF2B5EF4-FFF2-40B4-BE49-F238E27FC236}">
                <a16:creationId xmlns:a16="http://schemas.microsoft.com/office/drawing/2014/main" id="{6AD3906C-61A3-16F3-F739-7013F130B201}"/>
              </a:ext>
            </a:extLst>
          </p:cNvPr>
          <p:cNvGrpSpPr/>
          <p:nvPr/>
        </p:nvGrpSpPr>
        <p:grpSpPr>
          <a:xfrm>
            <a:off x="789186" y="1681751"/>
            <a:ext cx="10257966" cy="4450360"/>
            <a:chOff x="789186" y="1681751"/>
            <a:chExt cx="10257966" cy="4450360"/>
          </a:xfrm>
        </p:grpSpPr>
        <p:pic>
          <p:nvPicPr>
            <p:cNvPr id="6" name="Picture 5">
              <a:extLst>
                <a:ext uri="{FF2B5EF4-FFF2-40B4-BE49-F238E27FC236}">
                  <a16:creationId xmlns:a16="http://schemas.microsoft.com/office/drawing/2014/main" id="{6D7B375B-E2E1-0BAA-AEA6-E476664B3AFC}"/>
                </a:ext>
              </a:extLst>
            </p:cNvPr>
            <p:cNvPicPr>
              <a:picLocks noChangeAspect="1"/>
            </p:cNvPicPr>
            <p:nvPr/>
          </p:nvPicPr>
          <p:blipFill>
            <a:blip r:embed="rId3"/>
            <a:stretch>
              <a:fillRect/>
            </a:stretch>
          </p:blipFill>
          <p:spPr>
            <a:xfrm>
              <a:off x="789186" y="2248583"/>
              <a:ext cx="4861784" cy="3883528"/>
            </a:xfrm>
            <a:prstGeom prst="rect">
              <a:avLst/>
            </a:prstGeom>
          </p:spPr>
        </p:pic>
        <p:pic>
          <p:nvPicPr>
            <p:cNvPr id="9" name="Picture 8">
              <a:extLst>
                <a:ext uri="{FF2B5EF4-FFF2-40B4-BE49-F238E27FC236}">
                  <a16:creationId xmlns:a16="http://schemas.microsoft.com/office/drawing/2014/main" id="{21DFE7E6-621F-9869-4A57-5FD98EFD05D7}"/>
                </a:ext>
              </a:extLst>
            </p:cNvPr>
            <p:cNvPicPr>
              <a:picLocks noChangeAspect="1"/>
            </p:cNvPicPr>
            <p:nvPr/>
          </p:nvPicPr>
          <p:blipFill>
            <a:blip r:embed="rId4"/>
            <a:stretch>
              <a:fillRect/>
            </a:stretch>
          </p:blipFill>
          <p:spPr>
            <a:xfrm>
              <a:off x="6185368" y="2248583"/>
              <a:ext cx="4861784" cy="3879605"/>
            </a:xfrm>
            <a:prstGeom prst="rect">
              <a:avLst/>
            </a:prstGeom>
          </p:spPr>
        </p:pic>
        <p:sp>
          <p:nvSpPr>
            <p:cNvPr id="11" name="TextBox 10">
              <a:extLst>
                <a:ext uri="{FF2B5EF4-FFF2-40B4-BE49-F238E27FC236}">
                  <a16:creationId xmlns:a16="http://schemas.microsoft.com/office/drawing/2014/main" id="{A69DC455-4ADE-CEE0-151A-86453209CD0F}"/>
                </a:ext>
              </a:extLst>
            </p:cNvPr>
            <p:cNvSpPr txBox="1"/>
            <p:nvPr/>
          </p:nvSpPr>
          <p:spPr>
            <a:xfrm>
              <a:off x="2468638" y="1681751"/>
              <a:ext cx="1495145" cy="369332"/>
            </a:xfrm>
            <a:prstGeom prst="rect">
              <a:avLst/>
            </a:prstGeom>
            <a:noFill/>
          </p:spPr>
          <p:txBody>
            <a:bodyPr wrap="square" rtlCol="0">
              <a:spAutoFit/>
            </a:bodyPr>
            <a:lstStyle/>
            <a:p>
              <a:pPr algn="ctr"/>
              <a:r>
                <a:rPr lang="en-US" b="1" dirty="0" err="1"/>
                <a:t>Trước</a:t>
              </a:r>
              <a:r>
                <a:rPr lang="en-US" b="1" dirty="0"/>
                <a:t> </a:t>
              </a:r>
              <a:r>
                <a:rPr lang="en-US" b="1" dirty="0" err="1"/>
                <a:t>xử</a:t>
              </a:r>
              <a:r>
                <a:rPr lang="en-US" b="1" dirty="0"/>
                <a:t> </a:t>
              </a:r>
              <a:r>
                <a:rPr lang="en-US" b="1" dirty="0" err="1"/>
                <a:t>lí</a:t>
              </a:r>
              <a:endParaRPr lang="en-US" b="1" dirty="0"/>
            </a:p>
          </p:txBody>
        </p:sp>
        <p:sp>
          <p:nvSpPr>
            <p:cNvPr id="16" name="TextBox 15">
              <a:extLst>
                <a:ext uri="{FF2B5EF4-FFF2-40B4-BE49-F238E27FC236}">
                  <a16:creationId xmlns:a16="http://schemas.microsoft.com/office/drawing/2014/main" id="{0DF3E8B1-DEAC-3CFB-546A-784744DA1F1B}"/>
                </a:ext>
              </a:extLst>
            </p:cNvPr>
            <p:cNvSpPr txBox="1"/>
            <p:nvPr/>
          </p:nvSpPr>
          <p:spPr>
            <a:xfrm>
              <a:off x="7869223" y="1752279"/>
              <a:ext cx="1495145" cy="369332"/>
            </a:xfrm>
            <a:prstGeom prst="rect">
              <a:avLst/>
            </a:prstGeom>
            <a:noFill/>
          </p:spPr>
          <p:txBody>
            <a:bodyPr wrap="square" rtlCol="0">
              <a:spAutoFit/>
            </a:bodyPr>
            <a:lstStyle/>
            <a:p>
              <a:pPr algn="ctr"/>
              <a:r>
                <a:rPr lang="en-US" b="1" dirty="0"/>
                <a:t>Sau </a:t>
              </a:r>
              <a:r>
                <a:rPr lang="en-US" b="1" dirty="0" err="1"/>
                <a:t>xử</a:t>
              </a:r>
              <a:r>
                <a:rPr lang="en-US" b="1" dirty="0"/>
                <a:t> </a:t>
              </a:r>
              <a:r>
                <a:rPr lang="en-US" b="1" dirty="0" err="1"/>
                <a:t>lí</a:t>
              </a:r>
              <a:endParaRPr lang="en-US" b="1" dirty="0"/>
            </a:p>
          </p:txBody>
        </p:sp>
        <p:sp>
          <p:nvSpPr>
            <p:cNvPr id="17" name="Arrow: Right 16">
              <a:extLst>
                <a:ext uri="{FF2B5EF4-FFF2-40B4-BE49-F238E27FC236}">
                  <a16:creationId xmlns:a16="http://schemas.microsoft.com/office/drawing/2014/main" id="{1B62866E-9B57-5B27-0584-2606A3083B13}"/>
                </a:ext>
              </a:extLst>
            </p:cNvPr>
            <p:cNvSpPr/>
            <p:nvPr/>
          </p:nvSpPr>
          <p:spPr>
            <a:xfrm>
              <a:off x="4194447" y="1704011"/>
              <a:ext cx="3799703" cy="369332"/>
            </a:xfrm>
            <a:prstGeom prst="rightArrow">
              <a:avLst/>
            </a:prstGeom>
            <a:solidFill>
              <a:schemeClr val="accent6">
                <a:lumMod val="60000"/>
                <a:lumOff val="40000"/>
              </a:scheme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42416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oogle Shape;440;p1" descr="Top 10 trung tâm tin học đào tạo cấp chứng chỉ chất lượng nhất hiện nay">
            <a:extLst>
              <a:ext uri="{FF2B5EF4-FFF2-40B4-BE49-F238E27FC236}">
                <a16:creationId xmlns:a16="http://schemas.microsoft.com/office/drawing/2014/main" id="{99036AD2-EF35-CE50-5945-38E5B28A422F}"/>
              </a:ext>
            </a:extLst>
          </p:cNvPr>
          <p:cNvPicPr preferRelativeResize="0"/>
          <p:nvPr/>
        </p:nvPicPr>
        <p:blipFill rotWithShape="1">
          <a:blip r:embed="rId2">
            <a:alphaModFix/>
          </a:blip>
          <a:srcRect/>
          <a:stretch/>
        </p:blipFill>
        <p:spPr>
          <a:xfrm>
            <a:off x="11490022" y="0"/>
            <a:ext cx="701978" cy="701978"/>
          </a:xfrm>
          <a:prstGeom prst="rect">
            <a:avLst/>
          </a:prstGeom>
          <a:noFill/>
          <a:ln>
            <a:noFill/>
          </a:ln>
        </p:spPr>
      </p:pic>
      <p:sp>
        <p:nvSpPr>
          <p:cNvPr id="5" name="TextBox 4">
            <a:extLst>
              <a:ext uri="{FF2B5EF4-FFF2-40B4-BE49-F238E27FC236}">
                <a16:creationId xmlns:a16="http://schemas.microsoft.com/office/drawing/2014/main" id="{6ABFF17F-8A0D-07CD-FCD1-CBB065E215FF}"/>
              </a:ext>
            </a:extLst>
          </p:cNvPr>
          <p:cNvSpPr txBox="1"/>
          <p:nvPr/>
        </p:nvSpPr>
        <p:spPr>
          <a:xfrm>
            <a:off x="641773" y="36673"/>
            <a:ext cx="10905053" cy="646331"/>
          </a:xfrm>
          <a:prstGeom prst="rect">
            <a:avLst/>
          </a:prstGeom>
          <a:noFill/>
        </p:spPr>
        <p:txBody>
          <a:bodyPr wrap="square">
            <a:spAutoFit/>
          </a:bodyPr>
          <a:lstStyle>
            <a:defPPr>
              <a:defRPr lang="en-US"/>
            </a:defPPr>
            <a:lvl1pPr>
              <a:defRPr sz="3600" b="1"/>
            </a:lvl1pPr>
          </a:lstStyle>
          <a:p>
            <a:r>
              <a:rPr lang="en-US" altLang="ja-JP"/>
              <a:t>3. </a:t>
            </a:r>
            <a:r>
              <a:rPr lang="ja-JP" altLang="en-US"/>
              <a:t>🔍 </a:t>
            </a:r>
            <a:r>
              <a:rPr lang="vi-VN" altLang="ja-JP"/>
              <a:t>Xử lý &amp; Khám phá dữ liệu (EDA)</a:t>
            </a:r>
          </a:p>
        </p:txBody>
      </p:sp>
      <p:sp>
        <p:nvSpPr>
          <p:cNvPr id="7" name="TextBox 6">
            <a:extLst>
              <a:ext uri="{FF2B5EF4-FFF2-40B4-BE49-F238E27FC236}">
                <a16:creationId xmlns:a16="http://schemas.microsoft.com/office/drawing/2014/main" id="{F33598A9-C906-FA58-2F19-8947B016A4E4}"/>
              </a:ext>
            </a:extLst>
          </p:cNvPr>
          <p:cNvSpPr txBox="1"/>
          <p:nvPr/>
        </p:nvSpPr>
        <p:spPr>
          <a:xfrm>
            <a:off x="641773" y="830733"/>
            <a:ext cx="10848247" cy="369332"/>
          </a:xfrm>
          <a:prstGeom prst="rect">
            <a:avLst/>
          </a:prstGeom>
          <a:noFill/>
        </p:spPr>
        <p:txBody>
          <a:bodyPr wrap="square">
            <a:spAutoFit/>
          </a:bodyPr>
          <a:lstStyle/>
          <a:p>
            <a:r>
              <a:rPr lang="vi-VN" altLang="ja-JP" b="1" dirty="0"/>
              <a:t>Phân tích Tương quan (Correlation Analysis)</a:t>
            </a:r>
            <a:r>
              <a:rPr lang="en-US" altLang="ja-JP" b="1" dirty="0"/>
              <a:t>: </a:t>
            </a:r>
            <a:r>
              <a:rPr lang="vi-VN" altLang="ja-JP" dirty="0"/>
              <a:t>Chỉ ra các yếu tố ảnh hưởng mạnh nhất đến giá</a:t>
            </a:r>
            <a:r>
              <a:rPr lang="en-US" altLang="ja-JP" dirty="0"/>
              <a:t>.</a:t>
            </a:r>
            <a:endParaRPr lang="ja-JP" altLang="en-US" dirty="0"/>
          </a:p>
        </p:txBody>
      </p:sp>
      <p:pic>
        <p:nvPicPr>
          <p:cNvPr id="4" name="Picture 3">
            <a:extLst>
              <a:ext uri="{FF2B5EF4-FFF2-40B4-BE49-F238E27FC236}">
                <a16:creationId xmlns:a16="http://schemas.microsoft.com/office/drawing/2014/main" id="{D44C23E6-73FA-1724-7790-120314D52BCF}"/>
              </a:ext>
            </a:extLst>
          </p:cNvPr>
          <p:cNvPicPr>
            <a:picLocks noChangeAspect="1"/>
          </p:cNvPicPr>
          <p:nvPr/>
        </p:nvPicPr>
        <p:blipFill>
          <a:blip r:embed="rId3"/>
          <a:stretch>
            <a:fillRect/>
          </a:stretch>
        </p:blipFill>
        <p:spPr>
          <a:xfrm>
            <a:off x="2913932" y="1269606"/>
            <a:ext cx="5339348" cy="4834603"/>
          </a:xfrm>
          <a:prstGeom prst="rect">
            <a:avLst/>
          </a:prstGeom>
        </p:spPr>
      </p:pic>
    </p:spTree>
    <p:extLst>
      <p:ext uri="{BB962C8B-B14F-4D97-AF65-F5344CB8AC3E}">
        <p14:creationId xmlns:p14="http://schemas.microsoft.com/office/powerpoint/2010/main" val="2065690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oogle Shape;440;p1" descr="Top 10 trung tâm tin học đào tạo cấp chứng chỉ chất lượng nhất hiện nay">
            <a:extLst>
              <a:ext uri="{FF2B5EF4-FFF2-40B4-BE49-F238E27FC236}">
                <a16:creationId xmlns:a16="http://schemas.microsoft.com/office/drawing/2014/main" id="{99036AD2-EF35-CE50-5945-38E5B28A422F}"/>
              </a:ext>
            </a:extLst>
          </p:cNvPr>
          <p:cNvPicPr preferRelativeResize="0"/>
          <p:nvPr/>
        </p:nvPicPr>
        <p:blipFill rotWithShape="1">
          <a:blip r:embed="rId2">
            <a:alphaModFix/>
          </a:blip>
          <a:srcRect/>
          <a:stretch/>
        </p:blipFill>
        <p:spPr>
          <a:xfrm>
            <a:off x="11490022" y="0"/>
            <a:ext cx="701978" cy="701978"/>
          </a:xfrm>
          <a:prstGeom prst="rect">
            <a:avLst/>
          </a:prstGeom>
          <a:noFill/>
          <a:ln>
            <a:noFill/>
          </a:ln>
        </p:spPr>
      </p:pic>
      <p:sp>
        <p:nvSpPr>
          <p:cNvPr id="5" name="TextBox 4">
            <a:extLst>
              <a:ext uri="{FF2B5EF4-FFF2-40B4-BE49-F238E27FC236}">
                <a16:creationId xmlns:a16="http://schemas.microsoft.com/office/drawing/2014/main" id="{6ABFF17F-8A0D-07CD-FCD1-CBB065E215FF}"/>
              </a:ext>
            </a:extLst>
          </p:cNvPr>
          <p:cNvSpPr txBox="1"/>
          <p:nvPr/>
        </p:nvSpPr>
        <p:spPr>
          <a:xfrm>
            <a:off x="641773" y="36673"/>
            <a:ext cx="10905053" cy="646331"/>
          </a:xfrm>
          <a:prstGeom prst="rect">
            <a:avLst/>
          </a:prstGeom>
          <a:noFill/>
        </p:spPr>
        <p:txBody>
          <a:bodyPr wrap="square">
            <a:spAutoFit/>
          </a:bodyPr>
          <a:lstStyle>
            <a:defPPr>
              <a:defRPr lang="en-US"/>
            </a:defPPr>
            <a:lvl1pPr>
              <a:defRPr sz="3600" b="1"/>
            </a:lvl1pPr>
          </a:lstStyle>
          <a:p>
            <a:r>
              <a:rPr lang="en-US" altLang="ja-JP"/>
              <a:t>3. </a:t>
            </a:r>
            <a:r>
              <a:rPr lang="ja-JP" altLang="en-US"/>
              <a:t>🔍 </a:t>
            </a:r>
            <a:r>
              <a:rPr lang="vi-VN" altLang="ja-JP"/>
              <a:t>Xử lý &amp; Khám phá dữ liệu (EDA)</a:t>
            </a:r>
          </a:p>
        </p:txBody>
      </p:sp>
      <p:sp>
        <p:nvSpPr>
          <p:cNvPr id="6" name="TextBox 5">
            <a:extLst>
              <a:ext uri="{FF2B5EF4-FFF2-40B4-BE49-F238E27FC236}">
                <a16:creationId xmlns:a16="http://schemas.microsoft.com/office/drawing/2014/main" id="{FA1ECDBC-8D91-2C55-BEC4-5667C2459EE6}"/>
              </a:ext>
            </a:extLst>
          </p:cNvPr>
          <p:cNvSpPr txBox="1"/>
          <p:nvPr/>
        </p:nvSpPr>
        <p:spPr>
          <a:xfrm>
            <a:off x="641772" y="822242"/>
            <a:ext cx="10905053" cy="1754326"/>
          </a:xfrm>
          <a:prstGeom prst="rect">
            <a:avLst/>
          </a:prstGeom>
          <a:noFill/>
        </p:spPr>
        <p:txBody>
          <a:bodyPr wrap="square">
            <a:spAutoFit/>
          </a:bodyPr>
          <a:lstStyle/>
          <a:p>
            <a:r>
              <a:rPr lang="vi-VN" b="1" dirty="0"/>
              <a:t>Độ quan trọng của các đặc trưng (Feature Importance)</a:t>
            </a:r>
            <a:r>
              <a:rPr lang="vi-VN" dirty="0"/>
              <a:t>.</a:t>
            </a:r>
            <a:endParaRPr lang="en-US" dirty="0"/>
          </a:p>
          <a:p>
            <a:pPr lvl="0" defTabSz="914400" eaLnBrk="0" fontAlgn="base" hangingPunct="0">
              <a:spcBef>
                <a:spcPct val="0"/>
              </a:spcBef>
              <a:spcAft>
                <a:spcPct val="0"/>
              </a:spcAft>
              <a:buFontTx/>
              <a:buChar char="•"/>
            </a:pPr>
            <a:r>
              <a:rPr lang="en-US" altLang="en-US" b="1" dirty="0" err="1">
                <a:latin typeface="Arial" panose="020B0604020202020204" pitchFamily="34" charset="0"/>
              </a:rPr>
              <a:t>Vị</a:t>
            </a:r>
            <a:r>
              <a:rPr lang="en-US" altLang="en-US" b="1" dirty="0">
                <a:latin typeface="Arial" panose="020B0604020202020204" pitchFamily="34" charset="0"/>
              </a:rPr>
              <a:t> </a:t>
            </a:r>
            <a:r>
              <a:rPr lang="en-US" altLang="en-US" b="1" dirty="0" err="1">
                <a:latin typeface="Arial" panose="020B0604020202020204" pitchFamily="34" charset="0"/>
              </a:rPr>
              <a:t>trí</a:t>
            </a:r>
            <a:r>
              <a:rPr lang="en-US" altLang="en-US" b="1" dirty="0">
                <a:latin typeface="Arial" panose="020B0604020202020204" pitchFamily="34" charset="0"/>
              </a:rPr>
              <a:t>: </a:t>
            </a:r>
            <a:r>
              <a:rPr lang="en-US" altLang="en-US" dirty="0" err="1">
                <a:latin typeface="Arial" panose="020B0604020202020204" pitchFamily="34" charset="0"/>
              </a:rPr>
              <a:t>Là</a:t>
            </a:r>
            <a:r>
              <a:rPr lang="en-US" altLang="en-US" dirty="0">
                <a:latin typeface="Arial" panose="020B0604020202020204" pitchFamily="34" charset="0"/>
              </a:rPr>
              <a:t> </a:t>
            </a:r>
            <a:r>
              <a:rPr lang="en-US" altLang="en-US" dirty="0" err="1">
                <a:latin typeface="Arial" panose="020B0604020202020204" pitchFamily="34" charset="0"/>
              </a:rPr>
              <a:t>yếu</a:t>
            </a:r>
            <a:r>
              <a:rPr lang="en-US" altLang="en-US" dirty="0">
                <a:latin typeface="Arial" panose="020B0604020202020204" pitchFamily="34" charset="0"/>
              </a:rPr>
              <a:t> </a:t>
            </a:r>
            <a:r>
              <a:rPr lang="en-US" altLang="en-US" dirty="0" err="1">
                <a:latin typeface="Arial" panose="020B0604020202020204" pitchFamily="34" charset="0"/>
              </a:rPr>
              <a:t>tố</a:t>
            </a:r>
            <a:r>
              <a:rPr lang="en-US" altLang="en-US" dirty="0">
                <a:latin typeface="Arial" panose="020B0604020202020204" pitchFamily="34" charset="0"/>
              </a:rPr>
              <a:t> </a:t>
            </a:r>
            <a:r>
              <a:rPr lang="en-US" altLang="en-US" dirty="0" err="1">
                <a:latin typeface="Arial" panose="020B0604020202020204" pitchFamily="34" charset="0"/>
              </a:rPr>
              <a:t>quyết</a:t>
            </a:r>
            <a:r>
              <a:rPr lang="en-US" altLang="en-US" dirty="0">
                <a:latin typeface="Arial" panose="020B0604020202020204" pitchFamily="34" charset="0"/>
              </a:rPr>
              <a:t> </a:t>
            </a:r>
            <a:r>
              <a:rPr lang="en-US" altLang="en-US" dirty="0" err="1">
                <a:latin typeface="Arial" panose="020B0604020202020204" pitchFamily="34" charset="0"/>
              </a:rPr>
              <a:t>định</a:t>
            </a:r>
            <a:r>
              <a:rPr lang="en-US" altLang="en-US" dirty="0">
                <a:latin typeface="Arial" panose="020B0604020202020204" pitchFamily="34" charset="0"/>
              </a:rPr>
              <a:t> </a:t>
            </a:r>
            <a:r>
              <a:rPr lang="en-US" altLang="en-US" dirty="0" err="1">
                <a:latin typeface="Arial" panose="020B0604020202020204" pitchFamily="34" charset="0"/>
              </a:rPr>
              <a:t>hàng</a:t>
            </a:r>
            <a:r>
              <a:rPr lang="en-US" altLang="en-US" dirty="0">
                <a:latin typeface="Arial" panose="020B0604020202020204" pitchFamily="34" charset="0"/>
              </a:rPr>
              <a:t> </a:t>
            </a:r>
            <a:r>
              <a:rPr lang="en-US" altLang="en-US" dirty="0" err="1">
                <a:latin typeface="Arial" panose="020B0604020202020204" pitchFamily="34" charset="0"/>
              </a:rPr>
              <a:t>đầu</a:t>
            </a:r>
            <a:r>
              <a:rPr lang="en-US" altLang="en-US" dirty="0">
                <a:latin typeface="Arial" panose="020B0604020202020204" pitchFamily="34" charset="0"/>
              </a:rPr>
              <a:t> </a:t>
            </a:r>
            <a:r>
              <a:rPr lang="en-US" altLang="en-US" dirty="0" err="1">
                <a:latin typeface="Arial" panose="020B0604020202020204" pitchFamily="34" charset="0"/>
              </a:rPr>
              <a:t>đến</a:t>
            </a:r>
            <a:r>
              <a:rPr lang="en-US" altLang="en-US" dirty="0">
                <a:latin typeface="Arial" panose="020B0604020202020204" pitchFamily="34" charset="0"/>
              </a:rPr>
              <a:t> </a:t>
            </a:r>
            <a:r>
              <a:rPr lang="en-US" altLang="en-US" dirty="0" err="1">
                <a:latin typeface="Arial" panose="020B0604020202020204" pitchFamily="34" charset="0"/>
              </a:rPr>
              <a:t>giá</a:t>
            </a:r>
            <a:r>
              <a:rPr lang="en-US" altLang="en-US" dirty="0">
                <a:latin typeface="Arial" panose="020B0604020202020204" pitchFamily="34" charset="0"/>
              </a:rPr>
              <a:t> </a:t>
            </a:r>
            <a:r>
              <a:rPr lang="en-US" altLang="en-US" dirty="0" err="1">
                <a:latin typeface="Arial" panose="020B0604020202020204" pitchFamily="34" charset="0"/>
              </a:rPr>
              <a:t>trị</a:t>
            </a:r>
            <a:r>
              <a:rPr lang="en-US" altLang="en-US" dirty="0">
                <a:latin typeface="Arial" panose="020B0604020202020204" pitchFamily="34" charset="0"/>
              </a:rPr>
              <a:t> </a:t>
            </a:r>
            <a:r>
              <a:rPr lang="en-US" altLang="en-US" dirty="0" err="1">
                <a:latin typeface="Arial" panose="020B0604020202020204" pitchFamily="34" charset="0"/>
              </a:rPr>
              <a:t>bất</a:t>
            </a:r>
            <a:r>
              <a:rPr lang="en-US" altLang="en-US" dirty="0">
                <a:latin typeface="Arial" panose="020B0604020202020204" pitchFamily="34" charset="0"/>
              </a:rPr>
              <a:t> </a:t>
            </a:r>
            <a:r>
              <a:rPr lang="en-US" altLang="en-US" dirty="0" err="1">
                <a:latin typeface="Arial" panose="020B0604020202020204" pitchFamily="34" charset="0"/>
              </a:rPr>
              <a:t>động</a:t>
            </a:r>
            <a:r>
              <a:rPr lang="en-US" altLang="en-US" dirty="0">
                <a:latin typeface="Arial" panose="020B0604020202020204" pitchFamily="34" charset="0"/>
              </a:rPr>
              <a:t> </a:t>
            </a:r>
            <a:r>
              <a:rPr lang="en-US" altLang="en-US" dirty="0" err="1">
                <a:latin typeface="Arial" panose="020B0604020202020204" pitchFamily="34" charset="0"/>
              </a:rPr>
              <a:t>sản</a:t>
            </a:r>
            <a:r>
              <a:rPr lang="en-US" altLang="en-US" dirty="0">
                <a:latin typeface="Arial" panose="020B0604020202020204" pitchFamily="34" charset="0"/>
              </a:rPr>
              <a:t>.</a:t>
            </a:r>
          </a:p>
          <a:p>
            <a:pPr lvl="0" defTabSz="914400" eaLnBrk="0" fontAlgn="base" hangingPunct="0">
              <a:spcBef>
                <a:spcPct val="0"/>
              </a:spcBef>
              <a:spcAft>
                <a:spcPct val="0"/>
              </a:spcAft>
              <a:buFontTx/>
              <a:buChar char="•"/>
            </a:pPr>
            <a:r>
              <a:rPr lang="en-US" altLang="en-US" b="1" dirty="0" err="1">
                <a:latin typeface="Arial" panose="020B0604020202020204" pitchFamily="34" charset="0"/>
              </a:rPr>
              <a:t>Diện</a:t>
            </a:r>
            <a:r>
              <a:rPr lang="en-US" altLang="en-US" b="1" dirty="0">
                <a:latin typeface="Arial" panose="020B0604020202020204" pitchFamily="34" charset="0"/>
              </a:rPr>
              <a:t> </a:t>
            </a:r>
            <a:r>
              <a:rPr lang="en-US" altLang="en-US" b="1" dirty="0" err="1">
                <a:latin typeface="Arial" panose="020B0604020202020204" pitchFamily="34" charset="0"/>
              </a:rPr>
              <a:t>tích</a:t>
            </a:r>
            <a:r>
              <a:rPr lang="en-US" altLang="en-US" b="1" dirty="0">
                <a:latin typeface="Arial" panose="020B0604020202020204" pitchFamily="34" charset="0"/>
              </a:rPr>
              <a:t> &amp; </a:t>
            </a:r>
            <a:r>
              <a:rPr lang="en-US" altLang="en-US" b="1" dirty="0" err="1">
                <a:latin typeface="Arial" panose="020B0604020202020204" pitchFamily="34" charset="0"/>
              </a:rPr>
              <a:t>Kết</a:t>
            </a:r>
            <a:r>
              <a:rPr lang="en-US" altLang="en-US" b="1" dirty="0">
                <a:latin typeface="Arial" panose="020B0604020202020204" pitchFamily="34" charset="0"/>
              </a:rPr>
              <a:t> </a:t>
            </a:r>
            <a:r>
              <a:rPr lang="en-US" altLang="en-US" b="1" dirty="0" err="1">
                <a:latin typeface="Arial" panose="020B0604020202020204" pitchFamily="34" charset="0"/>
              </a:rPr>
              <a:t>cấu</a:t>
            </a:r>
            <a:r>
              <a:rPr lang="en-US" altLang="en-US" b="1" dirty="0">
                <a:latin typeface="Arial" panose="020B0604020202020204" pitchFamily="34" charset="0"/>
              </a:rPr>
              <a:t>:</a:t>
            </a:r>
            <a:r>
              <a:rPr lang="en-US" altLang="en-US" dirty="0">
                <a:latin typeface="Arial" panose="020B0604020202020204" pitchFamily="34" charset="0"/>
              </a:rPr>
              <a:t> Các </a:t>
            </a:r>
            <a:r>
              <a:rPr lang="en-US" altLang="en-US" dirty="0" err="1">
                <a:latin typeface="Arial" panose="020B0604020202020204" pitchFamily="34" charset="0"/>
              </a:rPr>
              <a:t>biến</a:t>
            </a:r>
            <a:r>
              <a:rPr lang="en-US" altLang="en-US" dirty="0">
                <a:latin typeface="Arial" panose="020B0604020202020204" pitchFamily="34" charset="0"/>
              </a:rPr>
              <a:t> </a:t>
            </a:r>
            <a:r>
              <a:rPr lang="en-US" altLang="en-US" dirty="0" err="1">
                <a:latin typeface="Arial" panose="020B0604020202020204" pitchFamily="34" charset="0"/>
              </a:rPr>
              <a:t>về</a:t>
            </a:r>
            <a:r>
              <a:rPr lang="en-US" altLang="en-US" dirty="0">
                <a:latin typeface="Arial" panose="020B0604020202020204" pitchFamily="34" charset="0"/>
              </a:rPr>
              <a:t> </a:t>
            </a:r>
            <a:r>
              <a:rPr lang="en-US" altLang="en-US" dirty="0" err="1">
                <a:latin typeface="Arial" panose="020B0604020202020204" pitchFamily="34" charset="0"/>
              </a:rPr>
              <a:t>diện</a:t>
            </a:r>
            <a:r>
              <a:rPr lang="en-US" altLang="en-US" dirty="0">
                <a:latin typeface="Arial" panose="020B0604020202020204" pitchFamily="34" charset="0"/>
              </a:rPr>
              <a:t> </a:t>
            </a:r>
            <a:r>
              <a:rPr lang="en-US" altLang="en-US" dirty="0" err="1">
                <a:latin typeface="Arial" panose="020B0604020202020204" pitchFamily="34" charset="0"/>
              </a:rPr>
              <a:t>tích</a:t>
            </a:r>
            <a:r>
              <a:rPr lang="en-US" altLang="en-US" dirty="0">
                <a:latin typeface="Arial" panose="020B0604020202020204" pitchFamily="34" charset="0"/>
              </a:rPr>
              <a:t> </a:t>
            </a:r>
            <a:r>
              <a:rPr lang="en-US" altLang="en-US" dirty="0" err="1">
                <a:latin typeface="Arial" panose="020B0604020202020204" pitchFamily="34" charset="0"/>
              </a:rPr>
              <a:t>đất</a:t>
            </a:r>
            <a:r>
              <a:rPr lang="en-US" altLang="en-US" dirty="0">
                <a:latin typeface="Arial" panose="020B0604020202020204" pitchFamily="34" charset="0"/>
              </a:rPr>
              <a:t>, </a:t>
            </a:r>
            <a:r>
              <a:rPr lang="en-US" altLang="en-US" dirty="0" err="1">
                <a:latin typeface="Arial" panose="020B0604020202020204" pitchFamily="34" charset="0"/>
              </a:rPr>
              <a:t>diện</a:t>
            </a:r>
            <a:r>
              <a:rPr lang="en-US" altLang="en-US" dirty="0">
                <a:latin typeface="Arial" panose="020B0604020202020204" pitchFamily="34" charset="0"/>
              </a:rPr>
              <a:t> </a:t>
            </a:r>
            <a:r>
              <a:rPr lang="en-US" altLang="en-US" dirty="0" err="1">
                <a:latin typeface="Arial" panose="020B0604020202020204" pitchFamily="34" charset="0"/>
              </a:rPr>
              <a:t>tích</a:t>
            </a:r>
            <a:r>
              <a:rPr lang="en-US" altLang="en-US" dirty="0">
                <a:latin typeface="Arial" panose="020B0604020202020204" pitchFamily="34" charset="0"/>
              </a:rPr>
              <a:t> </a:t>
            </a:r>
            <a:r>
              <a:rPr lang="en-US" altLang="en-US" dirty="0" err="1">
                <a:latin typeface="Arial" panose="020B0604020202020204" pitchFamily="34" charset="0"/>
              </a:rPr>
              <a:t>sử</a:t>
            </a:r>
            <a:r>
              <a:rPr lang="en-US" altLang="en-US" dirty="0">
                <a:latin typeface="Arial" panose="020B0604020202020204" pitchFamily="34" charset="0"/>
              </a:rPr>
              <a:t> </a:t>
            </a:r>
            <a:r>
              <a:rPr lang="en-US" altLang="en-US" dirty="0" err="1">
                <a:latin typeface="Arial" panose="020B0604020202020204" pitchFamily="34" charset="0"/>
              </a:rPr>
              <a:t>dụng</a:t>
            </a:r>
            <a:r>
              <a:rPr lang="en-US" altLang="en-US" dirty="0">
                <a:latin typeface="Arial" panose="020B0604020202020204" pitchFamily="34" charset="0"/>
              </a:rPr>
              <a:t> </a:t>
            </a:r>
            <a:r>
              <a:rPr lang="en-US" altLang="en-US" dirty="0" err="1">
                <a:latin typeface="Arial" panose="020B0604020202020204" pitchFamily="34" charset="0"/>
              </a:rPr>
              <a:t>và</a:t>
            </a:r>
            <a:r>
              <a:rPr lang="en-US" altLang="en-US" dirty="0">
                <a:latin typeface="Arial" panose="020B0604020202020204" pitchFamily="34" charset="0"/>
              </a:rPr>
              <a:t> </a:t>
            </a:r>
            <a:r>
              <a:rPr lang="en-US" altLang="en-US" dirty="0" err="1">
                <a:latin typeface="Arial" panose="020B0604020202020204" pitchFamily="34" charset="0"/>
              </a:rPr>
              <a:t>số</a:t>
            </a:r>
            <a:r>
              <a:rPr lang="en-US" altLang="en-US" dirty="0">
                <a:latin typeface="Arial" panose="020B0604020202020204" pitchFamily="34" charset="0"/>
              </a:rPr>
              <a:t> </a:t>
            </a:r>
            <a:r>
              <a:rPr lang="en-US" altLang="en-US" dirty="0" err="1">
                <a:latin typeface="Arial" panose="020B0604020202020204" pitchFamily="34" charset="0"/>
              </a:rPr>
              <a:t>tầng</a:t>
            </a:r>
            <a:r>
              <a:rPr lang="en-US" altLang="en-US" dirty="0">
                <a:latin typeface="Arial" panose="020B0604020202020204" pitchFamily="34" charset="0"/>
              </a:rPr>
              <a:t> </a:t>
            </a:r>
            <a:r>
              <a:rPr lang="en-US" altLang="en-US" dirty="0" err="1">
                <a:latin typeface="Arial" panose="020B0604020202020204" pitchFamily="34" charset="0"/>
              </a:rPr>
              <a:t>có</a:t>
            </a:r>
            <a:r>
              <a:rPr lang="en-US" altLang="en-US" dirty="0">
                <a:latin typeface="Arial" panose="020B0604020202020204" pitchFamily="34" charset="0"/>
              </a:rPr>
              <a:t> </a:t>
            </a:r>
            <a:r>
              <a:rPr lang="en-US" altLang="en-US" dirty="0" err="1">
                <a:latin typeface="Arial" panose="020B0604020202020204" pitchFamily="34" charset="0"/>
              </a:rPr>
              <a:t>tác</a:t>
            </a:r>
            <a:r>
              <a:rPr lang="en-US" altLang="en-US" dirty="0">
                <a:latin typeface="Arial" panose="020B0604020202020204" pitchFamily="34" charset="0"/>
              </a:rPr>
              <a:t> </a:t>
            </a:r>
            <a:r>
              <a:rPr lang="en-US" altLang="en-US" dirty="0" err="1">
                <a:latin typeface="Arial" panose="020B0604020202020204" pitchFamily="34" charset="0"/>
              </a:rPr>
              <a:t>động</a:t>
            </a:r>
            <a:r>
              <a:rPr lang="en-US" altLang="en-US" dirty="0">
                <a:latin typeface="Arial" panose="020B0604020202020204" pitchFamily="34" charset="0"/>
              </a:rPr>
              <a:t> </a:t>
            </a:r>
            <a:r>
              <a:rPr lang="en-US" altLang="en-US" dirty="0" err="1">
                <a:latin typeface="Arial" panose="020B0604020202020204" pitchFamily="34" charset="0"/>
              </a:rPr>
              <a:t>trực</a:t>
            </a:r>
            <a:r>
              <a:rPr lang="en-US" altLang="en-US" dirty="0">
                <a:latin typeface="Arial" panose="020B0604020202020204" pitchFamily="34" charset="0"/>
              </a:rPr>
              <a:t> </a:t>
            </a:r>
            <a:r>
              <a:rPr lang="en-US" altLang="en-US" dirty="0" err="1">
                <a:latin typeface="Arial" panose="020B0604020202020204" pitchFamily="34" charset="0"/>
              </a:rPr>
              <a:t>tiếp</a:t>
            </a:r>
            <a:r>
              <a:rPr lang="en-US" altLang="en-US" dirty="0">
                <a:latin typeface="Arial" panose="020B0604020202020204" pitchFamily="34" charset="0"/>
              </a:rPr>
              <a:t> </a:t>
            </a:r>
            <a:r>
              <a:rPr lang="en-US" altLang="en-US" dirty="0" err="1">
                <a:latin typeface="Arial" panose="020B0604020202020204" pitchFamily="34" charset="0"/>
              </a:rPr>
              <a:t>và</a:t>
            </a:r>
            <a:r>
              <a:rPr lang="en-US" altLang="en-US" dirty="0">
                <a:latin typeface="Arial" panose="020B0604020202020204" pitchFamily="34" charset="0"/>
              </a:rPr>
              <a:t> </a:t>
            </a:r>
            <a:r>
              <a:rPr lang="en-US" altLang="en-US" dirty="0" err="1">
                <a:latin typeface="Arial" panose="020B0604020202020204" pitchFamily="34" charset="0"/>
              </a:rPr>
              <a:t>tỉ</a:t>
            </a:r>
            <a:r>
              <a:rPr lang="en-US" altLang="en-US" dirty="0">
                <a:latin typeface="Arial" panose="020B0604020202020204" pitchFamily="34" charset="0"/>
              </a:rPr>
              <a:t> </a:t>
            </a:r>
            <a:r>
              <a:rPr lang="en-US" altLang="en-US" dirty="0" err="1">
                <a:latin typeface="Arial" panose="020B0604020202020204" pitchFamily="34" charset="0"/>
              </a:rPr>
              <a:t>lệ</a:t>
            </a:r>
            <a:r>
              <a:rPr lang="en-US" altLang="en-US" dirty="0">
                <a:latin typeface="Arial" panose="020B0604020202020204" pitchFamily="34" charset="0"/>
              </a:rPr>
              <a:t> </a:t>
            </a:r>
            <a:r>
              <a:rPr lang="en-US" altLang="en-US" dirty="0" err="1">
                <a:latin typeface="Arial" panose="020B0604020202020204" pitchFamily="34" charset="0"/>
              </a:rPr>
              <a:t>thuận</a:t>
            </a:r>
            <a:r>
              <a:rPr lang="en-US" altLang="en-US" dirty="0">
                <a:latin typeface="Arial" panose="020B0604020202020204" pitchFamily="34" charset="0"/>
              </a:rPr>
              <a:t> </a:t>
            </a:r>
            <a:r>
              <a:rPr lang="en-US" altLang="en-US" dirty="0" err="1">
                <a:latin typeface="Arial" panose="020B0604020202020204" pitchFamily="34" charset="0"/>
              </a:rPr>
              <a:t>với</a:t>
            </a:r>
            <a:r>
              <a:rPr lang="en-US" altLang="en-US" dirty="0">
                <a:latin typeface="Arial" panose="020B0604020202020204" pitchFamily="34" charset="0"/>
              </a:rPr>
              <a:t> </a:t>
            </a:r>
            <a:r>
              <a:rPr lang="en-US" altLang="en-US" dirty="0" err="1">
                <a:latin typeface="Arial" panose="020B0604020202020204" pitchFamily="34" charset="0"/>
              </a:rPr>
              <a:t>giá</a:t>
            </a:r>
            <a:r>
              <a:rPr lang="en-US" altLang="en-US" dirty="0">
                <a:latin typeface="Arial" panose="020B0604020202020204" pitchFamily="34" charset="0"/>
              </a:rPr>
              <a:t> </a:t>
            </a:r>
            <a:r>
              <a:rPr lang="en-US" altLang="en-US" dirty="0" err="1">
                <a:latin typeface="Arial" panose="020B0604020202020204" pitchFamily="34" charset="0"/>
              </a:rPr>
              <a:t>bán</a:t>
            </a:r>
            <a:r>
              <a:rPr lang="en-US" altLang="en-US" dirty="0">
                <a:latin typeface="Arial" panose="020B0604020202020204" pitchFamily="34" charset="0"/>
              </a:rPr>
              <a:t>.</a:t>
            </a:r>
          </a:p>
          <a:p>
            <a:pPr lvl="0" defTabSz="914400" eaLnBrk="0" fontAlgn="base" hangingPunct="0">
              <a:spcBef>
                <a:spcPct val="0"/>
              </a:spcBef>
              <a:spcAft>
                <a:spcPct val="0"/>
              </a:spcAft>
              <a:buFontTx/>
              <a:buChar char="•"/>
            </a:pPr>
            <a:r>
              <a:rPr lang="en-US" altLang="en-US" b="1" dirty="0" err="1">
                <a:latin typeface="Arial" panose="020B0604020202020204" pitchFamily="34" charset="0"/>
              </a:rPr>
              <a:t>Loại</a:t>
            </a:r>
            <a:r>
              <a:rPr lang="en-US" altLang="en-US" b="1" dirty="0">
                <a:latin typeface="Arial" panose="020B0604020202020204" pitchFamily="34" charset="0"/>
              </a:rPr>
              <a:t> </a:t>
            </a:r>
            <a:r>
              <a:rPr lang="en-US" altLang="en-US" b="1" dirty="0" err="1">
                <a:latin typeface="Arial" panose="020B0604020202020204" pitchFamily="34" charset="0"/>
              </a:rPr>
              <a:t>hình</a:t>
            </a:r>
            <a:r>
              <a:rPr lang="en-US" altLang="en-US" b="1" dirty="0">
                <a:latin typeface="Arial" panose="020B0604020202020204" pitchFamily="34" charset="0"/>
              </a:rPr>
              <a:t>:</a:t>
            </a:r>
            <a:r>
              <a:rPr lang="en-US" altLang="en-US" dirty="0">
                <a:latin typeface="Arial" panose="020B0604020202020204" pitchFamily="34" charset="0"/>
              </a:rPr>
              <a:t> </a:t>
            </a:r>
            <a:r>
              <a:rPr lang="en-US" altLang="en-US" dirty="0" err="1">
                <a:latin typeface="Arial" panose="020B0604020202020204" pitchFamily="34" charset="0"/>
              </a:rPr>
              <a:t>Phân</a:t>
            </a:r>
            <a:r>
              <a:rPr lang="en-US" altLang="en-US" dirty="0">
                <a:latin typeface="Arial" panose="020B0604020202020204" pitchFamily="34" charset="0"/>
              </a:rPr>
              <a:t> </a:t>
            </a:r>
            <a:r>
              <a:rPr lang="en-US" altLang="en-US" dirty="0" err="1">
                <a:latin typeface="Arial" panose="020B0604020202020204" pitchFamily="34" charset="0"/>
              </a:rPr>
              <a:t>hóa</a:t>
            </a:r>
            <a:r>
              <a:rPr lang="en-US" altLang="en-US" dirty="0">
                <a:latin typeface="Arial" panose="020B0604020202020204" pitchFamily="34" charset="0"/>
              </a:rPr>
              <a:t> </a:t>
            </a:r>
            <a:r>
              <a:rPr lang="en-US" altLang="en-US" dirty="0" err="1">
                <a:latin typeface="Arial" panose="020B0604020202020204" pitchFamily="34" charset="0"/>
              </a:rPr>
              <a:t>rõ</a:t>
            </a:r>
            <a:r>
              <a:rPr lang="en-US" altLang="en-US" dirty="0">
                <a:latin typeface="Arial" panose="020B0604020202020204" pitchFamily="34" charset="0"/>
              </a:rPr>
              <a:t> </a:t>
            </a:r>
            <a:r>
              <a:rPr lang="en-US" altLang="en-US" dirty="0" err="1">
                <a:latin typeface="Arial" panose="020B0604020202020204" pitchFamily="34" charset="0"/>
              </a:rPr>
              <a:t>rệt</a:t>
            </a:r>
            <a:r>
              <a:rPr lang="en-US" altLang="en-US" dirty="0">
                <a:latin typeface="Arial" panose="020B0604020202020204" pitchFamily="34" charset="0"/>
              </a:rPr>
              <a:t> </a:t>
            </a:r>
            <a:r>
              <a:rPr lang="en-US" altLang="en-US" dirty="0" err="1">
                <a:latin typeface="Arial" panose="020B0604020202020204" pitchFamily="34" charset="0"/>
              </a:rPr>
              <a:t>giữa</a:t>
            </a:r>
            <a:r>
              <a:rPr lang="en-US" altLang="en-US" dirty="0">
                <a:latin typeface="Arial" panose="020B0604020202020204" pitchFamily="34" charset="0"/>
              </a:rPr>
              <a:t> </a:t>
            </a:r>
            <a:r>
              <a:rPr lang="en-US" altLang="en-US" dirty="0" err="1">
                <a:latin typeface="Arial" panose="020B0604020202020204" pitchFamily="34" charset="0"/>
              </a:rPr>
              <a:t>các</a:t>
            </a:r>
            <a:r>
              <a:rPr lang="en-US" altLang="en-US" dirty="0">
                <a:latin typeface="Arial" panose="020B0604020202020204" pitchFamily="34" charset="0"/>
              </a:rPr>
              <a:t> </a:t>
            </a:r>
            <a:r>
              <a:rPr lang="en-US" altLang="en-US" dirty="0" err="1">
                <a:latin typeface="Arial" panose="020B0604020202020204" pitchFamily="34" charset="0"/>
              </a:rPr>
              <a:t>loại</a:t>
            </a:r>
            <a:r>
              <a:rPr lang="en-US" altLang="en-US" dirty="0">
                <a:latin typeface="Arial" panose="020B0604020202020204" pitchFamily="34" charset="0"/>
              </a:rPr>
              <a:t> </a:t>
            </a:r>
            <a:r>
              <a:rPr lang="en-US" altLang="en-US" dirty="0" err="1">
                <a:latin typeface="Arial" panose="020B0604020202020204" pitchFamily="34" charset="0"/>
              </a:rPr>
              <a:t>hình</a:t>
            </a:r>
            <a:r>
              <a:rPr lang="en-US" altLang="en-US" dirty="0">
                <a:latin typeface="Arial" panose="020B0604020202020204" pitchFamily="34" charset="0"/>
              </a:rPr>
              <a:t> </a:t>
            </a:r>
            <a:r>
              <a:rPr lang="en-US" altLang="en-US" dirty="0" err="1">
                <a:latin typeface="Arial" panose="020B0604020202020204" pitchFamily="34" charset="0"/>
              </a:rPr>
              <a:t>nhà</a:t>
            </a:r>
            <a:r>
              <a:rPr lang="en-US" altLang="en-US" dirty="0">
                <a:latin typeface="Arial" panose="020B0604020202020204" pitchFamily="34" charset="0"/>
              </a:rPr>
              <a:t> </a:t>
            </a:r>
            <a:r>
              <a:rPr lang="en-US" altLang="en-US" dirty="0" err="1">
                <a:latin typeface="Arial" panose="020B0604020202020204" pitchFamily="34" charset="0"/>
              </a:rPr>
              <a:t>mặt</a:t>
            </a:r>
            <a:r>
              <a:rPr lang="en-US" altLang="en-US" dirty="0">
                <a:latin typeface="Arial" panose="020B0604020202020204" pitchFamily="34" charset="0"/>
              </a:rPr>
              <a:t> </a:t>
            </a:r>
            <a:r>
              <a:rPr lang="en-US" altLang="en-US" dirty="0" err="1">
                <a:latin typeface="Arial" panose="020B0604020202020204" pitchFamily="34" charset="0"/>
              </a:rPr>
              <a:t>phố</a:t>
            </a:r>
            <a:r>
              <a:rPr lang="en-US" altLang="en-US" dirty="0">
                <a:latin typeface="Arial" panose="020B0604020202020204" pitchFamily="34" charset="0"/>
              </a:rPr>
              <a:t>, </a:t>
            </a:r>
            <a:r>
              <a:rPr lang="en-US" altLang="en-US" dirty="0" err="1">
                <a:latin typeface="Arial" panose="020B0604020202020204" pitchFamily="34" charset="0"/>
              </a:rPr>
              <a:t>nhà</a:t>
            </a:r>
            <a:r>
              <a:rPr lang="en-US" altLang="en-US" dirty="0">
                <a:latin typeface="Arial" panose="020B0604020202020204" pitchFamily="34" charset="0"/>
              </a:rPr>
              <a:t> </a:t>
            </a:r>
            <a:r>
              <a:rPr lang="en-US" altLang="en-US" dirty="0" err="1">
                <a:latin typeface="Arial" panose="020B0604020202020204" pitchFamily="34" charset="0"/>
              </a:rPr>
              <a:t>hẻm</a:t>
            </a:r>
            <a:r>
              <a:rPr lang="en-US" altLang="en-US" dirty="0">
                <a:latin typeface="Arial" panose="020B0604020202020204" pitchFamily="34" charset="0"/>
              </a:rPr>
              <a:t> </a:t>
            </a:r>
            <a:r>
              <a:rPr lang="en-US" altLang="en-US" dirty="0" err="1">
                <a:latin typeface="Arial" panose="020B0604020202020204" pitchFamily="34" charset="0"/>
              </a:rPr>
              <a:t>và</a:t>
            </a:r>
            <a:r>
              <a:rPr lang="en-US" altLang="en-US" dirty="0">
                <a:latin typeface="Arial" panose="020B0604020202020204" pitchFamily="34" charset="0"/>
              </a:rPr>
              <a:t> </a:t>
            </a:r>
            <a:r>
              <a:rPr lang="en-US" altLang="en-US" dirty="0" err="1">
                <a:latin typeface="Arial" panose="020B0604020202020204" pitchFamily="34" charset="0"/>
              </a:rPr>
              <a:t>biệt</a:t>
            </a:r>
            <a:r>
              <a:rPr lang="en-US" altLang="en-US" dirty="0">
                <a:latin typeface="Arial" panose="020B0604020202020204" pitchFamily="34" charset="0"/>
              </a:rPr>
              <a:t> </a:t>
            </a:r>
            <a:r>
              <a:rPr lang="en-US" altLang="en-US" dirty="0" err="1">
                <a:latin typeface="Arial" panose="020B0604020202020204" pitchFamily="34" charset="0"/>
              </a:rPr>
              <a:t>thự</a:t>
            </a:r>
            <a:r>
              <a:rPr lang="en-US" altLang="en-US" dirty="0">
                <a:latin typeface="Arial" panose="020B0604020202020204" pitchFamily="34" charset="0"/>
              </a:rPr>
              <a:t>.</a:t>
            </a:r>
            <a:endParaRPr lang="en-US" dirty="0"/>
          </a:p>
          <a:p>
            <a:endParaRPr lang="en-US" dirty="0"/>
          </a:p>
        </p:txBody>
      </p:sp>
      <p:pic>
        <p:nvPicPr>
          <p:cNvPr id="18" name="Picture 17">
            <a:extLst>
              <a:ext uri="{FF2B5EF4-FFF2-40B4-BE49-F238E27FC236}">
                <a16:creationId xmlns:a16="http://schemas.microsoft.com/office/drawing/2014/main" id="{529A2F11-AB01-FFBC-9D17-3F2B23BA4AF1}"/>
              </a:ext>
            </a:extLst>
          </p:cNvPr>
          <p:cNvPicPr>
            <a:picLocks noChangeAspect="1"/>
          </p:cNvPicPr>
          <p:nvPr/>
        </p:nvPicPr>
        <p:blipFill>
          <a:blip r:embed="rId3"/>
          <a:stretch>
            <a:fillRect/>
          </a:stretch>
        </p:blipFill>
        <p:spPr>
          <a:xfrm>
            <a:off x="2340248" y="2408439"/>
            <a:ext cx="6719997" cy="3745987"/>
          </a:xfrm>
          <a:prstGeom prst="rect">
            <a:avLst/>
          </a:prstGeom>
        </p:spPr>
      </p:pic>
    </p:spTree>
    <p:extLst>
      <p:ext uri="{BB962C8B-B14F-4D97-AF65-F5344CB8AC3E}">
        <p14:creationId xmlns:p14="http://schemas.microsoft.com/office/powerpoint/2010/main" val="2055621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oogle Shape;440;p1" descr="Top 10 trung tâm tin học đào tạo cấp chứng chỉ chất lượng nhất hiện nay">
            <a:extLst>
              <a:ext uri="{FF2B5EF4-FFF2-40B4-BE49-F238E27FC236}">
                <a16:creationId xmlns:a16="http://schemas.microsoft.com/office/drawing/2014/main" id="{99036AD2-EF35-CE50-5945-38E5B28A422F}"/>
              </a:ext>
            </a:extLst>
          </p:cNvPr>
          <p:cNvPicPr preferRelativeResize="0"/>
          <p:nvPr/>
        </p:nvPicPr>
        <p:blipFill rotWithShape="1">
          <a:blip r:embed="rId2">
            <a:alphaModFix/>
          </a:blip>
          <a:srcRect/>
          <a:stretch/>
        </p:blipFill>
        <p:spPr>
          <a:xfrm>
            <a:off x="11490022" y="0"/>
            <a:ext cx="701978" cy="701978"/>
          </a:xfrm>
          <a:prstGeom prst="rect">
            <a:avLst/>
          </a:prstGeom>
          <a:noFill/>
          <a:ln>
            <a:noFill/>
          </a:ln>
        </p:spPr>
      </p:pic>
      <p:sp>
        <p:nvSpPr>
          <p:cNvPr id="7" name="TextBox 6">
            <a:extLst>
              <a:ext uri="{FF2B5EF4-FFF2-40B4-BE49-F238E27FC236}">
                <a16:creationId xmlns:a16="http://schemas.microsoft.com/office/drawing/2014/main" id="{F33598A9-C906-FA58-2F19-8947B016A4E4}"/>
              </a:ext>
            </a:extLst>
          </p:cNvPr>
          <p:cNvSpPr txBox="1"/>
          <p:nvPr/>
        </p:nvSpPr>
        <p:spPr>
          <a:xfrm>
            <a:off x="645175" y="992607"/>
            <a:ext cx="4251844" cy="2031325"/>
          </a:xfrm>
          <a:prstGeom prst="rect">
            <a:avLst/>
          </a:prstGeom>
          <a:noFill/>
        </p:spPr>
        <p:txBody>
          <a:bodyPr wrap="square">
            <a:spAutoFit/>
          </a:bodyPr>
          <a:lstStyle/>
          <a:p>
            <a:r>
              <a:rPr lang="en-US" altLang="ja-JP" b="1" dirty="0" err="1"/>
              <a:t>SkLearn</a:t>
            </a:r>
            <a:r>
              <a:rPr lang="en-US" altLang="ja-JP" b="1" dirty="0"/>
              <a:t>: </a:t>
            </a:r>
          </a:p>
          <a:p>
            <a:r>
              <a:rPr lang="ja-JP" altLang="en-US" dirty="0"/>
              <a:t>📏</a:t>
            </a:r>
            <a:r>
              <a:rPr lang="en-US" altLang="ja-JP" dirty="0"/>
              <a:t>Linear Regression (</a:t>
            </a:r>
            <a:r>
              <a:rPr lang="en-US" altLang="ja-JP" dirty="0" err="1"/>
              <a:t>Hồi</a:t>
            </a:r>
            <a:r>
              <a:rPr lang="en-US" altLang="ja-JP" dirty="0"/>
              <a:t> </a:t>
            </a:r>
            <a:r>
              <a:rPr lang="en-US" altLang="ja-JP" dirty="0" err="1"/>
              <a:t>quy</a:t>
            </a:r>
            <a:r>
              <a:rPr lang="en-US" altLang="ja-JP" dirty="0"/>
              <a:t> </a:t>
            </a:r>
            <a:r>
              <a:rPr lang="en-US" altLang="ja-JP" dirty="0" err="1"/>
              <a:t>tuyến</a:t>
            </a:r>
            <a:r>
              <a:rPr lang="en-US" altLang="ja-JP" dirty="0"/>
              <a:t> </a:t>
            </a:r>
            <a:r>
              <a:rPr lang="en-US" altLang="ja-JP" dirty="0" err="1"/>
              <a:t>tính</a:t>
            </a:r>
            <a:r>
              <a:rPr lang="en-US" altLang="ja-JP" dirty="0"/>
              <a:t>)</a:t>
            </a:r>
          </a:p>
          <a:p>
            <a:r>
              <a:rPr lang="ja-JP" altLang="en-US" dirty="0"/>
              <a:t>🌲</a:t>
            </a:r>
            <a:r>
              <a:rPr lang="en-US" altLang="ja-JP" dirty="0"/>
              <a:t>Decision Tree</a:t>
            </a:r>
          </a:p>
          <a:p>
            <a:r>
              <a:rPr lang="ja-JP" altLang="en-US" dirty="0"/>
              <a:t>🌳</a:t>
            </a:r>
            <a:r>
              <a:rPr lang="en-US" altLang="ja-JP" dirty="0"/>
              <a:t>Random Forest</a:t>
            </a:r>
          </a:p>
          <a:p>
            <a:r>
              <a:rPr lang="ja-JP" altLang="en-US" dirty="0"/>
              <a:t>⚡</a:t>
            </a:r>
            <a:r>
              <a:rPr lang="en-US" altLang="ja-JP" dirty="0" err="1"/>
              <a:t>XGBoost</a:t>
            </a:r>
            <a:endParaRPr lang="en-US" altLang="ja-JP" dirty="0"/>
          </a:p>
          <a:p>
            <a:r>
              <a:rPr lang="ja-JP" altLang="en-US" dirty="0"/>
              <a:t>🚀</a:t>
            </a:r>
            <a:r>
              <a:rPr lang="en-US" altLang="ja-JP" dirty="0" err="1"/>
              <a:t>LightGBM</a:t>
            </a:r>
            <a:endParaRPr lang="en-US" altLang="ja-JP" dirty="0"/>
          </a:p>
          <a:p>
            <a:r>
              <a:rPr lang="ja-JP" altLang="en-US" dirty="0"/>
              <a:t>🔗</a:t>
            </a:r>
            <a:r>
              <a:rPr lang="en-US" altLang="ja-JP" dirty="0"/>
              <a:t>SVR (Support Vector Regression)</a:t>
            </a:r>
            <a:endParaRPr lang="ja-JP" altLang="en-US" dirty="0"/>
          </a:p>
        </p:txBody>
      </p:sp>
      <p:sp>
        <p:nvSpPr>
          <p:cNvPr id="14" name="TextBox 13">
            <a:extLst>
              <a:ext uri="{FF2B5EF4-FFF2-40B4-BE49-F238E27FC236}">
                <a16:creationId xmlns:a16="http://schemas.microsoft.com/office/drawing/2014/main" id="{1279EF73-45C2-5DF4-D811-8B9A7A829A9D}"/>
              </a:ext>
            </a:extLst>
          </p:cNvPr>
          <p:cNvSpPr txBox="1"/>
          <p:nvPr/>
        </p:nvSpPr>
        <p:spPr>
          <a:xfrm>
            <a:off x="641772" y="3242549"/>
            <a:ext cx="6174658" cy="923330"/>
          </a:xfrm>
          <a:prstGeom prst="rect">
            <a:avLst/>
          </a:prstGeom>
          <a:noFill/>
        </p:spPr>
        <p:txBody>
          <a:bodyPr wrap="square">
            <a:spAutoFit/>
          </a:bodyPr>
          <a:lstStyle/>
          <a:p>
            <a:r>
              <a:rPr lang="vi-VN" altLang="ja-JP" b="1" dirty="0"/>
              <a:t>Quy trình thực hiện:</a:t>
            </a:r>
            <a:endParaRPr lang="vi-VN" altLang="ja-JP" dirty="0"/>
          </a:p>
          <a:p>
            <a:r>
              <a:rPr lang="vi-VN" altLang="ja-JP" dirty="0"/>
              <a:t>Chia tập dữ liệu (Train/Test Split) theo tỷ lệ 80/20 để đảm bảo tính khách quan.</a:t>
            </a:r>
          </a:p>
        </p:txBody>
      </p:sp>
      <p:sp>
        <p:nvSpPr>
          <p:cNvPr id="3" name="TextBox 2">
            <a:extLst>
              <a:ext uri="{FF2B5EF4-FFF2-40B4-BE49-F238E27FC236}">
                <a16:creationId xmlns:a16="http://schemas.microsoft.com/office/drawing/2014/main" id="{C256043B-C6FF-FE84-84EE-F31788A87A07}"/>
              </a:ext>
            </a:extLst>
          </p:cNvPr>
          <p:cNvSpPr txBox="1"/>
          <p:nvPr/>
        </p:nvSpPr>
        <p:spPr>
          <a:xfrm>
            <a:off x="641773" y="36673"/>
            <a:ext cx="10905053" cy="646331"/>
          </a:xfrm>
          <a:prstGeom prst="rect">
            <a:avLst/>
          </a:prstGeom>
          <a:noFill/>
        </p:spPr>
        <p:txBody>
          <a:bodyPr wrap="square">
            <a:spAutoFit/>
          </a:bodyPr>
          <a:lstStyle>
            <a:defPPr>
              <a:defRPr lang="en-US"/>
            </a:defPPr>
            <a:lvl1pPr>
              <a:defRPr sz="3600" b="1"/>
            </a:lvl1pPr>
          </a:lstStyle>
          <a:p>
            <a:r>
              <a:rPr lang="en-US" altLang="ja-JP"/>
              <a:t>4.</a:t>
            </a:r>
            <a:r>
              <a:rPr lang="ja-JP" altLang="en-US"/>
              <a:t>🤖 </a:t>
            </a:r>
            <a:r>
              <a:rPr lang="en-US" altLang="ja-JP"/>
              <a:t>Bài toán 1 - Mô hình dự báo giá</a:t>
            </a:r>
            <a:endParaRPr lang="ja-JP" altLang="en-US"/>
          </a:p>
        </p:txBody>
      </p:sp>
      <p:sp>
        <p:nvSpPr>
          <p:cNvPr id="5" name="TextBox 4">
            <a:extLst>
              <a:ext uri="{FF2B5EF4-FFF2-40B4-BE49-F238E27FC236}">
                <a16:creationId xmlns:a16="http://schemas.microsoft.com/office/drawing/2014/main" id="{1ED3A33D-01BE-8D37-19E3-0785C7B65A71}"/>
              </a:ext>
            </a:extLst>
          </p:cNvPr>
          <p:cNvSpPr txBox="1"/>
          <p:nvPr/>
        </p:nvSpPr>
        <p:spPr>
          <a:xfrm>
            <a:off x="641772" y="623275"/>
            <a:ext cx="6094948" cy="369332"/>
          </a:xfrm>
          <a:prstGeom prst="rect">
            <a:avLst/>
          </a:prstGeom>
          <a:noFill/>
        </p:spPr>
        <p:txBody>
          <a:bodyPr wrap="square">
            <a:spAutoFit/>
          </a:bodyPr>
          <a:lstStyle/>
          <a:p>
            <a:r>
              <a:rPr lang="en-US" altLang="ja-JP" b="1"/>
              <a:t>Lựa chọn thuật toán:</a:t>
            </a:r>
            <a:r>
              <a:rPr lang="en-US" altLang="ja-JP"/>
              <a:t> </a:t>
            </a:r>
          </a:p>
        </p:txBody>
      </p:sp>
      <p:sp>
        <p:nvSpPr>
          <p:cNvPr id="6" name="TextBox 5">
            <a:extLst>
              <a:ext uri="{FF2B5EF4-FFF2-40B4-BE49-F238E27FC236}">
                <a16:creationId xmlns:a16="http://schemas.microsoft.com/office/drawing/2014/main" id="{088D8F83-947D-1064-E0A4-89548A2D1E46}"/>
              </a:ext>
            </a:extLst>
          </p:cNvPr>
          <p:cNvSpPr txBox="1"/>
          <p:nvPr/>
        </p:nvSpPr>
        <p:spPr>
          <a:xfrm>
            <a:off x="7294982" y="1133295"/>
            <a:ext cx="4251844" cy="1200329"/>
          </a:xfrm>
          <a:prstGeom prst="rect">
            <a:avLst/>
          </a:prstGeom>
          <a:noFill/>
        </p:spPr>
        <p:txBody>
          <a:bodyPr wrap="square">
            <a:spAutoFit/>
          </a:bodyPr>
          <a:lstStyle/>
          <a:p>
            <a:r>
              <a:rPr lang="en-US" altLang="ja-JP" b="1"/>
              <a:t>PySpark:</a:t>
            </a:r>
          </a:p>
          <a:p>
            <a:r>
              <a:rPr lang="ja-JP" altLang="en-US"/>
              <a:t>📏</a:t>
            </a:r>
            <a:r>
              <a:rPr lang="en-US" altLang="ja-JP"/>
              <a:t>Linear Regression (Hồi quy tuyến tính)</a:t>
            </a:r>
          </a:p>
          <a:p>
            <a:r>
              <a:rPr lang="ja-JP" altLang="en-US"/>
              <a:t>🌳</a:t>
            </a:r>
            <a:r>
              <a:rPr lang="en-US" altLang="ja-JP"/>
              <a:t>Random Forest</a:t>
            </a:r>
          </a:p>
          <a:p>
            <a:r>
              <a:rPr lang="ja-JP" altLang="en-US"/>
              <a:t>⚡</a:t>
            </a:r>
            <a:r>
              <a:rPr lang="en-US" altLang="ja-JP"/>
              <a:t>Gradient Boosted Trees</a:t>
            </a:r>
          </a:p>
        </p:txBody>
      </p:sp>
      <p:pic>
        <p:nvPicPr>
          <p:cNvPr id="16" name="Picture 15">
            <a:extLst>
              <a:ext uri="{FF2B5EF4-FFF2-40B4-BE49-F238E27FC236}">
                <a16:creationId xmlns:a16="http://schemas.microsoft.com/office/drawing/2014/main" id="{E2A1C246-79D6-CAC5-F6FC-F34AC4734EF9}"/>
              </a:ext>
            </a:extLst>
          </p:cNvPr>
          <p:cNvPicPr>
            <a:picLocks noChangeAspect="1"/>
          </p:cNvPicPr>
          <p:nvPr/>
        </p:nvPicPr>
        <p:blipFill>
          <a:blip r:embed="rId3"/>
          <a:stretch>
            <a:fillRect/>
          </a:stretch>
        </p:blipFill>
        <p:spPr>
          <a:xfrm>
            <a:off x="641772" y="4582002"/>
            <a:ext cx="9339626" cy="429307"/>
          </a:xfrm>
          <a:prstGeom prst="rect">
            <a:avLst/>
          </a:prstGeom>
        </p:spPr>
      </p:pic>
    </p:spTree>
    <p:extLst>
      <p:ext uri="{BB962C8B-B14F-4D97-AF65-F5344CB8AC3E}">
        <p14:creationId xmlns:p14="http://schemas.microsoft.com/office/powerpoint/2010/main" val="17617926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oogle Shape;440;p1" descr="Top 10 trung tâm tin học đào tạo cấp chứng chỉ chất lượng nhất hiện nay">
            <a:extLst>
              <a:ext uri="{FF2B5EF4-FFF2-40B4-BE49-F238E27FC236}">
                <a16:creationId xmlns:a16="http://schemas.microsoft.com/office/drawing/2014/main" id="{99036AD2-EF35-CE50-5945-38E5B28A422F}"/>
              </a:ext>
            </a:extLst>
          </p:cNvPr>
          <p:cNvPicPr preferRelativeResize="0"/>
          <p:nvPr/>
        </p:nvPicPr>
        <p:blipFill rotWithShape="1">
          <a:blip r:embed="rId2">
            <a:alphaModFix/>
          </a:blip>
          <a:srcRect/>
          <a:stretch/>
        </p:blipFill>
        <p:spPr>
          <a:xfrm>
            <a:off x="11490022" y="0"/>
            <a:ext cx="701978" cy="701978"/>
          </a:xfrm>
          <a:prstGeom prst="rect">
            <a:avLst/>
          </a:prstGeom>
          <a:noFill/>
          <a:ln>
            <a:noFill/>
          </a:ln>
        </p:spPr>
      </p:pic>
      <p:sp>
        <p:nvSpPr>
          <p:cNvPr id="5" name="TextBox 4">
            <a:extLst>
              <a:ext uri="{FF2B5EF4-FFF2-40B4-BE49-F238E27FC236}">
                <a16:creationId xmlns:a16="http://schemas.microsoft.com/office/drawing/2014/main" id="{6ABFF17F-8A0D-07CD-FCD1-CBB065E215FF}"/>
              </a:ext>
            </a:extLst>
          </p:cNvPr>
          <p:cNvSpPr txBox="1"/>
          <p:nvPr/>
        </p:nvSpPr>
        <p:spPr>
          <a:xfrm>
            <a:off x="641773" y="36673"/>
            <a:ext cx="10905053" cy="646331"/>
          </a:xfrm>
          <a:prstGeom prst="rect">
            <a:avLst/>
          </a:prstGeom>
          <a:noFill/>
        </p:spPr>
        <p:txBody>
          <a:bodyPr wrap="square">
            <a:spAutoFit/>
          </a:bodyPr>
          <a:lstStyle>
            <a:defPPr>
              <a:defRPr lang="en-US"/>
            </a:defPPr>
            <a:lvl1pPr>
              <a:defRPr sz="3600" b="1"/>
            </a:lvl1pPr>
          </a:lstStyle>
          <a:p>
            <a:r>
              <a:rPr lang="en-US" altLang="ja-JP"/>
              <a:t>Kết quả thực nghiệm Bài toán 1 – so sánh Model</a:t>
            </a:r>
            <a:endParaRPr lang="ja-JP" altLang="en-US"/>
          </a:p>
        </p:txBody>
      </p:sp>
      <p:sp>
        <p:nvSpPr>
          <p:cNvPr id="3" name="Rectangle 1">
            <a:extLst>
              <a:ext uri="{FF2B5EF4-FFF2-40B4-BE49-F238E27FC236}">
                <a16:creationId xmlns:a16="http://schemas.microsoft.com/office/drawing/2014/main" id="{47530404-616D-2448-C9A3-1DD3CBC71FD3}"/>
              </a:ext>
            </a:extLst>
          </p:cNvPr>
          <p:cNvSpPr>
            <a:spLocks noChangeArrowheads="1"/>
          </p:cNvSpPr>
          <p:nvPr/>
        </p:nvSpPr>
        <p:spPr bwMode="auto">
          <a:xfrm>
            <a:off x="641774" y="667642"/>
            <a:ext cx="6427620" cy="11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1" i="0" u="none" strike="noStrike" cap="none" normalizeH="0" baseline="0">
                <a:ln>
                  <a:noFill/>
                </a:ln>
                <a:solidFill>
                  <a:schemeClr val="tx1"/>
                </a:solidFill>
                <a:effectLst/>
                <a:latin typeface="Arial" panose="020B0604020202020204" pitchFamily="34" charset="0"/>
                <a:ea typeface="Google Sans Text"/>
              </a:rPr>
              <a:t>Chỉ số đánh giá:</a:t>
            </a:r>
            <a:r>
              <a:rPr kumimoji="0" lang="ja-JP" altLang="ja-JP" sz="1800" b="0" i="0" u="none" strike="noStrike" cap="none" normalizeH="0" baseline="0">
                <a:ln>
                  <a:noFill/>
                </a:ln>
                <a:solidFill>
                  <a:schemeClr val="tx1"/>
                </a:solidFill>
                <a:effectLst/>
                <a:latin typeface="Arial" panose="020B0604020202020204" pitchFamily="34" charset="0"/>
                <a:ea typeface="Google Sans Text"/>
              </a:rPr>
              <a:t>  </a:t>
            </a:r>
            <a:endParaRPr kumimoji="0" lang="en-US" altLang="ja-JP" sz="1800" b="0" i="0" u="none" strike="noStrike" cap="none" normalizeH="0" baseline="0">
              <a:ln>
                <a:noFill/>
              </a:ln>
              <a:solidFill>
                <a:schemeClr val="tx1"/>
              </a:solidFill>
              <a:effectLst/>
              <a:latin typeface="Arial" panose="020B0604020202020204" pitchFamily="34" charset="0"/>
              <a:ea typeface="Google Sans Tex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ja-JP" altLang="ja-JP" sz="1800" b="0" i="0" u="none" strike="noStrike" cap="none" normalizeH="0" baseline="0">
                <a:ln>
                  <a:noFill/>
                </a:ln>
                <a:solidFill>
                  <a:schemeClr val="tx1"/>
                </a:solidFill>
                <a:effectLst/>
                <a:latin typeface="Arial" panose="020B0604020202020204" pitchFamily="34" charset="0"/>
                <a:ea typeface="Google Sans Text"/>
              </a:rPr>
              <a:t>R^2 Score (Độ khớp của mô hình).</a:t>
            </a:r>
            <a:endParaRPr kumimoji="0" lang="ja-JP" altLang="ja-JP" sz="1800" b="0" i="0" u="none" strike="noStrike" cap="none" normalizeH="0" baseline="0">
              <a:ln>
                <a:noFill/>
              </a:ln>
              <a:solidFill>
                <a:schemeClr val="tx1"/>
              </a:solidFill>
              <a:effectLst/>
              <a:latin typeface="Arial" panose="020B0604020202020204" pitchFamily="34" charset="0"/>
            </a:endParaRPr>
          </a:p>
          <a:p>
            <a:pPr lvl="0" defTabSz="914400" eaLnBrk="0" fontAlgn="base" hangingPunct="0">
              <a:spcBef>
                <a:spcPct val="0"/>
              </a:spcBef>
              <a:spcAft>
                <a:spcPct val="0"/>
              </a:spcAft>
              <a:buFontTx/>
              <a:buChar char="•"/>
            </a:pPr>
            <a:r>
              <a:rPr kumimoji="0" lang="en-US" altLang="ja-JP" sz="1800" b="0" i="0" u="none" strike="noStrike" cap="none" normalizeH="0" baseline="0">
                <a:ln>
                  <a:noFill/>
                </a:ln>
                <a:solidFill>
                  <a:schemeClr val="tx1"/>
                </a:solidFill>
                <a:effectLst/>
                <a:latin typeface="Arial" panose="020B0604020202020204" pitchFamily="34" charset="0"/>
                <a:ea typeface="Google Sans Text"/>
              </a:rPr>
              <a:t> </a:t>
            </a:r>
            <a:r>
              <a:rPr lang="ja-JP" altLang="en-US"/>
              <a:t>⚖️</a:t>
            </a:r>
            <a:r>
              <a:rPr kumimoji="0" lang="ja-JP" altLang="ja-JP" sz="1800" b="0" i="0" u="none" strike="noStrike" cap="none" normalizeH="0" baseline="0">
                <a:ln>
                  <a:noFill/>
                </a:ln>
                <a:solidFill>
                  <a:schemeClr val="tx1"/>
                </a:solidFill>
                <a:effectLst/>
                <a:latin typeface="Arial" panose="020B0604020202020204" pitchFamily="34" charset="0"/>
                <a:ea typeface="Google Sans Text"/>
              </a:rPr>
              <a:t>MAE (Sai số tuyệt đối trung bình - đơn vị Tỷ đồng).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16445596-A936-3FA3-1AD8-D1F65755CCD6}"/>
              </a:ext>
            </a:extLst>
          </p:cNvPr>
          <p:cNvSpPr>
            <a:spLocks noChangeArrowheads="1"/>
          </p:cNvSpPr>
          <p:nvPr/>
        </p:nvSpPr>
        <p:spPr bwMode="auto">
          <a:xfrm>
            <a:off x="641774" y="4814051"/>
            <a:ext cx="9143999" cy="1431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1" i="0" u="none" strike="noStrike" cap="none" normalizeH="0" baseline="0" dirty="0">
                <a:ln>
                  <a:noFill/>
                </a:ln>
                <a:solidFill>
                  <a:schemeClr val="tx1"/>
                </a:solidFill>
                <a:effectLst/>
                <a:latin typeface="Arial" panose="020B0604020202020204" pitchFamily="34" charset="0"/>
                <a:ea typeface="Google Sans Text"/>
              </a:rPr>
              <a:t>Kết luận:</a:t>
            </a:r>
            <a:endParaRPr kumimoji="0" lang="ja-JP" altLang="ja-JP"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ja-JP" altLang="ja-JP" sz="1800" b="1" i="0" u="none" strike="noStrike" cap="none" normalizeH="0" baseline="0" dirty="0">
                <a:ln>
                  <a:noFill/>
                </a:ln>
                <a:solidFill>
                  <a:schemeClr val="tx1"/>
                </a:solidFill>
                <a:effectLst/>
                <a:latin typeface="Arial" panose="020B0604020202020204" pitchFamily="34" charset="0"/>
                <a:ea typeface="Google Sans Text"/>
              </a:rPr>
              <a:t>XGBoost</a:t>
            </a:r>
            <a:r>
              <a:rPr kumimoji="0" lang="en-US" altLang="ja-JP" sz="1800" b="1" i="0" u="none" strike="noStrike" cap="none" normalizeH="0" baseline="0" dirty="0">
                <a:ln>
                  <a:noFill/>
                </a:ln>
                <a:solidFill>
                  <a:schemeClr val="tx1"/>
                </a:solidFill>
                <a:effectLst/>
                <a:latin typeface="Arial" panose="020B0604020202020204" pitchFamily="34" charset="0"/>
                <a:ea typeface="Google Sans Text"/>
              </a:rPr>
              <a:t> </a:t>
            </a:r>
            <a:r>
              <a:rPr kumimoji="0" lang="ja-JP" altLang="ja-JP" sz="1800" b="0" i="0" u="none" strike="noStrike" cap="none" normalizeH="0" baseline="0" dirty="0">
                <a:ln>
                  <a:noFill/>
                </a:ln>
                <a:solidFill>
                  <a:schemeClr val="tx1"/>
                </a:solidFill>
                <a:effectLst/>
                <a:latin typeface="Arial" panose="020B0604020202020204" pitchFamily="34" charset="0"/>
                <a:ea typeface="Google Sans Text"/>
              </a:rPr>
              <a:t>đạt hiệu quả cao nhất với R^2 đạt khoảng [0.</a:t>
            </a:r>
            <a:r>
              <a:rPr kumimoji="0" lang="en-US" altLang="ja-JP" sz="1800" b="0" i="0" u="none" strike="noStrike" cap="none" normalizeH="0" baseline="0" dirty="0">
                <a:ln>
                  <a:noFill/>
                </a:ln>
                <a:solidFill>
                  <a:schemeClr val="tx1"/>
                </a:solidFill>
                <a:effectLst/>
                <a:latin typeface="Arial" panose="020B0604020202020204" pitchFamily="34" charset="0"/>
                <a:ea typeface="Google Sans Text"/>
              </a:rPr>
              <a:t>7</a:t>
            </a:r>
            <a:r>
              <a:rPr kumimoji="0" lang="ja-JP" altLang="ja-JP" sz="1800" b="0" i="0" u="none" strike="noStrike" cap="none" normalizeH="0" baseline="0" dirty="0">
                <a:ln>
                  <a:noFill/>
                </a:ln>
                <a:solidFill>
                  <a:schemeClr val="tx1"/>
                </a:solidFill>
                <a:effectLst/>
                <a:latin typeface="Arial" panose="020B0604020202020204" pitchFamily="34" charset="0"/>
                <a:ea typeface="Google Sans Text"/>
              </a:rPr>
              <a:t>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ja-JP" altLang="ja-JP" sz="1800" b="0" i="0" u="none" strike="noStrike" cap="none" normalizeH="0" baseline="0" dirty="0">
                <a:ln>
                  <a:noFill/>
                </a:ln>
                <a:solidFill>
                  <a:schemeClr val="tx1"/>
                </a:solidFill>
                <a:effectLst/>
                <a:latin typeface="Arial" panose="020B0604020202020204" pitchFamily="34" charset="0"/>
                <a:ea typeface="Google Sans Text"/>
              </a:rPr>
              <a:t>Các mô hình dạng cây (Ensemble) vượt trội hơn hẳn so với Linear Regression trong việc xử lý các mối quan hệ phức tạp của giá nhà.</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dirty="0">
              <a:ln>
                <a:noFill/>
              </a:ln>
              <a:solidFill>
                <a:schemeClr val="tx1"/>
              </a:solidFill>
              <a:effectLst/>
              <a:latin typeface="Arial" panose="020B0604020202020204" pitchFamily="34" charset="0"/>
            </a:endParaRPr>
          </a:p>
        </p:txBody>
      </p:sp>
      <p:grpSp>
        <p:nvGrpSpPr>
          <p:cNvPr id="21" name="Group 20">
            <a:extLst>
              <a:ext uri="{FF2B5EF4-FFF2-40B4-BE49-F238E27FC236}">
                <a16:creationId xmlns:a16="http://schemas.microsoft.com/office/drawing/2014/main" id="{4CD38465-C308-3966-E261-A45A7BD56D86}"/>
              </a:ext>
            </a:extLst>
          </p:cNvPr>
          <p:cNvGrpSpPr/>
          <p:nvPr/>
        </p:nvGrpSpPr>
        <p:grpSpPr>
          <a:xfrm>
            <a:off x="987885" y="1531276"/>
            <a:ext cx="10216230" cy="2543683"/>
            <a:chOff x="987885" y="1531276"/>
            <a:chExt cx="10216230" cy="2543683"/>
          </a:xfrm>
        </p:grpSpPr>
        <p:sp>
          <p:nvSpPr>
            <p:cNvPr id="7" name="TextBox 6">
              <a:extLst>
                <a:ext uri="{FF2B5EF4-FFF2-40B4-BE49-F238E27FC236}">
                  <a16:creationId xmlns:a16="http://schemas.microsoft.com/office/drawing/2014/main" id="{3BC6FDBC-4E98-8881-FA24-A587049EBD09}"/>
                </a:ext>
              </a:extLst>
            </p:cNvPr>
            <p:cNvSpPr txBox="1"/>
            <p:nvPr/>
          </p:nvSpPr>
          <p:spPr>
            <a:xfrm>
              <a:off x="2851393" y="1531276"/>
              <a:ext cx="1757854" cy="369332"/>
            </a:xfrm>
            <a:prstGeom prst="rect">
              <a:avLst/>
            </a:prstGeom>
            <a:noFill/>
          </p:spPr>
          <p:txBody>
            <a:bodyPr wrap="square">
              <a:spAutoFit/>
            </a:bodyPr>
            <a:lstStyle/>
            <a:p>
              <a:r>
                <a:rPr lang="en-US" altLang="ja-JP" b="1" dirty="0" err="1"/>
                <a:t>SkLearn</a:t>
              </a:r>
              <a:r>
                <a:rPr lang="en-US" altLang="ja-JP" b="1" dirty="0"/>
                <a:t>: </a:t>
              </a:r>
            </a:p>
          </p:txBody>
        </p:sp>
        <p:sp>
          <p:nvSpPr>
            <p:cNvPr id="11" name="TextBox 10">
              <a:extLst>
                <a:ext uri="{FF2B5EF4-FFF2-40B4-BE49-F238E27FC236}">
                  <a16:creationId xmlns:a16="http://schemas.microsoft.com/office/drawing/2014/main" id="{B6ADF3CD-1972-979B-C1C0-3C25486CA5CB}"/>
                </a:ext>
              </a:extLst>
            </p:cNvPr>
            <p:cNvSpPr txBox="1"/>
            <p:nvPr/>
          </p:nvSpPr>
          <p:spPr>
            <a:xfrm>
              <a:off x="8576720" y="1531276"/>
              <a:ext cx="1341645" cy="369332"/>
            </a:xfrm>
            <a:prstGeom prst="rect">
              <a:avLst/>
            </a:prstGeom>
            <a:noFill/>
          </p:spPr>
          <p:txBody>
            <a:bodyPr wrap="square">
              <a:spAutoFit/>
            </a:bodyPr>
            <a:lstStyle/>
            <a:p>
              <a:r>
                <a:rPr lang="en-US" altLang="ja-JP" b="1"/>
                <a:t>PySpark:</a:t>
              </a:r>
            </a:p>
          </p:txBody>
        </p:sp>
        <p:grpSp>
          <p:nvGrpSpPr>
            <p:cNvPr id="13" name="Group 12">
              <a:extLst>
                <a:ext uri="{FF2B5EF4-FFF2-40B4-BE49-F238E27FC236}">
                  <a16:creationId xmlns:a16="http://schemas.microsoft.com/office/drawing/2014/main" id="{5EC22182-AB5A-946B-3358-692F75FC9C76}"/>
                </a:ext>
              </a:extLst>
            </p:cNvPr>
            <p:cNvGrpSpPr/>
            <p:nvPr/>
          </p:nvGrpSpPr>
          <p:grpSpPr>
            <a:xfrm>
              <a:off x="987885" y="2341320"/>
              <a:ext cx="4845299" cy="1733639"/>
              <a:chOff x="737645" y="3202428"/>
              <a:chExt cx="4845299" cy="1733639"/>
            </a:xfrm>
          </p:grpSpPr>
          <p:pic>
            <p:nvPicPr>
              <p:cNvPr id="9" name="Picture 8">
                <a:extLst>
                  <a:ext uri="{FF2B5EF4-FFF2-40B4-BE49-F238E27FC236}">
                    <a16:creationId xmlns:a16="http://schemas.microsoft.com/office/drawing/2014/main" id="{B255C9C3-8F2F-A4FE-B731-26E274BF3F55}"/>
                  </a:ext>
                </a:extLst>
              </p:cNvPr>
              <p:cNvPicPr>
                <a:picLocks noChangeAspect="1"/>
              </p:cNvPicPr>
              <p:nvPr/>
            </p:nvPicPr>
            <p:blipFill>
              <a:blip r:embed="rId3"/>
              <a:stretch>
                <a:fillRect/>
              </a:stretch>
            </p:blipFill>
            <p:spPr>
              <a:xfrm>
                <a:off x="737645" y="3202428"/>
                <a:ext cx="4845299" cy="1733639"/>
              </a:xfrm>
              <a:prstGeom prst="rect">
                <a:avLst/>
              </a:prstGeom>
            </p:spPr>
          </p:pic>
          <p:sp>
            <p:nvSpPr>
              <p:cNvPr id="6" name="Rectangle 5">
                <a:extLst>
                  <a:ext uri="{FF2B5EF4-FFF2-40B4-BE49-F238E27FC236}">
                    <a16:creationId xmlns:a16="http://schemas.microsoft.com/office/drawing/2014/main" id="{D3B177B5-4283-6DC7-CF8B-1128457A751F}"/>
                  </a:ext>
                </a:extLst>
              </p:cNvPr>
              <p:cNvSpPr/>
              <p:nvPr/>
            </p:nvSpPr>
            <p:spPr>
              <a:xfrm>
                <a:off x="808522" y="3551722"/>
                <a:ext cx="4620126" cy="28875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Picture 14">
              <a:extLst>
                <a:ext uri="{FF2B5EF4-FFF2-40B4-BE49-F238E27FC236}">
                  <a16:creationId xmlns:a16="http://schemas.microsoft.com/office/drawing/2014/main" id="{AB42A0F8-7DC1-9FE0-A452-96BB6AE9DC76}"/>
                </a:ext>
              </a:extLst>
            </p:cNvPr>
            <p:cNvPicPr>
              <a:picLocks noChangeAspect="1"/>
            </p:cNvPicPr>
            <p:nvPr/>
          </p:nvPicPr>
          <p:blipFill>
            <a:blip r:embed="rId4"/>
            <a:stretch>
              <a:fillRect/>
            </a:stretch>
          </p:blipFill>
          <p:spPr>
            <a:xfrm>
              <a:off x="6195005" y="2341320"/>
              <a:ext cx="5009110" cy="1733639"/>
            </a:xfrm>
            <a:prstGeom prst="rect">
              <a:avLst/>
            </a:prstGeom>
          </p:spPr>
        </p:pic>
        <p:sp>
          <p:nvSpPr>
            <p:cNvPr id="16" name="Rectangle 15">
              <a:extLst>
                <a:ext uri="{FF2B5EF4-FFF2-40B4-BE49-F238E27FC236}">
                  <a16:creationId xmlns:a16="http://schemas.microsoft.com/office/drawing/2014/main" id="{FC558040-8490-158A-2B40-D4DB112C7B0C}"/>
                </a:ext>
              </a:extLst>
            </p:cNvPr>
            <p:cNvSpPr/>
            <p:nvPr/>
          </p:nvSpPr>
          <p:spPr>
            <a:xfrm>
              <a:off x="6266656" y="3253339"/>
              <a:ext cx="4754269" cy="22678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35425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oogle Shape;440;p1" descr="Top 10 trung tâm tin học đào tạo cấp chứng chỉ chất lượng nhất hiện nay">
            <a:extLst>
              <a:ext uri="{FF2B5EF4-FFF2-40B4-BE49-F238E27FC236}">
                <a16:creationId xmlns:a16="http://schemas.microsoft.com/office/drawing/2014/main" id="{99036AD2-EF35-CE50-5945-38E5B28A422F}"/>
              </a:ext>
            </a:extLst>
          </p:cNvPr>
          <p:cNvPicPr preferRelativeResize="0"/>
          <p:nvPr/>
        </p:nvPicPr>
        <p:blipFill rotWithShape="1">
          <a:blip r:embed="rId2">
            <a:alphaModFix/>
          </a:blip>
          <a:srcRect/>
          <a:stretch/>
        </p:blipFill>
        <p:spPr>
          <a:xfrm>
            <a:off x="11490022" y="0"/>
            <a:ext cx="701978" cy="701978"/>
          </a:xfrm>
          <a:prstGeom prst="rect">
            <a:avLst/>
          </a:prstGeom>
          <a:noFill/>
          <a:ln>
            <a:noFill/>
          </a:ln>
        </p:spPr>
      </p:pic>
      <p:sp>
        <p:nvSpPr>
          <p:cNvPr id="5" name="TextBox 4">
            <a:extLst>
              <a:ext uri="{FF2B5EF4-FFF2-40B4-BE49-F238E27FC236}">
                <a16:creationId xmlns:a16="http://schemas.microsoft.com/office/drawing/2014/main" id="{6ABFF17F-8A0D-07CD-FCD1-CBB065E215FF}"/>
              </a:ext>
            </a:extLst>
          </p:cNvPr>
          <p:cNvSpPr txBox="1"/>
          <p:nvPr/>
        </p:nvSpPr>
        <p:spPr>
          <a:xfrm>
            <a:off x="641774" y="36673"/>
            <a:ext cx="11550226" cy="646331"/>
          </a:xfrm>
          <a:prstGeom prst="rect">
            <a:avLst/>
          </a:prstGeom>
          <a:noFill/>
        </p:spPr>
        <p:txBody>
          <a:bodyPr wrap="square">
            <a:spAutoFit/>
          </a:bodyPr>
          <a:lstStyle>
            <a:defPPr>
              <a:defRPr lang="en-US"/>
            </a:defPPr>
            <a:lvl1pPr>
              <a:defRPr sz="3600" b="1"/>
            </a:lvl1pPr>
          </a:lstStyle>
          <a:p>
            <a:r>
              <a:rPr lang="en-US" altLang="ja-JP"/>
              <a:t>5. </a:t>
            </a:r>
            <a:r>
              <a:rPr lang="ja-JP" altLang="en-US"/>
              <a:t>🚩</a:t>
            </a:r>
            <a:r>
              <a:rPr lang="vi-VN" altLang="ja-JP"/>
              <a:t>Bài toán 2 - Phát hiện bất thường</a:t>
            </a:r>
            <a:endParaRPr lang="ja-JP" altLang="en-US"/>
          </a:p>
        </p:txBody>
      </p:sp>
      <p:sp>
        <p:nvSpPr>
          <p:cNvPr id="6" name="Rectangle 1">
            <a:extLst>
              <a:ext uri="{FF2B5EF4-FFF2-40B4-BE49-F238E27FC236}">
                <a16:creationId xmlns:a16="http://schemas.microsoft.com/office/drawing/2014/main" id="{ADAA5D68-C11D-7DDB-50B2-8EDFC05D14A0}"/>
              </a:ext>
            </a:extLst>
          </p:cNvPr>
          <p:cNvSpPr>
            <a:spLocks noChangeArrowheads="1"/>
          </p:cNvSpPr>
          <p:nvPr/>
        </p:nvSpPr>
        <p:spPr bwMode="auto">
          <a:xfrm>
            <a:off x="641775" y="738651"/>
            <a:ext cx="10905052"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ja-JP" altLang="ja-JP" sz="1800" b="1" i="0" u="none" strike="noStrike" cap="none" normalizeH="0" baseline="0">
                <a:ln>
                  <a:noFill/>
                </a:ln>
                <a:solidFill>
                  <a:schemeClr val="tx1"/>
                </a:solidFill>
                <a:effectLst/>
                <a:latin typeface="Arial" panose="020B0604020202020204" pitchFamily="34" charset="0"/>
              </a:rPr>
              <a:t>Phương pháp </a:t>
            </a:r>
            <a:r>
              <a:rPr kumimoji="0" lang="en-US" altLang="ja-JP" sz="1800" b="1" i="0" u="none" strike="noStrike" cap="none" normalizeH="0" baseline="0">
                <a:ln>
                  <a:noFill/>
                </a:ln>
                <a:solidFill>
                  <a:schemeClr val="tx1"/>
                </a:solidFill>
                <a:effectLst/>
                <a:latin typeface="Arial" panose="020B0604020202020204" pitchFamily="34" charset="0"/>
              </a:rPr>
              <a:t>phần dư </a:t>
            </a:r>
            <a:r>
              <a:rPr kumimoji="0" lang="ja-JP" altLang="ja-JP" sz="1800" b="1" i="0" u="none" strike="noStrike" cap="none" normalizeH="0" baseline="0">
                <a:ln>
                  <a:noFill/>
                </a:ln>
                <a:solidFill>
                  <a:schemeClr val="tx1"/>
                </a:solidFill>
                <a:effectLst/>
                <a:latin typeface="Arial" panose="020B0604020202020204" pitchFamily="34" charset="0"/>
              </a:rPr>
              <a:t>(Residual-Z):</a:t>
            </a:r>
            <a:endParaRPr kumimoji="0" lang="ja-JP" altLang="ja-JP" sz="1800" b="0" i="0" u="none" strike="noStrike" cap="none" normalizeH="0" baseline="0">
              <a:ln>
                <a:noFill/>
              </a:ln>
              <a:solidFill>
                <a:schemeClr val="tx1"/>
              </a:solidFill>
              <a:effectLst/>
              <a:latin typeface="Arial" panose="020B0604020202020204" pitchFamily="34" charset="0"/>
            </a:endParaRPr>
          </a:p>
          <a:p>
            <a:pPr lvl="1" defTabSz="914400" eaLnBrk="0" fontAlgn="base" hangingPunct="0">
              <a:spcBef>
                <a:spcPct val="0"/>
              </a:spcBef>
              <a:spcAft>
                <a:spcPct val="0"/>
              </a:spcAft>
            </a:pPr>
            <a:r>
              <a:rPr kumimoji="0" lang="ja-JP" altLang="ja-JP" b="1" i="0" u="none" strike="noStrike" cap="none" normalizeH="0" baseline="0">
                <a:ln>
                  <a:noFill/>
                </a:ln>
                <a:solidFill>
                  <a:schemeClr val="tx1"/>
                </a:solidFill>
                <a:effectLst/>
                <a:latin typeface="Arial" panose="020B0604020202020204" pitchFamily="34" charset="0"/>
              </a:rPr>
              <a:t>Cách làm:</a:t>
            </a:r>
            <a:r>
              <a:rPr kumimoji="0" lang="ja-JP" altLang="ja-JP" b="0" i="0" u="none" strike="noStrike" cap="none" normalizeH="0" baseline="0">
                <a:ln>
                  <a:noFill/>
                </a:ln>
                <a:solidFill>
                  <a:schemeClr val="tx1"/>
                </a:solidFill>
                <a:effectLst/>
                <a:latin typeface="Arial" panose="020B0604020202020204" pitchFamily="34" charset="0"/>
              </a:rPr>
              <a:t> Lấy giá thực tế trừ đi giá dự đoán từ mô hình tốt nhất ở Bài </a:t>
            </a:r>
            <a:r>
              <a:rPr kumimoji="0" lang="en-US" altLang="ja-JP" b="0" i="0" u="none" strike="noStrike" cap="none" normalizeH="0" baseline="0">
                <a:ln>
                  <a:noFill/>
                </a:ln>
                <a:solidFill>
                  <a:schemeClr val="tx1"/>
                </a:solidFill>
                <a:effectLst/>
                <a:latin typeface="Arial" panose="020B0604020202020204" pitchFamily="34" charset="0"/>
              </a:rPr>
              <a:t>1.</a:t>
            </a:r>
            <a:endParaRPr kumimoji="0" lang="ja-JP" altLang="ja-JP" b="0" i="0" u="none" strike="noStrike" cap="none" normalizeH="0" baseline="0">
              <a:ln>
                <a:noFill/>
              </a:ln>
              <a:solidFill>
                <a:schemeClr val="tx1"/>
              </a:solidFill>
              <a:effectLst/>
              <a:latin typeface="Arial" panose="020B0604020202020204" pitchFamily="34" charset="0"/>
            </a:endParaRPr>
          </a:p>
          <a:p>
            <a:pPr lvl="1" defTabSz="914400" eaLnBrk="0" fontAlgn="base" hangingPunct="0">
              <a:spcBef>
                <a:spcPct val="0"/>
              </a:spcBef>
              <a:spcAft>
                <a:spcPct val="0"/>
              </a:spcAft>
            </a:pPr>
            <a:r>
              <a:rPr kumimoji="0" lang="ja-JP" altLang="ja-JP" b="1" i="0" u="none" strike="noStrike" cap="none" normalizeH="0" baseline="0">
                <a:ln>
                  <a:noFill/>
                </a:ln>
                <a:solidFill>
                  <a:schemeClr val="tx1"/>
                </a:solidFill>
                <a:effectLst/>
                <a:latin typeface="Arial" panose="020B0604020202020204" pitchFamily="34" charset="0"/>
              </a:rPr>
              <a:t>Mục tiêu:</a:t>
            </a:r>
            <a:r>
              <a:rPr kumimoji="0" lang="ja-JP" altLang="ja-JP" b="0" i="0" u="none" strike="noStrike" cap="none" normalizeH="0" baseline="0">
                <a:ln>
                  <a:noFill/>
                </a:ln>
                <a:solidFill>
                  <a:schemeClr val="tx1"/>
                </a:solidFill>
                <a:effectLst/>
                <a:latin typeface="Arial" panose="020B0604020202020204" pitchFamily="34" charset="0"/>
              </a:rPr>
              <a:t> Tìm những căn nhà có giá thực lệch quá xa so với </a:t>
            </a:r>
            <a:r>
              <a:rPr kumimoji="0" lang="en-US" altLang="ja-JP" b="0" i="0" u="none" strike="noStrike" cap="none" normalizeH="0" baseline="0">
                <a:ln>
                  <a:noFill/>
                </a:ln>
                <a:solidFill>
                  <a:schemeClr val="tx1"/>
                </a:solidFill>
                <a:effectLst/>
                <a:latin typeface="Arial" panose="020B0604020202020204" pitchFamily="34" charset="0"/>
              </a:rPr>
              <a:t>giá dự đoán.</a:t>
            </a:r>
          </a:p>
          <a:p>
            <a:pPr marL="0" marR="0" lvl="0" indent="0" algn="l" defTabSz="914400" rtl="0" eaLnBrk="0" fontAlgn="base" latinLnBrk="0" hangingPunct="0">
              <a:lnSpc>
                <a:spcPct val="100000"/>
              </a:lnSpc>
              <a:spcBef>
                <a:spcPct val="0"/>
              </a:spcBef>
              <a:spcAft>
                <a:spcPct val="0"/>
              </a:spcAft>
              <a:buClrTx/>
              <a:buSzTx/>
              <a:tabLst/>
            </a:pPr>
            <a:endParaRPr kumimoji="0" lang="ja-JP" altLang="ja-JP"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ja-JP" altLang="ja-JP" sz="1800" b="1" i="0" u="none" strike="noStrike" cap="none" normalizeH="0" baseline="0">
                <a:ln>
                  <a:noFill/>
                </a:ln>
                <a:solidFill>
                  <a:schemeClr val="tx1"/>
                </a:solidFill>
                <a:effectLst/>
                <a:latin typeface="Arial" panose="020B0604020202020204" pitchFamily="34" charset="0"/>
              </a:rPr>
              <a:t>Thuật toán Học máy (Isolation Forest):</a:t>
            </a:r>
            <a:endParaRPr kumimoji="0" lang="en-US" altLang="ja-JP" sz="1800" b="1" i="0" u="none" strike="noStrike" cap="none" normalizeH="0" baseline="0">
              <a:ln>
                <a:noFill/>
              </a:ln>
              <a:solidFill>
                <a:schemeClr val="tx1"/>
              </a:solidFill>
              <a:effectLst/>
              <a:latin typeface="Arial" panose="020B0604020202020204" pitchFamily="34" charset="0"/>
            </a:endParaRPr>
          </a:p>
          <a:p>
            <a:pPr lvl="1" defTabSz="914400" eaLnBrk="0" fontAlgn="base" hangingPunct="0">
              <a:spcBef>
                <a:spcPct val="0"/>
              </a:spcBef>
              <a:spcAft>
                <a:spcPct val="0"/>
              </a:spcAft>
            </a:pPr>
            <a:r>
              <a:rPr kumimoji="0" lang="ja-JP" altLang="ja-JP" b="1" i="0" u="none" strike="noStrike" cap="none" normalizeH="0" baseline="0">
                <a:ln>
                  <a:noFill/>
                </a:ln>
                <a:solidFill>
                  <a:schemeClr val="tx1"/>
                </a:solidFill>
                <a:effectLst/>
                <a:latin typeface="Arial" panose="020B0604020202020204" pitchFamily="34" charset="0"/>
              </a:rPr>
              <a:t>Cách làm:</a:t>
            </a:r>
            <a:r>
              <a:rPr kumimoji="0" lang="ja-JP" altLang="ja-JP" b="0" i="0" u="none" strike="noStrike" cap="none" normalizeH="0" baseline="0">
                <a:ln>
                  <a:noFill/>
                </a:ln>
                <a:solidFill>
                  <a:schemeClr val="tx1"/>
                </a:solidFill>
                <a:effectLst/>
                <a:latin typeface="Arial" panose="020B0604020202020204" pitchFamily="34" charset="0"/>
              </a:rPr>
              <a:t> Sử dụng thuật toán học không giám sát để "cô lập" các điểm dữ liệu dị biệt.</a:t>
            </a:r>
            <a:endParaRPr kumimoji="0" lang="en-US" altLang="ja-JP" b="1" i="0" u="none" strike="noStrike" cap="none" normalizeH="0" baseline="0">
              <a:ln>
                <a:noFill/>
              </a:ln>
              <a:solidFill>
                <a:schemeClr val="tx1"/>
              </a:solidFill>
              <a:effectLst/>
              <a:latin typeface="Arial" panose="020B0604020202020204" pitchFamily="34" charset="0"/>
            </a:endParaRPr>
          </a:p>
          <a:p>
            <a:pPr lvl="1" defTabSz="914400" eaLnBrk="0" fontAlgn="base" hangingPunct="0">
              <a:spcBef>
                <a:spcPct val="0"/>
              </a:spcBef>
              <a:spcAft>
                <a:spcPct val="0"/>
              </a:spcAft>
            </a:pPr>
            <a:r>
              <a:rPr kumimoji="0" lang="ja-JP" altLang="ja-JP" b="1" i="0" u="none" strike="noStrike" cap="none" normalizeH="0" baseline="0">
                <a:ln>
                  <a:noFill/>
                </a:ln>
                <a:solidFill>
                  <a:schemeClr val="tx1"/>
                </a:solidFill>
                <a:effectLst/>
                <a:latin typeface="Arial" panose="020B0604020202020204" pitchFamily="34" charset="0"/>
              </a:rPr>
              <a:t>Mục tiêu:</a:t>
            </a:r>
            <a:r>
              <a:rPr kumimoji="0" lang="ja-JP" altLang="ja-JP" b="0" i="0" u="none" strike="noStrike" cap="none" normalizeH="0" baseline="0">
                <a:ln>
                  <a:noFill/>
                </a:ln>
                <a:solidFill>
                  <a:schemeClr val="tx1"/>
                </a:solidFill>
                <a:effectLst/>
                <a:latin typeface="Arial" panose="020B0604020202020204" pitchFamily="34" charset="0"/>
              </a:rPr>
              <a:t> Phát hiện các căn nhà có đặc điểm độc lạ (Ví dụ: Diện tích cực lớn nhưng số phòng ngủ cực ít).</a:t>
            </a:r>
            <a:endParaRPr kumimoji="0" lang="en-US" altLang="ja-JP"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ja-JP" altLang="ja-JP"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ja-JP" altLang="ja-JP" sz="1800" b="1" i="0" u="none" strike="noStrike" cap="none" normalizeH="0" baseline="0">
                <a:ln>
                  <a:noFill/>
                </a:ln>
                <a:solidFill>
                  <a:schemeClr val="tx1"/>
                </a:solidFill>
                <a:effectLst/>
                <a:latin typeface="Arial" panose="020B0604020202020204" pitchFamily="34" charset="0"/>
              </a:rPr>
              <a:t>Quy luật Thống kê (Quantile P10-P90):</a:t>
            </a:r>
            <a:endParaRPr kumimoji="0" lang="ja-JP" altLang="ja-JP" sz="1800" b="0" i="0" u="none" strike="noStrike" cap="none" normalizeH="0" baseline="0">
              <a:ln>
                <a:noFill/>
              </a:ln>
              <a:solidFill>
                <a:schemeClr val="tx1"/>
              </a:solidFill>
              <a:effectLst/>
              <a:latin typeface="Arial" panose="020B0604020202020204" pitchFamily="34" charset="0"/>
            </a:endParaRPr>
          </a:p>
          <a:p>
            <a:pPr lvl="1" defTabSz="914400" eaLnBrk="0" fontAlgn="base" hangingPunct="0">
              <a:spcBef>
                <a:spcPct val="0"/>
              </a:spcBef>
              <a:spcAft>
                <a:spcPct val="0"/>
              </a:spcAft>
            </a:pPr>
            <a:r>
              <a:rPr kumimoji="0" lang="ja-JP" altLang="ja-JP" b="1" i="0" u="none" strike="noStrike" cap="none" normalizeH="0" baseline="0">
                <a:ln>
                  <a:noFill/>
                </a:ln>
                <a:solidFill>
                  <a:schemeClr val="tx1"/>
                </a:solidFill>
                <a:effectLst/>
                <a:latin typeface="Arial" panose="020B0604020202020204" pitchFamily="34" charset="0"/>
              </a:rPr>
              <a:t>Cách làm:</a:t>
            </a:r>
            <a:r>
              <a:rPr kumimoji="0" lang="ja-JP" altLang="ja-JP" b="0" i="0" u="none" strike="noStrike" cap="none" normalizeH="0" baseline="0">
                <a:ln>
                  <a:noFill/>
                </a:ln>
                <a:solidFill>
                  <a:schemeClr val="tx1"/>
                </a:solidFill>
                <a:effectLst/>
                <a:latin typeface="Arial" panose="020B0604020202020204" pitchFamily="34" charset="0"/>
              </a:rPr>
              <a:t> Kiểm tra xem giá nhà có nằm trong khoảng 10% - 90% của thị trường khu vực đó hay không.</a:t>
            </a:r>
          </a:p>
          <a:p>
            <a:pPr lvl="1" defTabSz="914400" eaLnBrk="0" fontAlgn="base" hangingPunct="0">
              <a:spcBef>
                <a:spcPct val="0"/>
              </a:spcBef>
              <a:spcAft>
                <a:spcPct val="0"/>
              </a:spcAft>
            </a:pPr>
            <a:r>
              <a:rPr kumimoji="0" lang="ja-JP" altLang="ja-JP" b="1" i="0" u="none" strike="noStrike" cap="none" normalizeH="0" baseline="0">
                <a:ln>
                  <a:noFill/>
                </a:ln>
                <a:solidFill>
                  <a:schemeClr val="tx1"/>
                </a:solidFill>
                <a:effectLst/>
                <a:latin typeface="Arial" panose="020B0604020202020204" pitchFamily="34" charset="0"/>
              </a:rPr>
              <a:t>Mục tiêu:</a:t>
            </a:r>
            <a:r>
              <a:rPr kumimoji="0" lang="ja-JP" altLang="ja-JP" b="0" i="0" u="none" strike="noStrike" cap="none" normalizeH="0" baseline="0">
                <a:ln>
                  <a:noFill/>
                </a:ln>
                <a:solidFill>
                  <a:schemeClr val="tx1"/>
                </a:solidFill>
                <a:effectLst/>
                <a:latin typeface="Arial" panose="020B0604020202020204" pitchFamily="34" charset="0"/>
              </a:rPr>
              <a:t> Loại bỏ các giá trị cực biên (quá rẻ/quá đắt) theo thực tế thị trường.</a:t>
            </a:r>
            <a:endParaRPr kumimoji="0" lang="en-US" altLang="ja-JP" b="0" i="0" u="none" strike="noStrike" cap="none" normalizeH="0" baseline="0">
              <a:ln>
                <a:noFill/>
              </a:ln>
              <a:solidFill>
                <a:schemeClr val="tx1"/>
              </a:solidFill>
              <a:effectLst/>
              <a:latin typeface="Arial" panose="020B0604020202020204" pitchFamily="34" charset="0"/>
            </a:endParaRPr>
          </a:p>
          <a:p>
            <a:pPr lvl="1" defTabSz="914400" eaLnBrk="0" fontAlgn="base" hangingPunct="0">
              <a:spcBef>
                <a:spcPct val="0"/>
              </a:spcBef>
              <a:spcAft>
                <a:spcPct val="0"/>
              </a:spcAft>
            </a:pPr>
            <a:endParaRPr kumimoji="0" lang="en-US" altLang="ja-JP" b="0" i="0" u="none" strike="noStrike" cap="none" normalizeH="0" baseline="0">
              <a:ln>
                <a:noFill/>
              </a:ln>
              <a:solidFill>
                <a:schemeClr val="tx1"/>
              </a:solidFill>
              <a:effectLst/>
              <a:latin typeface="Arial" panose="020B0604020202020204" pitchFamily="34" charset="0"/>
            </a:endParaRPr>
          </a:p>
          <a:p>
            <a:pPr lvl="0" defTabSz="914400" eaLnBrk="0" fontAlgn="base" hangingPunct="0">
              <a:spcBef>
                <a:spcPct val="0"/>
              </a:spcBef>
              <a:spcAft>
                <a:spcPct val="0"/>
              </a:spcAft>
              <a:buFontTx/>
              <a:buChar char="•"/>
            </a:pPr>
            <a:r>
              <a:rPr lang="vi-VN" altLang="ja-JP" b="1">
                <a:latin typeface="Arial" panose="020B0604020202020204" pitchFamily="34" charset="0"/>
              </a:rPr>
              <a:t>"Điểm bất thường" (Anomaly Score)</a:t>
            </a:r>
            <a:r>
              <a:rPr lang="ja-JP" altLang="ja-JP" b="1">
                <a:latin typeface="Arial" panose="020B0604020202020204" pitchFamily="34" charset="0"/>
              </a:rPr>
              <a:t>:</a:t>
            </a:r>
            <a:endParaRPr lang="ja-JP" altLang="ja-JP">
              <a:latin typeface="Arial" panose="020B0604020202020204" pitchFamily="34" charset="0"/>
            </a:endParaRPr>
          </a:p>
          <a:p>
            <a:pPr lvl="1" defTabSz="914400" eaLnBrk="0" fontAlgn="base" hangingPunct="0">
              <a:spcBef>
                <a:spcPct val="0"/>
              </a:spcBef>
              <a:spcAft>
                <a:spcPct val="0"/>
              </a:spcAft>
            </a:pPr>
            <a:r>
              <a:rPr lang="en-US" altLang="ja-JP"/>
              <a:t>Anomaly Score = (40% x Sai số dự báo) + (40% x Chỉ số Isolation Forest) + (20% x Logic thực tế)</a:t>
            </a:r>
            <a:endParaRPr lang="en-US" altLang="ja-JP">
              <a:latin typeface="Arial" panose="020B0604020202020204" pitchFamily="34" charset="0"/>
            </a:endParaRPr>
          </a:p>
          <a:p>
            <a:pPr lvl="1" defTabSz="914400" eaLnBrk="0" fontAlgn="base" hangingPunct="0">
              <a:spcBef>
                <a:spcPct val="0"/>
              </a:spcBef>
              <a:spcAft>
                <a:spcPct val="0"/>
              </a:spcAft>
            </a:pPr>
            <a:endParaRPr kumimoji="0" lang="ja-JP" altLang="ja-JP"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083592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oogle Shape;440;p1" descr="Top 10 trung tâm tin học đào tạo cấp chứng chỉ chất lượng nhất hiện nay">
            <a:extLst>
              <a:ext uri="{FF2B5EF4-FFF2-40B4-BE49-F238E27FC236}">
                <a16:creationId xmlns:a16="http://schemas.microsoft.com/office/drawing/2014/main" id="{99036AD2-EF35-CE50-5945-38E5B28A422F}"/>
              </a:ext>
            </a:extLst>
          </p:cNvPr>
          <p:cNvPicPr preferRelativeResize="0"/>
          <p:nvPr/>
        </p:nvPicPr>
        <p:blipFill rotWithShape="1">
          <a:blip r:embed="rId2">
            <a:alphaModFix/>
          </a:blip>
          <a:srcRect/>
          <a:stretch/>
        </p:blipFill>
        <p:spPr>
          <a:xfrm>
            <a:off x="11490022" y="0"/>
            <a:ext cx="701978" cy="701978"/>
          </a:xfrm>
          <a:prstGeom prst="rect">
            <a:avLst/>
          </a:prstGeom>
          <a:noFill/>
          <a:ln>
            <a:noFill/>
          </a:ln>
        </p:spPr>
      </p:pic>
      <p:sp>
        <p:nvSpPr>
          <p:cNvPr id="5" name="TextBox 4">
            <a:extLst>
              <a:ext uri="{FF2B5EF4-FFF2-40B4-BE49-F238E27FC236}">
                <a16:creationId xmlns:a16="http://schemas.microsoft.com/office/drawing/2014/main" id="{6ABFF17F-8A0D-07CD-FCD1-CBB065E215FF}"/>
              </a:ext>
            </a:extLst>
          </p:cNvPr>
          <p:cNvSpPr txBox="1"/>
          <p:nvPr/>
        </p:nvSpPr>
        <p:spPr>
          <a:xfrm>
            <a:off x="641774" y="36673"/>
            <a:ext cx="11550226" cy="646331"/>
          </a:xfrm>
          <a:prstGeom prst="rect">
            <a:avLst/>
          </a:prstGeom>
          <a:noFill/>
        </p:spPr>
        <p:txBody>
          <a:bodyPr wrap="square">
            <a:spAutoFit/>
          </a:bodyPr>
          <a:lstStyle>
            <a:defPPr>
              <a:defRPr lang="en-US"/>
            </a:defPPr>
            <a:lvl1pPr>
              <a:defRPr sz="3600" b="1"/>
            </a:lvl1pPr>
          </a:lstStyle>
          <a:p>
            <a:r>
              <a:rPr lang="en-US" altLang="ja-JP"/>
              <a:t>Kết quả thực nghiệm Bài toán 2</a:t>
            </a:r>
            <a:endParaRPr lang="ja-JP" altLang="en-US"/>
          </a:p>
        </p:txBody>
      </p:sp>
      <p:sp>
        <p:nvSpPr>
          <p:cNvPr id="3" name="Rectangle 1">
            <a:extLst>
              <a:ext uri="{FF2B5EF4-FFF2-40B4-BE49-F238E27FC236}">
                <a16:creationId xmlns:a16="http://schemas.microsoft.com/office/drawing/2014/main" id="{47530404-616D-2448-C9A3-1DD3CBC71FD3}"/>
              </a:ext>
            </a:extLst>
          </p:cNvPr>
          <p:cNvSpPr>
            <a:spLocks noChangeArrowheads="1"/>
          </p:cNvSpPr>
          <p:nvPr/>
        </p:nvSpPr>
        <p:spPr bwMode="auto">
          <a:xfrm>
            <a:off x="641774" y="1191038"/>
            <a:ext cx="6427620"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ja-JP" b="1"/>
              <a:t>Danh sách nhà bất thường</a:t>
            </a:r>
            <a:endParaRPr kumimoji="0" lang="ja-JP" altLang="ja-JP" sz="1800" b="1"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78414FF8-6E76-6D4C-4679-B30FB530B045}"/>
              </a:ext>
            </a:extLst>
          </p:cNvPr>
          <p:cNvSpPr txBox="1"/>
          <p:nvPr/>
        </p:nvSpPr>
        <p:spPr>
          <a:xfrm>
            <a:off x="641774" y="669867"/>
            <a:ext cx="10905053" cy="369332"/>
          </a:xfrm>
          <a:prstGeom prst="rect">
            <a:avLst/>
          </a:prstGeom>
          <a:noFill/>
        </p:spPr>
        <p:txBody>
          <a:bodyPr wrap="square">
            <a:spAutoFit/>
          </a:bodyPr>
          <a:lstStyle/>
          <a:p>
            <a:r>
              <a:rPr lang="en-US" altLang="ja-JP" b="1"/>
              <a:t>Công thức tính Anomaly Score</a:t>
            </a:r>
            <a:r>
              <a:rPr lang="en-US" altLang="ja-JP"/>
              <a:t>: Score = (40%  x Residual) + (40% x Isolation) + (20% x Logic)</a:t>
            </a:r>
            <a:endParaRPr lang="ja-JP" altLang="en-US"/>
          </a:p>
        </p:txBody>
      </p:sp>
      <p:pic>
        <p:nvPicPr>
          <p:cNvPr id="6" name="Picture 5">
            <a:extLst>
              <a:ext uri="{FF2B5EF4-FFF2-40B4-BE49-F238E27FC236}">
                <a16:creationId xmlns:a16="http://schemas.microsoft.com/office/drawing/2014/main" id="{EA5FC4D6-4963-E80D-72FA-F53B57BEF04A}"/>
              </a:ext>
            </a:extLst>
          </p:cNvPr>
          <p:cNvPicPr>
            <a:picLocks noChangeAspect="1"/>
          </p:cNvPicPr>
          <p:nvPr/>
        </p:nvPicPr>
        <p:blipFill>
          <a:blip r:embed="rId3"/>
          <a:stretch>
            <a:fillRect/>
          </a:stretch>
        </p:blipFill>
        <p:spPr>
          <a:xfrm>
            <a:off x="796951" y="1788404"/>
            <a:ext cx="10594697" cy="4168551"/>
          </a:xfrm>
          <a:prstGeom prst="rect">
            <a:avLst/>
          </a:prstGeom>
        </p:spPr>
      </p:pic>
    </p:spTree>
    <p:extLst>
      <p:ext uri="{BB962C8B-B14F-4D97-AF65-F5344CB8AC3E}">
        <p14:creationId xmlns:p14="http://schemas.microsoft.com/office/powerpoint/2010/main" val="1125649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oogle Shape;440;p1" descr="Top 10 trung tâm tin học đào tạo cấp chứng chỉ chất lượng nhất hiện nay">
            <a:extLst>
              <a:ext uri="{FF2B5EF4-FFF2-40B4-BE49-F238E27FC236}">
                <a16:creationId xmlns:a16="http://schemas.microsoft.com/office/drawing/2014/main" id="{4DC37949-8617-AA4A-E58D-27A30A3924CC}"/>
              </a:ext>
            </a:extLst>
          </p:cNvPr>
          <p:cNvPicPr preferRelativeResize="0"/>
          <p:nvPr/>
        </p:nvPicPr>
        <p:blipFill rotWithShape="1">
          <a:blip r:embed="rId2">
            <a:alphaModFix/>
          </a:blip>
          <a:srcRect/>
          <a:stretch/>
        </p:blipFill>
        <p:spPr>
          <a:xfrm>
            <a:off x="11490022" y="0"/>
            <a:ext cx="701978" cy="701978"/>
          </a:xfrm>
          <a:prstGeom prst="rect">
            <a:avLst/>
          </a:prstGeom>
          <a:noFill/>
          <a:ln>
            <a:noFill/>
          </a:ln>
        </p:spPr>
      </p:pic>
      <p:sp>
        <p:nvSpPr>
          <p:cNvPr id="3" name="TextBox 2">
            <a:extLst>
              <a:ext uri="{FF2B5EF4-FFF2-40B4-BE49-F238E27FC236}">
                <a16:creationId xmlns:a16="http://schemas.microsoft.com/office/drawing/2014/main" id="{F38F8426-2565-6264-A463-BCCFC27A15B1}"/>
              </a:ext>
            </a:extLst>
          </p:cNvPr>
          <p:cNvSpPr txBox="1"/>
          <p:nvPr/>
        </p:nvSpPr>
        <p:spPr>
          <a:xfrm>
            <a:off x="0" y="467755"/>
            <a:ext cx="9053052" cy="646331"/>
          </a:xfrm>
          <a:prstGeom prst="rect">
            <a:avLst/>
          </a:prstGeom>
          <a:noFill/>
        </p:spPr>
        <p:txBody>
          <a:bodyPr wrap="square">
            <a:spAutoFit/>
          </a:bodyPr>
          <a:lstStyle/>
          <a:p>
            <a:r>
              <a:rPr lang="en-US" altLang="ja-JP" sz="3600" b="1"/>
              <a:t>6. </a:t>
            </a:r>
            <a:r>
              <a:rPr lang="ja-JP" altLang="en-US" sz="3600"/>
              <a:t>✅ </a:t>
            </a:r>
            <a:r>
              <a:rPr lang="vi-VN" altLang="ja-JP" sz="3600" b="1"/>
              <a:t>Tổng kết &amp; Hướng phát triển</a:t>
            </a:r>
            <a:endParaRPr lang="ja-JP" altLang="en-US" sz="3600" b="1"/>
          </a:p>
        </p:txBody>
      </p:sp>
      <p:sp>
        <p:nvSpPr>
          <p:cNvPr id="4" name="Rectangle 1">
            <a:extLst>
              <a:ext uri="{FF2B5EF4-FFF2-40B4-BE49-F238E27FC236}">
                <a16:creationId xmlns:a16="http://schemas.microsoft.com/office/drawing/2014/main" id="{48D9DB4B-E4C4-E677-8657-51572B2EC41C}"/>
              </a:ext>
            </a:extLst>
          </p:cNvPr>
          <p:cNvSpPr>
            <a:spLocks noChangeArrowheads="1"/>
          </p:cNvSpPr>
          <p:nvPr/>
        </p:nvSpPr>
        <p:spPr bwMode="auto">
          <a:xfrm>
            <a:off x="173024" y="1746019"/>
            <a:ext cx="10949743" cy="1985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1" i="0" u="none" strike="noStrike" cap="none" normalizeH="0" baseline="0" dirty="0">
                <a:ln>
                  <a:noFill/>
                </a:ln>
                <a:solidFill>
                  <a:schemeClr val="tx1"/>
                </a:solidFill>
                <a:effectLst/>
                <a:latin typeface="Arial" panose="020B0604020202020204" pitchFamily="34" charset="0"/>
                <a:ea typeface="Google Sans Text"/>
              </a:rPr>
              <a:t>Kết luận:</a:t>
            </a:r>
            <a:endParaRPr kumimoji="0" lang="ja-JP" altLang="ja-JP" sz="1800" b="0" i="0" u="none" strike="noStrike" cap="none" normalizeH="0" baseline="0" dirty="0">
              <a:ln>
                <a:noFill/>
              </a:ln>
              <a:solidFill>
                <a:schemeClr val="tx1"/>
              </a:solidFill>
              <a:effectLst/>
              <a:latin typeface="Arial" panose="020B0604020202020204" pitchFamily="34" charset="0"/>
            </a:endParaRPr>
          </a:p>
          <a:p>
            <a:pPr lvl="0" defTabSz="914400" eaLnBrk="0" fontAlgn="base" hangingPunct="0">
              <a:spcBef>
                <a:spcPct val="0"/>
              </a:spcBef>
              <a:spcAft>
                <a:spcPct val="0"/>
              </a:spcAft>
            </a:pPr>
            <a:r>
              <a:rPr lang="ja-JP" altLang="en-US" dirty="0"/>
              <a:t>🏆 </a:t>
            </a:r>
            <a:r>
              <a:rPr kumimoji="0" lang="ja-JP" altLang="ja-JP" sz="1800" b="0" i="0" u="none" strike="noStrike" cap="none" normalizeH="0" baseline="0" dirty="0">
                <a:ln>
                  <a:noFill/>
                </a:ln>
                <a:solidFill>
                  <a:schemeClr val="tx1"/>
                </a:solidFill>
                <a:effectLst/>
                <a:latin typeface="Arial" panose="020B0604020202020204" pitchFamily="34" charset="0"/>
                <a:ea typeface="Google Sans Text"/>
              </a:rPr>
              <a:t>Hoàn thành mô hình dự báo với độ chính xác cao (R^2 đạt [</a:t>
            </a:r>
            <a:r>
              <a:rPr lang="en-US" altLang="ja-JP" dirty="0">
                <a:latin typeface="Arial" panose="020B0604020202020204" pitchFamily="34" charset="0"/>
                <a:ea typeface="Google Sans Text"/>
              </a:rPr>
              <a:t>0.</a:t>
            </a:r>
            <a:r>
              <a:rPr kumimoji="0" lang="en-US" altLang="ja-JP" sz="1800" b="0" i="0" u="none" strike="noStrike" cap="none" normalizeH="0" baseline="0" dirty="0">
                <a:ln>
                  <a:noFill/>
                </a:ln>
                <a:solidFill>
                  <a:schemeClr val="tx1"/>
                </a:solidFill>
                <a:effectLst/>
                <a:latin typeface="Arial" panose="020B0604020202020204" pitchFamily="34" charset="0"/>
                <a:ea typeface="Google Sans Text"/>
              </a:rPr>
              <a:t>7523</a:t>
            </a:r>
            <a:r>
              <a:rPr kumimoji="0" lang="ja-JP" altLang="ja-JP" sz="1800" b="0" i="0" u="none" strike="noStrike" cap="none" normalizeH="0" baseline="0" dirty="0">
                <a:ln>
                  <a:noFill/>
                </a:ln>
                <a:solidFill>
                  <a:schemeClr val="tx1"/>
                </a:solidFill>
                <a:effectLst/>
                <a:latin typeface="Arial" panose="020B0604020202020204" pitchFamily="34" charset="0"/>
                <a:ea typeface="Google Sans Text"/>
              </a:rPr>
              <a:t>]%).</a:t>
            </a:r>
          </a:p>
          <a:p>
            <a:pPr lvl="0" defTabSz="914400" eaLnBrk="0" fontAlgn="base" hangingPunct="0">
              <a:spcBef>
                <a:spcPct val="0"/>
              </a:spcBef>
              <a:spcAft>
                <a:spcPct val="0"/>
              </a:spcAft>
            </a:pPr>
            <a:r>
              <a:rPr lang="ja-JP" altLang="en-US" dirty="0"/>
              <a:t>🏁 </a:t>
            </a:r>
            <a:r>
              <a:rPr kumimoji="0" lang="ja-JP" altLang="ja-JP" sz="1800" b="0" i="0" u="none" strike="noStrike" cap="none" normalizeH="0" baseline="0" dirty="0">
                <a:ln>
                  <a:noFill/>
                </a:ln>
                <a:solidFill>
                  <a:schemeClr val="tx1"/>
                </a:solidFill>
                <a:effectLst/>
                <a:latin typeface="Arial" panose="020B0604020202020204" pitchFamily="34" charset="0"/>
                <a:ea typeface="Google Sans Text"/>
              </a:rPr>
              <a:t>Xây dựng thành công bộ lọc bất thườn</a:t>
            </a:r>
            <a:r>
              <a:rPr lang="en-US" altLang="ja-JP" dirty="0">
                <a:latin typeface="Arial" panose="020B0604020202020204" pitchFamily="34" charset="0"/>
                <a:ea typeface="Google Sans Text"/>
              </a:rPr>
              <a:t>g.</a:t>
            </a:r>
          </a:p>
          <a:p>
            <a:pPr lvl="0" defTabSz="914400" eaLnBrk="0" fontAlgn="base" hangingPunct="0">
              <a:spcBef>
                <a:spcPct val="0"/>
              </a:spcBef>
              <a:spcAft>
                <a:spcPct val="0"/>
              </a:spcAft>
            </a:pPr>
            <a:endParaRPr lang="en-US" altLang="ja-JP" dirty="0">
              <a:latin typeface="Arial" panose="020B0604020202020204" pitchFamily="34" charset="0"/>
              <a:ea typeface="Google Sans Text"/>
            </a:endParaRPr>
          </a:p>
          <a:p>
            <a:pPr>
              <a:buNone/>
            </a:pPr>
            <a:r>
              <a:rPr lang="vi-VN" altLang="ja-JP" b="1" dirty="0"/>
              <a:t>Hướng phát triển:</a:t>
            </a:r>
            <a:endParaRPr lang="vi-VN" altLang="ja-JP" dirty="0"/>
          </a:p>
          <a:p>
            <a:r>
              <a:rPr lang="ja-JP" altLang="en-US" dirty="0"/>
              <a:t>📥</a:t>
            </a:r>
            <a:r>
              <a:rPr lang="vi-VN" altLang="ja-JP" dirty="0"/>
              <a:t>Thu thập thêm dữ liệu về tiện ích (trường học, bệnh viện) để tăng độ chính xác.</a:t>
            </a:r>
          </a:p>
          <a:p>
            <a:r>
              <a:rPr lang="ja-JP" altLang="en-US" dirty="0"/>
              <a:t>🌐</a:t>
            </a:r>
            <a:r>
              <a:rPr lang="vi-VN" altLang="ja-JP" dirty="0"/>
              <a:t>Triển khai mô hình lên ứng dụng Web (Streamlit) để người dùng sử dụng thực tế.</a:t>
            </a:r>
          </a:p>
        </p:txBody>
      </p:sp>
      <p:pic>
        <p:nvPicPr>
          <p:cNvPr id="6" name="Picture 5">
            <a:extLst>
              <a:ext uri="{FF2B5EF4-FFF2-40B4-BE49-F238E27FC236}">
                <a16:creationId xmlns:a16="http://schemas.microsoft.com/office/drawing/2014/main" id="{3D94220D-6A2C-DACE-8AEB-E275D1DAA788}"/>
              </a:ext>
            </a:extLst>
          </p:cNvPr>
          <p:cNvPicPr>
            <a:picLocks noChangeAspect="1"/>
          </p:cNvPicPr>
          <p:nvPr/>
        </p:nvPicPr>
        <p:blipFill>
          <a:blip r:embed="rId3"/>
          <a:stretch>
            <a:fillRect/>
          </a:stretch>
        </p:blipFill>
        <p:spPr>
          <a:xfrm>
            <a:off x="288528" y="3782189"/>
            <a:ext cx="7844820" cy="3033885"/>
          </a:xfrm>
          <a:prstGeom prst="rect">
            <a:avLst/>
          </a:prstGeom>
        </p:spPr>
      </p:pic>
      <p:pic>
        <p:nvPicPr>
          <p:cNvPr id="9" name="Picture 8">
            <a:extLst>
              <a:ext uri="{FF2B5EF4-FFF2-40B4-BE49-F238E27FC236}">
                <a16:creationId xmlns:a16="http://schemas.microsoft.com/office/drawing/2014/main" id="{F11BE02D-BD31-0DC2-9327-10A6B733A48D}"/>
              </a:ext>
            </a:extLst>
          </p:cNvPr>
          <p:cNvPicPr>
            <a:picLocks noChangeAspect="1"/>
          </p:cNvPicPr>
          <p:nvPr/>
        </p:nvPicPr>
        <p:blipFill>
          <a:blip r:embed="rId4"/>
          <a:stretch>
            <a:fillRect/>
          </a:stretch>
        </p:blipFill>
        <p:spPr>
          <a:xfrm>
            <a:off x="8068954" y="4312753"/>
            <a:ext cx="3930047" cy="2206198"/>
          </a:xfrm>
          <a:prstGeom prst="rect">
            <a:avLst/>
          </a:prstGeom>
        </p:spPr>
      </p:pic>
    </p:spTree>
    <p:extLst>
      <p:ext uri="{BB962C8B-B14F-4D97-AF65-F5344CB8AC3E}">
        <p14:creationId xmlns:p14="http://schemas.microsoft.com/office/powerpoint/2010/main" val="38396847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oogle Shape;440;p1" descr="Top 10 trung tâm tin học đào tạo cấp chứng chỉ chất lượng nhất hiện nay">
            <a:extLst>
              <a:ext uri="{FF2B5EF4-FFF2-40B4-BE49-F238E27FC236}">
                <a16:creationId xmlns:a16="http://schemas.microsoft.com/office/drawing/2014/main" id="{4DC37949-8617-AA4A-E58D-27A30A3924CC}"/>
              </a:ext>
            </a:extLst>
          </p:cNvPr>
          <p:cNvPicPr preferRelativeResize="0"/>
          <p:nvPr/>
        </p:nvPicPr>
        <p:blipFill rotWithShape="1">
          <a:blip r:embed="rId2">
            <a:alphaModFix/>
          </a:blip>
          <a:srcRect/>
          <a:stretch/>
        </p:blipFill>
        <p:spPr>
          <a:xfrm>
            <a:off x="11490022" y="0"/>
            <a:ext cx="701978" cy="701978"/>
          </a:xfrm>
          <a:prstGeom prst="rect">
            <a:avLst/>
          </a:prstGeom>
          <a:noFill/>
          <a:ln>
            <a:noFill/>
          </a:ln>
        </p:spPr>
      </p:pic>
      <p:sp>
        <p:nvSpPr>
          <p:cNvPr id="7" name="TextBox 6">
            <a:extLst>
              <a:ext uri="{FF2B5EF4-FFF2-40B4-BE49-F238E27FC236}">
                <a16:creationId xmlns:a16="http://schemas.microsoft.com/office/drawing/2014/main" id="{20DAD70A-4155-9020-F844-2B872EA01FC3}"/>
              </a:ext>
            </a:extLst>
          </p:cNvPr>
          <p:cNvSpPr txBox="1"/>
          <p:nvPr/>
        </p:nvSpPr>
        <p:spPr>
          <a:xfrm>
            <a:off x="180472" y="956276"/>
            <a:ext cx="10580571" cy="523220"/>
          </a:xfrm>
          <a:prstGeom prst="rect">
            <a:avLst/>
          </a:prstGeom>
          <a:noFill/>
        </p:spPr>
        <p:txBody>
          <a:bodyPr wrap="square">
            <a:spAutoFit/>
          </a:bodyPr>
          <a:lstStyle/>
          <a:p>
            <a:pPr>
              <a:buNone/>
            </a:pPr>
            <a:r>
              <a:rPr lang="en-US" sz="2800" b="1" dirty="0"/>
              <a:t>👤 </a:t>
            </a:r>
            <a:r>
              <a:rPr lang="vi-VN" sz="2800" b="1" dirty="0"/>
              <a:t>Thông tin cá nhân: Ngô Thị Phương Yến</a:t>
            </a:r>
          </a:p>
        </p:txBody>
      </p:sp>
      <p:sp>
        <p:nvSpPr>
          <p:cNvPr id="12" name="TextBox 11">
            <a:extLst>
              <a:ext uri="{FF2B5EF4-FFF2-40B4-BE49-F238E27FC236}">
                <a16:creationId xmlns:a16="http://schemas.microsoft.com/office/drawing/2014/main" id="{5DCDF444-A211-D72B-9ED7-EA8BB4C37307}"/>
              </a:ext>
            </a:extLst>
          </p:cNvPr>
          <p:cNvSpPr txBox="1"/>
          <p:nvPr/>
        </p:nvSpPr>
        <p:spPr>
          <a:xfrm>
            <a:off x="180472" y="2084216"/>
            <a:ext cx="9954930" cy="707886"/>
          </a:xfrm>
          <a:prstGeom prst="rect">
            <a:avLst/>
          </a:prstGeom>
          <a:noFill/>
        </p:spPr>
        <p:txBody>
          <a:bodyPr wrap="square">
            <a:spAutoFit/>
          </a:bodyPr>
          <a:lstStyle/>
          <a:p>
            <a:pPr>
              <a:buFont typeface="Arial" panose="020B0604020202020204" pitchFamily="34" charset="0"/>
              <a:buChar char="•"/>
            </a:pPr>
            <a:r>
              <a:rPr lang="en-US" sz="2000" b="1" dirty="0"/>
              <a:t> </a:t>
            </a:r>
            <a:r>
              <a:rPr lang="vi-VN" sz="2000" b="1" dirty="0"/>
              <a:t>Nghề nghiệp:</a:t>
            </a:r>
            <a:r>
              <a:rPr lang="vi-VN" sz="2000" dirty="0"/>
              <a:t> Kỹ sư sản phẩm (</a:t>
            </a:r>
            <a:r>
              <a:rPr lang="en-US" sz="2000" dirty="0" err="1">
                <a:latin typeface="Arial" panose="020B0604020202020204" pitchFamily="34" charset="0"/>
                <a:cs typeface="Arial" panose="020B0604020202020204" pitchFamily="34" charset="0"/>
              </a:rPr>
              <a:t>Mảng</a:t>
            </a:r>
            <a:r>
              <a:rPr lang="en-US" sz="2000" dirty="0">
                <a:latin typeface="Arial" panose="020B0604020202020204" pitchFamily="34" charset="0"/>
                <a:cs typeface="Arial" panose="020B0604020202020204" pitchFamily="34" charset="0"/>
              </a:rPr>
              <a:t> Quang </a:t>
            </a:r>
            <a:r>
              <a:rPr lang="en-US" sz="2000" dirty="0" err="1">
                <a:latin typeface="Arial" panose="020B0604020202020204" pitchFamily="34" charset="0"/>
                <a:cs typeface="Arial" panose="020B0604020202020204" pitchFamily="34" charset="0"/>
              </a:rPr>
              <a:t>học</a:t>
            </a:r>
            <a:r>
              <a:rPr lang="en-US" sz="2000" dirty="0">
                <a:latin typeface="Arial" panose="020B0604020202020204" pitchFamily="34" charset="0"/>
                <a:cs typeface="Arial" panose="020B0604020202020204" pitchFamily="34" charset="0"/>
              </a:rPr>
              <a:t> - Lens</a:t>
            </a:r>
            <a:r>
              <a:rPr lang="vi-VN" sz="2000" dirty="0"/>
              <a:t>)</a:t>
            </a:r>
          </a:p>
          <a:p>
            <a:pPr>
              <a:buFont typeface="Arial" panose="020B0604020202020204" pitchFamily="34" charset="0"/>
              <a:buChar char="•"/>
            </a:pPr>
            <a:r>
              <a:rPr lang="en-US" sz="2000" b="1" dirty="0">
                <a:latin typeface="Arial" panose="020B0604020202020204" pitchFamily="34" charset="0"/>
                <a:cs typeface="Arial" panose="020B0604020202020204" pitchFamily="34" charset="0"/>
              </a:rPr>
              <a:t> Công ty</a:t>
            </a:r>
            <a:r>
              <a:rPr lang="vi-VN" sz="2000" b="1" dirty="0"/>
              <a:t>:</a:t>
            </a:r>
            <a:r>
              <a:rPr lang="vi-VN" sz="2000" dirty="0"/>
              <a:t> OM Digital Solutions</a:t>
            </a:r>
          </a:p>
        </p:txBody>
      </p:sp>
      <p:sp>
        <p:nvSpPr>
          <p:cNvPr id="14" name="TextBox 13">
            <a:extLst>
              <a:ext uri="{FF2B5EF4-FFF2-40B4-BE49-F238E27FC236}">
                <a16:creationId xmlns:a16="http://schemas.microsoft.com/office/drawing/2014/main" id="{9F85CF3A-33D0-79DE-B6BD-D385BB2B5911}"/>
              </a:ext>
            </a:extLst>
          </p:cNvPr>
          <p:cNvSpPr txBox="1"/>
          <p:nvPr/>
        </p:nvSpPr>
        <p:spPr>
          <a:xfrm>
            <a:off x="180469" y="2927125"/>
            <a:ext cx="11725979" cy="1015663"/>
          </a:xfrm>
          <a:prstGeom prst="rect">
            <a:avLst/>
          </a:prstGeom>
          <a:noFill/>
        </p:spPr>
        <p:txBody>
          <a:bodyPr wrap="square">
            <a:spAutoFit/>
          </a:bodyPr>
          <a:lstStyle/>
          <a:p>
            <a:pPr lvl="0" defTabSz="914400" eaLnBrk="0" fontAlgn="base" hangingPunct="0">
              <a:spcBef>
                <a:spcPct val="0"/>
              </a:spcBef>
              <a:spcAft>
                <a:spcPct val="0"/>
              </a:spcAft>
              <a:buFontTx/>
              <a:buChar char="•"/>
            </a:pPr>
            <a:r>
              <a:rPr lang="en-US" sz="2000" dirty="0">
                <a:latin typeface="Arial" panose="020B0604020202020204" pitchFamily="34" charset="0"/>
                <a:cs typeface="Arial" panose="020B0604020202020204" pitchFamily="34" charset="0"/>
              </a:rPr>
              <a:t>🎯 </a:t>
            </a:r>
            <a:r>
              <a:rPr lang="vi-VN" sz="2000" dirty="0">
                <a:latin typeface="Arial" panose="020B0604020202020204" pitchFamily="34" charset="0"/>
                <a:cs typeface="Arial" panose="020B0604020202020204" pitchFamily="34" charset="0"/>
              </a:rPr>
              <a:t>Lý do chọn chương trình:</a:t>
            </a:r>
            <a:r>
              <a:rPr 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Hiện</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tại</a:t>
            </a:r>
            <a:r>
              <a:rPr lang="en-US" altLang="en-US" sz="2000" dirty="0">
                <a:latin typeface="Arial" panose="020B0604020202020204" pitchFamily="34" charset="0"/>
                <a:cs typeface="Arial" panose="020B0604020202020204" pitchFamily="34" charset="0"/>
              </a:rPr>
              <a:t> AI </a:t>
            </a:r>
            <a:r>
              <a:rPr lang="en-US" altLang="en-US" sz="2000" dirty="0" err="1">
                <a:latin typeface="Arial" panose="020B0604020202020204" pitchFamily="34" charset="0"/>
                <a:cs typeface="Arial" panose="020B0604020202020204" pitchFamily="34" charset="0"/>
              </a:rPr>
              <a:t>phát</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triển</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em</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muốn</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học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để</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mở</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rộng</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hiểu</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biết</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và</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cập</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nhật</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kiến</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thức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mới</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cho</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bản</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thân</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Ngoài</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ra</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thay</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vì</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chỉ</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làm</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việc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theo</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kinh</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nghiệm</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em</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muốn</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học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cách</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tiếp</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cận</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và</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giải</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quyết</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vấn</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đề</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dựa</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trên</a:t>
            </a:r>
            <a:r>
              <a:rPr lang="en-US" altLang="en-US" sz="2000" dirty="0">
                <a:latin typeface="Arial" panose="020B0604020202020204" pitchFamily="34" charset="0"/>
                <a:cs typeface="Arial" panose="020B0604020202020204" pitchFamily="34" charset="0"/>
              </a:rPr>
              <a:t> khoa </a:t>
            </a:r>
            <a:r>
              <a:rPr lang="en-US" altLang="en-US" sz="2000" dirty="0" err="1">
                <a:latin typeface="Arial" panose="020B0604020202020204" pitchFamily="34" charset="0"/>
                <a:cs typeface="Arial" panose="020B0604020202020204" pitchFamily="34" charset="0"/>
              </a:rPr>
              <a:t>học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dữ</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liệu</a:t>
            </a:r>
            <a:r>
              <a:rPr lang="en-US" altLang="en-US" sz="2000" dirty="0">
                <a:latin typeface="Arial" panose="020B0604020202020204" pitchFamily="34" charset="0"/>
                <a:cs typeface="Arial" panose="020B0604020202020204" pitchFamily="34" charset="0"/>
              </a:rPr>
              <a:t>.</a:t>
            </a:r>
          </a:p>
        </p:txBody>
      </p:sp>
      <p:sp>
        <p:nvSpPr>
          <p:cNvPr id="16" name="TextBox 15">
            <a:extLst>
              <a:ext uri="{FF2B5EF4-FFF2-40B4-BE49-F238E27FC236}">
                <a16:creationId xmlns:a16="http://schemas.microsoft.com/office/drawing/2014/main" id="{C7D96D2A-CFCD-C0CE-FB18-C0FFAB8A4A9A}"/>
              </a:ext>
            </a:extLst>
          </p:cNvPr>
          <p:cNvSpPr txBox="1"/>
          <p:nvPr/>
        </p:nvSpPr>
        <p:spPr>
          <a:xfrm>
            <a:off x="108281" y="4259997"/>
            <a:ext cx="11870357" cy="1323439"/>
          </a:xfrm>
          <a:prstGeom prst="rect">
            <a:avLst/>
          </a:prstGeom>
          <a:noFill/>
        </p:spPr>
        <p:txBody>
          <a:bodyPr wrap="square">
            <a:spAutoFit/>
          </a:bodyPr>
          <a:lstStyle/>
          <a:p>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Bài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học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rút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sau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khóa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học</a:t>
            </a:r>
            <a:r>
              <a:rPr lang="en-US" sz="2000" dirty="0">
                <a:latin typeface="Arial" panose="020B0604020202020204" pitchFamily="34" charset="0"/>
                <a:cs typeface="Arial" panose="020B0604020202020204" pitchFamily="34" charset="0"/>
              </a:rPr>
              <a:t>: </a:t>
            </a:r>
            <a:r>
              <a:rPr lang="vi-VN" sz="2000" dirty="0">
                <a:latin typeface="Arial" panose="020B0604020202020204" pitchFamily="34" charset="0"/>
                <a:cs typeface="Arial" panose="020B0604020202020204" pitchFamily="34" charset="0"/>
              </a:rPr>
              <a:t>Tuy ở công ty </a:t>
            </a:r>
            <a:r>
              <a:rPr lang="en-US" sz="2000" dirty="0" err="1">
                <a:latin typeface="Arial" panose="020B0604020202020204" pitchFamily="34" charset="0"/>
                <a:cs typeface="Arial" panose="020B0604020202020204" pitchFamily="34" charset="0"/>
              </a:rPr>
              <a:t>không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dùng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được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những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cụ</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đã</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học</a:t>
            </a:r>
            <a:r>
              <a:rPr lang="en-US" sz="2000" dirty="0">
                <a:latin typeface="Arial" panose="020B0604020202020204" pitchFamily="34" charset="0"/>
                <a:cs typeface="Arial" panose="020B0604020202020204" pitchFamily="34" charset="0"/>
              </a:rPr>
              <a:t> </a:t>
            </a:r>
            <a:r>
              <a:rPr lang="vi-VN" sz="2000" dirty="0">
                <a:latin typeface="Arial" panose="020B0604020202020204" pitchFamily="34" charset="0"/>
                <a:cs typeface="Arial" panose="020B0604020202020204" pitchFamily="34" charset="0"/>
              </a:rPr>
              <a:t>nhưng em đã áp dụng tư duy lập trình vào Visual Basic để viết code logic, giúp lọc data </a:t>
            </a:r>
            <a:r>
              <a:rPr lang="en-US" sz="2000" dirty="0" err="1">
                <a:latin typeface="Arial" panose="020B0604020202020204" pitchFamily="34" charset="0"/>
                <a:cs typeface="Arial" panose="020B0604020202020204" pitchFamily="34" charset="0"/>
              </a:rPr>
              <a:t>sản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phẩm</a:t>
            </a:r>
            <a:r>
              <a:rPr lang="vi-VN" sz="2000" dirty="0">
                <a:latin typeface="Arial" panose="020B0604020202020204" pitchFamily="34" charset="0"/>
                <a:cs typeface="Arial" panose="020B0604020202020204" pitchFamily="34" charset="0"/>
              </a:rPr>
              <a:t> nhanh và hiệu quả hơn hẳn so với làm tay. Đồng thời, em biết cách làm sạch dữ liệu và dùng số liệu thực tế để giải quyết vấn đề, báo cáo công việc một cách khoa học hơn.</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737057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1">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A4E27D78-DFE8-F4CD-8997-E79F743699FC}"/>
              </a:ext>
            </a:extLst>
          </p:cNvPr>
          <p:cNvSpPr>
            <a:spLocks noGrp="1"/>
          </p:cNvSpPr>
          <p:nvPr>
            <p:ph type="title"/>
          </p:nvPr>
        </p:nvSpPr>
        <p:spPr>
          <a:xfrm>
            <a:off x="3315031" y="1380754"/>
            <a:ext cx="5561938" cy="2513516"/>
          </a:xfrm>
        </p:spPr>
        <p:txBody>
          <a:bodyPr vert="horz" lIns="91440" tIns="45720" rIns="91440" bIns="45720" rtlCol="0" anchor="b">
            <a:normAutofit/>
          </a:bodyPr>
          <a:lstStyle/>
          <a:p>
            <a:pPr algn="ctr"/>
            <a:r>
              <a:rPr kumimoji="1" lang="en-US" altLang="ja-JP" sz="6000" b="1" kern="1200">
                <a:solidFill>
                  <a:schemeClr val="tx1"/>
                </a:solidFill>
                <a:latin typeface="+mj-lt"/>
                <a:ea typeface="+mj-ea"/>
                <a:cs typeface="+mj-cs"/>
              </a:rPr>
              <a:t>Thank you</a:t>
            </a:r>
          </a:p>
        </p:txBody>
      </p:sp>
      <p:sp>
        <p:nvSpPr>
          <p:cNvPr id="16" name="Arc 15">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Oval 17">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6A5648F-CC98-CAA9-28C2-D4F40CDB8F5D}"/>
              </a:ext>
            </a:extLst>
          </p:cNvPr>
          <p:cNvSpPr/>
          <p:nvPr/>
        </p:nvSpPr>
        <p:spPr>
          <a:xfrm>
            <a:off x="4571383" y="2967335"/>
            <a:ext cx="3049233" cy="923330"/>
          </a:xfrm>
          <a:prstGeom prst="rect">
            <a:avLst/>
          </a:prstGeom>
          <a:noFill/>
        </p:spPr>
        <p:txBody>
          <a:bodyPr wrap="none" lIns="91440" tIns="45720" rIns="91440" bIns="45720">
            <a:prstTxWarp prst="textButton">
              <a:avLst/>
            </a:prstTxWarp>
            <a:spAutoFit/>
          </a:bodyPr>
          <a:lstStyle/>
          <a:p>
            <a:pPr algn="ctr"/>
            <a:r>
              <a:rPr kumimoji="1" lang="en-US" altLang="ja-JP" sz="5400" b="0" kern="1200" cap="none" spc="0">
                <a:ln w="0"/>
                <a:gradFill>
                  <a:gsLst>
                    <a:gs pos="0">
                      <a:schemeClr val="accent5">
                        <a:lumMod val="50000"/>
                      </a:schemeClr>
                    </a:gs>
                    <a:gs pos="50000">
                      <a:schemeClr val="accent5"/>
                    </a:gs>
                    <a:gs pos="100000">
                      <a:schemeClr val="accent5">
                        <a:lumMod val="60000"/>
                        <a:lumOff val="40000"/>
                      </a:schemeClr>
                    </a:gs>
                  </a:gsLst>
                  <a:lin ang="5400000"/>
                </a:gradFill>
                <a:effectLst>
                  <a:glow rad="63500">
                    <a:schemeClr val="accent5">
                      <a:satMod val="175000"/>
                      <a:alpha val="40000"/>
                    </a:schemeClr>
                  </a:glow>
                  <a:outerShdw blurRad="60007" dist="200025" dir="15000000" sy="30000" kx="-1800000" algn="bl" rotWithShape="0">
                    <a:prstClr val="black">
                      <a:alpha val="32000"/>
                    </a:prstClr>
                  </a:outerShdw>
                  <a:reflection blurRad="6350" stA="55000" endA="300" endPos="45500" dir="5400000" sy="-100000" algn="bl" rotWithShape="0"/>
                </a:effectLst>
                <a:latin typeface="+mj-lt"/>
                <a:ea typeface="+mj-ea"/>
                <a:cs typeface="+mj-cs"/>
              </a:rPr>
              <a:t>Thank you</a:t>
            </a:r>
            <a:endParaRPr lang="ja-JP" altLang="en-US" sz="5400" b="0" cap="none" spc="0">
              <a:ln w="0"/>
              <a:gradFill>
                <a:gsLst>
                  <a:gs pos="0">
                    <a:schemeClr val="accent5">
                      <a:lumMod val="50000"/>
                    </a:schemeClr>
                  </a:gs>
                  <a:gs pos="50000">
                    <a:schemeClr val="accent5"/>
                  </a:gs>
                  <a:gs pos="100000">
                    <a:schemeClr val="accent5">
                      <a:lumMod val="60000"/>
                      <a:lumOff val="40000"/>
                    </a:schemeClr>
                  </a:gs>
                </a:gsLst>
                <a:lin ang="5400000"/>
              </a:gradFill>
              <a:effectLst>
                <a:glow rad="63500">
                  <a:schemeClr val="accent5">
                    <a:satMod val="175000"/>
                    <a:alpha val="40000"/>
                  </a:schemeClr>
                </a:glow>
                <a:outerShdw blurRad="60007" dist="200025" dir="15000000" sy="30000" kx="-1800000" algn="bl" rotWithShape="0">
                  <a:prstClr val="black">
                    <a:alpha val="32000"/>
                  </a:prstClr>
                </a:outerShdw>
                <a:reflection blurRad="6350" stA="55000" endA="300" endPos="45500" dir="5400000" sy="-100000" algn="bl" rotWithShape="0"/>
              </a:effectLst>
            </a:endParaRPr>
          </a:p>
        </p:txBody>
      </p:sp>
      <p:pic>
        <p:nvPicPr>
          <p:cNvPr id="3" name="Google Shape;440;p1" descr="Top 10 trung tâm tin học đào tạo cấp chứng chỉ chất lượng nhất hiện nay">
            <a:extLst>
              <a:ext uri="{FF2B5EF4-FFF2-40B4-BE49-F238E27FC236}">
                <a16:creationId xmlns:a16="http://schemas.microsoft.com/office/drawing/2014/main" id="{281D93F9-48DE-51B5-7D97-73311B0FAC1D}"/>
              </a:ext>
            </a:extLst>
          </p:cNvPr>
          <p:cNvPicPr preferRelativeResize="0"/>
          <p:nvPr/>
        </p:nvPicPr>
        <p:blipFill rotWithShape="1">
          <a:blip r:embed="rId2">
            <a:alphaModFix/>
          </a:blip>
          <a:srcRect/>
          <a:stretch/>
        </p:blipFill>
        <p:spPr>
          <a:xfrm>
            <a:off x="11490022" y="0"/>
            <a:ext cx="701978" cy="701978"/>
          </a:xfrm>
          <a:prstGeom prst="rect">
            <a:avLst/>
          </a:prstGeom>
          <a:noFill/>
          <a:ln>
            <a:noFill/>
          </a:ln>
        </p:spPr>
      </p:pic>
    </p:spTree>
    <p:extLst>
      <p:ext uri="{BB962C8B-B14F-4D97-AF65-F5344CB8AC3E}">
        <p14:creationId xmlns:p14="http://schemas.microsoft.com/office/powerpoint/2010/main" val="362480252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Administrative Assistants Week by Slidesgo">
  <a:themeElements>
    <a:clrScheme name="Simple Light">
      <a:dk1>
        <a:srgbClr val="FAFAFA"/>
      </a:dk1>
      <a:lt1>
        <a:srgbClr val="E99816"/>
      </a:lt1>
      <a:dk2>
        <a:srgbClr val="3A6EA5"/>
      </a:dk2>
      <a:lt2>
        <a:srgbClr val="004E98"/>
      </a:lt2>
      <a:accent1>
        <a:srgbClr val="FFE169"/>
      </a:accent1>
      <a:accent2>
        <a:srgbClr val="EDC531"/>
      </a:accent2>
      <a:accent3>
        <a:srgbClr val="0D3B66"/>
      </a:accent3>
      <a:accent4>
        <a:srgbClr val="78AFE9"/>
      </a:accent4>
      <a:accent5>
        <a:srgbClr val="EDAE49"/>
      </a:accent5>
      <a:accent6>
        <a:srgbClr val="CFD9E0"/>
      </a:accent6>
      <a:hlink>
        <a:srgbClr val="004E9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1237</TotalTime>
  <Words>2563</Words>
  <Application>Microsoft Office PowerPoint</Application>
  <PresentationFormat>Widescreen</PresentationFormat>
  <Paragraphs>167</Paragraphs>
  <Slides>21</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21</vt:i4>
      </vt:variant>
    </vt:vector>
  </HeadingPairs>
  <TitlesOfParts>
    <vt:vector size="31" baseType="lpstr">
      <vt:lpstr>Arial </vt:lpstr>
      <vt:lpstr>Sarala</vt:lpstr>
      <vt:lpstr>游ゴシック</vt:lpstr>
      <vt:lpstr>Arial</vt:lpstr>
      <vt:lpstr>Calibri</vt:lpstr>
      <vt:lpstr>Calibri Light</vt:lpstr>
      <vt:lpstr>Wingdings</vt:lpstr>
      <vt:lpstr>Work Sans ExtraBold</vt:lpstr>
      <vt:lpstr>Office 2013 - 2022 Theme</vt:lpstr>
      <vt:lpstr>Administrative Assistants Week by Slidesgo</vt:lpstr>
      <vt:lpstr>PowerPoint Presentation</vt:lpstr>
      <vt:lpstr>Mục lục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Yen Ngo Thi Phuong</dc:creator>
  <cp:lastModifiedBy>Tiến Bùi Minh Tiến</cp:lastModifiedBy>
  <cp:revision>31</cp:revision>
  <dcterms:created xsi:type="dcterms:W3CDTF">2026-03-20T01:11:28Z</dcterms:created>
  <dcterms:modified xsi:type="dcterms:W3CDTF">2026-04-05T14:04:58Z</dcterms:modified>
</cp:coreProperties>
</file>